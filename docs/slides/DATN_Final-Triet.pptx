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40"/>
  </p:notesMasterIdLst>
  <p:handoutMasterIdLst>
    <p:handoutMasterId r:id="rId41"/>
  </p:handoutMasterIdLst>
  <p:sldIdLst>
    <p:sldId id="257" r:id="rId5"/>
    <p:sldId id="355" r:id="rId6"/>
    <p:sldId id="325" r:id="rId7"/>
    <p:sldId id="356" r:id="rId8"/>
    <p:sldId id="358" r:id="rId9"/>
    <p:sldId id="357" r:id="rId10"/>
    <p:sldId id="359" r:id="rId11"/>
    <p:sldId id="360" r:id="rId12"/>
    <p:sldId id="361" r:id="rId13"/>
    <p:sldId id="362" r:id="rId14"/>
    <p:sldId id="363" r:id="rId15"/>
    <p:sldId id="348" r:id="rId16"/>
    <p:sldId id="364" r:id="rId17"/>
    <p:sldId id="381" r:id="rId18"/>
    <p:sldId id="382" r:id="rId19"/>
    <p:sldId id="365" r:id="rId20"/>
    <p:sldId id="366" r:id="rId21"/>
    <p:sldId id="367" r:id="rId22"/>
    <p:sldId id="368" r:id="rId23"/>
    <p:sldId id="369" r:id="rId24"/>
    <p:sldId id="370" r:id="rId25"/>
    <p:sldId id="371" r:id="rId26"/>
    <p:sldId id="372" r:id="rId27"/>
    <p:sldId id="376" r:id="rId28"/>
    <p:sldId id="373" r:id="rId29"/>
    <p:sldId id="385" r:id="rId30"/>
    <p:sldId id="383" r:id="rId31"/>
    <p:sldId id="375" r:id="rId32"/>
    <p:sldId id="384" r:id="rId33"/>
    <p:sldId id="374" r:id="rId34"/>
    <p:sldId id="377" r:id="rId35"/>
    <p:sldId id="378" r:id="rId36"/>
    <p:sldId id="379" r:id="rId37"/>
    <p:sldId id="380" r:id="rId38"/>
    <p:sldId id="269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276FD0-EA8A-45DE-8D62-9EED4F24FA75}" v="17861" dt="2025-05-21T08:54:32.1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14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5:16:59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24575,'0'7'0,"1"0"0,0 0 0,0 0 0,1 0 0,0 0 0,0 0 0,6 12 0,29 45 0,-19-34 0,-2-3 0,0-1 0,2-1 0,1-1 0,1-1 0,44 40 0,-11-20 0,93 57 0,-27-27 0,-107-65 0,-1 1 0,0 1 0,-1-1 0,0 1 0,0 1 0,-1 0 0,-1 0 0,14 24 0,-10-16 0,1-1 0,23 26 0,1-10 0,-23-23 0,-1 1 0,-1 1 0,13 16 0,-22-25-227,0 0-1,1 1 1,0-2-1,-1 1 1,8 5-1,3 0-6598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30T15:17:04.0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925 1 24575,'-21'0'0,"-1"2"0,2 1 0,-39 9 0,53-11 0,-12 3 0,0 0 0,0 1 0,0 1 0,1 1 0,0 0 0,-30 18 0,14-4 0,27-18 0,-1 1 0,1-1 0,0 1 0,0 1 0,1-1 0,-1 1 0,1 0 0,0 0 0,0 1 0,0 0 0,1-1 0,-7 13 0,-8 21 0,3-8 0,-14 42 0,19-31 0,10-34 0,-1 1 0,0-1 0,-1 0 0,0 1 0,0-1 0,-1 0 0,-8 14 0,6-14 0,1 0 0,0 0 0,1 0 0,0 1 0,0-1 0,1 1 0,0 0 0,1 0 0,-3 17 0,3-19 0,-1 0 0,1 0 0,-1 0 0,-1-1 0,1 1 0,-9 10 0,-8 17 0,14-21 0,-1 1 0,0-1 0,-2 0 0,-9 11 0,14-19 0,0 0 0,-1 0 0,1-1 0,-1 0 0,0 0 0,-1 0 0,1-1 0,-1 0 0,1 0 0,-1 0 0,-12 4 0,10-5 0,-1 0 0,1 1 0,-1 1 0,-8 4 0,13-5 0,0-1 0,0 1 0,0 1 0,1-1 0,-1 0 0,1 1 0,0 0 0,0 0 0,-3 6 0,1-3 0,1 0 0,-1 0 0,0-1 0,0 0 0,0 0 0,-1 0 0,0 0 0,0-1 0,-1 0 0,1 0 0,-14 6 0,15-8-195,0 0 0,0 0 0,0 0 0,1 0 0,0 1 0,-5 4 0,-3 7-6631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83" r:id="rId2"/>
    <p:sldLayoutId id="2147483679" r:id="rId3"/>
    <p:sldLayoutId id="2147483680" r:id="rId4"/>
    <p:sldLayoutId id="2147483681" r:id="rId5"/>
    <p:sldLayoutId id="2147483682" r:id="rId6"/>
    <p:sldLayoutId id="2147483678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customXml" Target="../ink/ink2.xml"/><Relationship Id="rId4" Type="http://schemas.openxmlformats.org/officeDocument/2006/relationships/image" Target="../media/image22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143611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CogMem</a:t>
            </a:r>
            <a:r>
              <a:rPr lang="en-US" dirty="0"/>
              <a:t>: Khung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hội</a:t>
            </a:r>
            <a:r>
              <a:rPr lang="en-US" dirty="0"/>
              <a:t> </a:t>
            </a:r>
            <a:r>
              <a:rPr lang="en-US" dirty="0" err="1"/>
              <a:t>thoại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Khoa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thức</a:t>
            </a:r>
            <a:endParaRPr lang="en-US" dirty="0"/>
          </a:p>
          <a:p>
            <a:endParaRPr lang="en-US" dirty="0"/>
          </a:p>
          <a:p>
            <a:r>
              <a:rPr lang="en-US" sz="2200" dirty="0"/>
              <a:t>Sinh </a:t>
            </a:r>
            <a:r>
              <a:rPr lang="en-US" sz="2200" dirty="0" err="1"/>
              <a:t>viên</a:t>
            </a:r>
            <a:r>
              <a:rPr lang="en-US" sz="2200" dirty="0"/>
              <a:t> </a:t>
            </a:r>
            <a:r>
              <a:rPr lang="en-US" sz="2200" dirty="0" err="1"/>
              <a:t>thực</a:t>
            </a:r>
            <a:r>
              <a:rPr lang="en-US" sz="2200" dirty="0"/>
              <a:t> </a:t>
            </a:r>
            <a:r>
              <a:rPr lang="en-US" sz="2200" dirty="0" err="1"/>
              <a:t>hiện</a:t>
            </a:r>
            <a:r>
              <a:rPr lang="en-US" sz="2200" dirty="0"/>
              <a:t>: </a:t>
            </a:r>
          </a:p>
          <a:p>
            <a:r>
              <a:rPr lang="en-US" sz="1800" dirty="0"/>
              <a:t>Lê Minh </a:t>
            </a:r>
            <a:r>
              <a:rPr lang="en-US" sz="1800" dirty="0" err="1"/>
              <a:t>Triết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4318A-AD83-F415-CC77-E288A5F33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0141B4-9A7F-06F6-E0F9-59ABB821E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CEA60ED-1763-F0A0-ED10-835DC6490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A5C9F-0EDC-553B-AF4D-6AD159BE99F7}"/>
              </a:ext>
            </a:extLst>
          </p:cNvPr>
          <p:cNvSpPr txBox="1">
            <a:spLocks/>
          </p:cNvSpPr>
          <p:nvPr/>
        </p:nvSpPr>
        <p:spPr>
          <a:xfrm>
            <a:off x="421894" y="133096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Đặt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vấn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đề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nghiên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cứu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liên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quan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Giải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pháp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CogMem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Thực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nghiệm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kết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quả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Kết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luận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316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DF492-4E17-B77D-CF21-A15764098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DC1F6B-5FD9-243D-112D-AB7626296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A16EA-F561-63A9-D468-27F5CE478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Đặt vấn đề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EDE2C-EB25-AA22-953D-60B0B730B3C6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thống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AI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ngày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này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cần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Hỗ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trợ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lập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kế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hoạch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Theo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dõi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công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việc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Duy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trì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mối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quan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với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người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dùng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thời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gian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dài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Yêu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cầu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cốt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lõi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: </a:t>
            </a:r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Hệ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thống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phải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nhớ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được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thông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tin </a:t>
            </a:r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quan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trọng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về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người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dùng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qua </a:t>
            </a:r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nhiều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phiên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hội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thoại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FC63F14B-784A-BE31-8F81-BB7B19802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2850388"/>
            <a:ext cx="7680960" cy="432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58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4ACB1-3484-14F9-4B1D-63A5C8434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9626AB-E0FB-DB0F-1129-4E5F43A5D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6ACB91C-482B-5CC9-908F-67E533D2B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835B3-F8B2-1900-F56F-5C49A8366D79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tiếp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cận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cũ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đều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có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điểm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yếu</a:t>
            </a:r>
            <a:endParaRPr lang="en-US" i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3B336475-8F33-7047-DABD-948DE4147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94" y="1518571"/>
            <a:ext cx="8300212" cy="466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517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8DC24-B22C-BDE7-9A9C-4CA430514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35FE55-427F-C92F-DDD1-106D603EE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274BDCF-EE0A-AA6A-1F9E-080DB8564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86E2B-A9F0-502D-C13D-CECABECF1E93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Sự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cần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thiết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cấu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trúc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hóa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bộ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nhớ</a:t>
            </a:r>
            <a:endParaRPr lang="en-US" i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4" name="Hình ảnh 3" descr="Turn a Harry Potter book into a knowledge graph">
            <a:extLst>
              <a:ext uri="{FF2B5EF4-FFF2-40B4-BE49-F238E27FC236}">
                <a16:creationId xmlns:a16="http://schemas.microsoft.com/office/drawing/2014/main" id="{EE7B5BE0-0A13-98BD-6F8A-2E7CDC254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023561"/>
            <a:ext cx="6858000" cy="358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383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E378E-A599-59AD-8F28-245185363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4D61C3-2032-ECE1-C95F-C4B61D407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D4D412-32AF-80EE-3248-BDFB9500C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F02CB-7E9C-A799-22E6-37A0FFA6F97D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HippoRAG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&amp; HippoRAG2: Coi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truy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vấn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như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quá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trình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lan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truyền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trên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</a:p>
          <a:p>
            <a:pPr lvl="1"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Nhược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điểm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: Coi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mọi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đơn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vị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thông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tin có ý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nghĩa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giống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nhau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thường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thiên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về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tri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thức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khách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quan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suy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luận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quan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05AAAC8D-79CA-5025-4FC5-F6152E520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84" y="3311200"/>
            <a:ext cx="8114022" cy="294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657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AE694-0179-1FC4-85E7-EC3172FFA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E30130-20A6-44D0-484B-85E71935C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D843572-2136-C7DC-B87B-385C0EC38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5A747-D619-12E6-3A33-7E18D5B84FAB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HINDSIGHT: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Tạo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đồ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thị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truy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thức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với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sự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phân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biệt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loại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thông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tin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khác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nhau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2B3D339E-BADA-BB09-4E81-3EB0B65E4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28" y="2016341"/>
            <a:ext cx="7974978" cy="428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23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F29C6-B3A6-7177-9E83-40A2CF41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B5867D-1ED4-5046-A3FD-38E599050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BDF8B26-148F-8792-6E02-A0179BB81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0DF08-9B42-C894-7043-50560B0489E1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Vấn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đề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HINDSIGHT:</a:t>
            </a:r>
          </a:p>
          <a:p>
            <a:pPr lvl="1"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Tạo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ra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4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loại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node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liệu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đã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đủ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để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bao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hàm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loại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thông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tin? (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về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tương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lai ,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về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hành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động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).</a:t>
            </a:r>
          </a:p>
          <a:p>
            <a:pPr lvl="1"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Truy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vấn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trên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nhiều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kênh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với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trọng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số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như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nhau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(Liệu có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phù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hợp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với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mọi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loại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câu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hỏi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)</a:t>
            </a:r>
          </a:p>
          <a:p>
            <a:pPr lvl="1"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Cơ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chế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lan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truyền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trên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đồ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thị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Cơ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chế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retain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với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thời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gian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khá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lâu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Không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giữ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lại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hội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thoại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gốc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, có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thể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gây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mất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mát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thông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tin.</a:t>
            </a:r>
          </a:p>
          <a:p>
            <a:pPr algn="just"/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777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DCB2F-D4D9-49EE-BA50-A0D71710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E67BB5-C13C-3E82-8BA6-14375AD4D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CF4EB28-CAC4-B83A-E3ED-6DC5E86E5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48C5D-49BF-405B-77D9-5BABE47804E6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Tổ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thông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tin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dưới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dạng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1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đồ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thị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tri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thức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có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kiểu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1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cải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tiến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từ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HINDSIGHT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dựa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trên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cơ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sở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về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khoa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học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nhận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thức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4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đóng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góp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chính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CogMem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98164FE1-8D37-0F27-5564-F98C30EED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17" y="252349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141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12533-6A8B-9D8D-EA67-8097861A0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1724B525-5E37-AA44-02FC-E3BD2D5F4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160" y="2599834"/>
            <a:ext cx="7599680" cy="397229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FD2029-BD7E-CEC3-14DD-317F692B4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0B99E4-B287-DD5C-670D-867AB9C5C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4E2BF-C9A9-E17F-A151-AE52E8FB2AE1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CogMem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vận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hành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qua 3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luồng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xử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lý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chính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Retain (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tạo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bộ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nhớ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)</a:t>
            </a: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Recall (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truy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vấn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fact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từ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bộ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nhớ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)</a:t>
            </a: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Generation / Reflection (Sinh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câu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trả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lời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CBE43D73-81AB-A3DF-DEAA-B3ABF1413774}"/>
              </a:ext>
            </a:extLst>
          </p:cNvPr>
          <p:cNvSpPr txBox="1"/>
          <p:nvPr/>
        </p:nvSpPr>
        <p:spPr>
          <a:xfrm>
            <a:off x="914400" y="2997241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Conversation</a:t>
            </a: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863BA491-F42F-6F9E-F0DD-32CCB173C12D}"/>
              </a:ext>
            </a:extLst>
          </p:cNvPr>
          <p:cNvSpPr txBox="1"/>
          <p:nvPr/>
        </p:nvSpPr>
        <p:spPr>
          <a:xfrm>
            <a:off x="2610572" y="3001018"/>
            <a:ext cx="832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Retain </a:t>
            </a:r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7A4322D4-CFD4-CF20-F09C-DE993D7D60F1}"/>
              </a:ext>
            </a:extLst>
          </p:cNvPr>
          <p:cNvSpPr txBox="1"/>
          <p:nvPr/>
        </p:nvSpPr>
        <p:spPr>
          <a:xfrm>
            <a:off x="4005891" y="2997241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3A3989B9-7990-0DFF-614F-B7B6770345EC}"/>
              </a:ext>
            </a:extLst>
          </p:cNvPr>
          <p:cNvSpPr txBox="1"/>
          <p:nvPr/>
        </p:nvSpPr>
        <p:spPr>
          <a:xfrm>
            <a:off x="5413428" y="2997241"/>
            <a:ext cx="73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Recall</a:t>
            </a:r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0853F14D-C05D-3F9D-E334-6EAFE48FE372}"/>
              </a:ext>
            </a:extLst>
          </p:cNvPr>
          <p:cNvSpPr txBox="1"/>
          <p:nvPr/>
        </p:nvSpPr>
        <p:spPr>
          <a:xfrm>
            <a:off x="6867383" y="2997241"/>
            <a:ext cx="1240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Generation</a:t>
            </a:r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4B291505-D71A-98D7-B302-730BFB88E0AB}"/>
              </a:ext>
            </a:extLst>
          </p:cNvPr>
          <p:cNvSpPr txBox="1"/>
          <p:nvPr/>
        </p:nvSpPr>
        <p:spPr>
          <a:xfrm>
            <a:off x="4158291" y="5709920"/>
            <a:ext cx="112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Reflection</a:t>
            </a:r>
          </a:p>
        </p:txBody>
      </p:sp>
    </p:spTree>
    <p:extLst>
      <p:ext uri="{BB962C8B-B14F-4D97-AF65-F5344CB8AC3E}">
        <p14:creationId xmlns:p14="http://schemas.microsoft.com/office/powerpoint/2010/main" val="1912308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D3C9C-01A5-D862-7320-5FEC7E0EA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5D6B3C-4626-3B8D-6954-395EDC51A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B5ABF7-44D6-678F-34EF-DF7F7D2BA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Retain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5ADC0-C7E6-32E7-DC2F-0BA1D538AC06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Bước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retain chia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thành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2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giai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đoạn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chính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Trích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xuất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fact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theo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kiểu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tạo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thành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node.</a:t>
            </a:r>
          </a:p>
          <a:p>
            <a:pPr lvl="1"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Tạo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link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giữa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node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trên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đồ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thị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Được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thực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hiện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kiểu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tăng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dần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/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cập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nhật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dần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qua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mỗi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đoạn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session</a:t>
            </a:r>
          </a:p>
          <a:p>
            <a:pPr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Có 6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loại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fact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7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loại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link</a:t>
            </a:r>
          </a:p>
        </p:txBody>
      </p:sp>
      <p:pic>
        <p:nvPicPr>
          <p:cNvPr id="15" name="Hình ảnh 14">
            <a:extLst>
              <a:ext uri="{FF2B5EF4-FFF2-40B4-BE49-F238E27FC236}">
                <a16:creationId xmlns:a16="http://schemas.microsoft.com/office/drawing/2014/main" id="{B1A56AB2-A0DC-1588-F57F-812D05AF4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54006"/>
            <a:ext cx="4353306" cy="2736535"/>
          </a:xfrm>
          <a:prstGeom prst="rect">
            <a:avLst/>
          </a:prstGeom>
        </p:spPr>
      </p:pic>
      <p:pic>
        <p:nvPicPr>
          <p:cNvPr id="21" name="Hình ảnh 20">
            <a:extLst>
              <a:ext uri="{FF2B5EF4-FFF2-40B4-BE49-F238E27FC236}">
                <a16:creationId xmlns:a16="http://schemas.microsoft.com/office/drawing/2014/main" id="{992740A6-676C-9EC2-EA9C-998EBE522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306" y="3667760"/>
            <a:ext cx="4944887" cy="23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82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99D24-A463-7B1D-5BA1-BB50FFA3F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D45337-9266-63B9-7699-F5502ADCD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EF13CBE-76B6-BA01-9E7A-0B21B8216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Retain</a:t>
            </a:r>
          </a:p>
        </p:txBody>
      </p:sp>
      <p:graphicFrame>
        <p:nvGraphicFramePr>
          <p:cNvPr id="3" name="Bảng 2">
            <a:extLst>
              <a:ext uri="{FF2B5EF4-FFF2-40B4-BE49-F238E27FC236}">
                <a16:creationId xmlns:a16="http://schemas.microsoft.com/office/drawing/2014/main" id="{7C9C171F-2F41-19ED-E889-6FF011D31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576002"/>
              </p:ext>
            </p:extLst>
          </p:nvPr>
        </p:nvGraphicFramePr>
        <p:xfrm>
          <a:off x="427990" y="1263174"/>
          <a:ext cx="8370571" cy="47526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8188">
                  <a:extLst>
                    <a:ext uri="{9D8B030D-6E8A-4147-A177-3AD203B41FA5}">
                      <a16:colId xmlns:a16="http://schemas.microsoft.com/office/drawing/2014/main" val="3959241397"/>
                    </a:ext>
                  </a:extLst>
                </a:gridCol>
                <a:gridCol w="1889519">
                  <a:extLst>
                    <a:ext uri="{9D8B030D-6E8A-4147-A177-3AD203B41FA5}">
                      <a16:colId xmlns:a16="http://schemas.microsoft.com/office/drawing/2014/main" val="713183759"/>
                    </a:ext>
                  </a:extLst>
                </a:gridCol>
                <a:gridCol w="2361899">
                  <a:extLst>
                    <a:ext uri="{9D8B030D-6E8A-4147-A177-3AD203B41FA5}">
                      <a16:colId xmlns:a16="http://schemas.microsoft.com/office/drawing/2014/main" val="3100709042"/>
                    </a:ext>
                  </a:extLst>
                </a:gridCol>
                <a:gridCol w="2890965">
                  <a:extLst>
                    <a:ext uri="{9D8B030D-6E8A-4147-A177-3AD203B41FA5}">
                      <a16:colId xmlns:a16="http://schemas.microsoft.com/office/drawing/2014/main" val="928088408"/>
                    </a:ext>
                  </a:extLst>
                </a:gridCol>
              </a:tblGrid>
              <a:tr h="429435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 err="1">
                          <a:effectLst/>
                        </a:rPr>
                        <a:t>Loại</a:t>
                      </a:r>
                      <a:r>
                        <a:rPr lang="en-US" sz="1800" dirty="0">
                          <a:effectLst/>
                        </a:rPr>
                        <a:t> node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Cơ sở nhận thức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Lưu trữ gì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Ví dụ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70120977"/>
                  </a:ext>
                </a:extLst>
              </a:tr>
              <a:tr h="42943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World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Semantic Memory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Sự kiện khách quan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"DI chuyên về LLM infrastructure"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544444967"/>
                  </a:ext>
                </a:extLst>
              </a:tr>
              <a:tr h="68709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Experience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Episodic Memory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Sự kiện cá nhân trong quá khứ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"User vào làm DI tháng 4/2024"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075473440"/>
                  </a:ext>
                </a:extLst>
              </a:tr>
              <a:tr h="68709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Opinion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Belief System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Nhận xét chủ quan + độ tin cậy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"Python tốt nhất cho ML (0.85)"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84717230"/>
                  </a:ext>
                </a:extLst>
              </a:tr>
              <a:tr h="68709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Habit [MỚI]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Habit Memory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Mẫu hành vi và thói quen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"User hay check email trước standup"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608944685"/>
                  </a:ext>
                </a:extLst>
              </a:tr>
              <a:tr h="68709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Intention [MỚI]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Prospective Memory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Kế hoạch và mục tiêu tương lai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"User định học Rust trước Q3"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824851275"/>
                  </a:ext>
                </a:extLst>
              </a:tr>
              <a:tr h="68709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Action-Effect [MỚI]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Action-Effect Learning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Bộ ba nhân quả hành động-kết quả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“</a:t>
                      </a:r>
                      <a:r>
                        <a:rPr lang="en-US" sz="1800" dirty="0" err="1">
                          <a:effectLst/>
                        </a:rPr>
                        <a:t>Đọc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đồ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ăn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trong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giờ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trưa</a:t>
                      </a:r>
                      <a:r>
                        <a:rPr lang="en-US" sz="1800" dirty="0">
                          <a:effectLst/>
                        </a:rPr>
                        <a:t> -&gt; </a:t>
                      </a:r>
                      <a:r>
                        <a:rPr lang="en-US" sz="1800" dirty="0" err="1">
                          <a:effectLst/>
                        </a:rPr>
                        <a:t>Lọc</a:t>
                      </a:r>
                      <a:r>
                        <a:rPr lang="en-US" sz="1800" dirty="0">
                          <a:effectLst/>
                        </a:rPr>
                        <a:t> shop rating </a:t>
                      </a:r>
                      <a:r>
                        <a:rPr lang="en-US" sz="1800" dirty="0" err="1">
                          <a:effectLst/>
                        </a:rPr>
                        <a:t>cao</a:t>
                      </a:r>
                      <a:r>
                        <a:rPr lang="en-US" sz="1800" dirty="0">
                          <a:effectLst/>
                        </a:rPr>
                        <a:t> → </a:t>
                      </a:r>
                      <a:r>
                        <a:rPr lang="en-US" sz="1800" dirty="0" err="1">
                          <a:effectLst/>
                        </a:rPr>
                        <a:t>giao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hàng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nhanh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hơn</a:t>
                      </a:r>
                      <a:r>
                        <a:rPr lang="en-US" sz="1800" dirty="0">
                          <a:effectLst/>
                        </a:rPr>
                        <a:t>"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98613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354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39A18-AA3B-A09C-A81C-C32189EB9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87DF43-4C8D-8BAB-237E-16CB2B9B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81879B-6C44-C81F-3084-25847000A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Retain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37E1D-8E3C-31FC-C8A2-1700737EF882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7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loại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liên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kết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b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entity: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nối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node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cùng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nhắc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tới 1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thực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thể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US" b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temporal: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mô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tả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quan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thời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gian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semantic: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nối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node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gần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nhau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về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mặt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ngữ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nghĩa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US" b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causal: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biểu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diễn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quan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nhân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quả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US" b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s_r_link</a:t>
            </a:r>
            <a:r>
              <a:rPr lang="en-US" b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nối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habit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với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experience,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đại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diện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mối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quan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kích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thích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–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phản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ứng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US" b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a_o_causal</a:t>
            </a:r>
            <a:r>
              <a:rPr lang="en-US" b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Mối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quan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nhân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quả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nhưng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đại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diện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mối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quan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hệ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giữa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node action-effect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fact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quan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sát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được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US" b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transition: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biểu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diễn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sự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thay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đổi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trạng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thái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(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ví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dụ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từ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intention -&gt; experience, opinion -&gt; opinion)</a:t>
            </a:r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269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90D41-3B70-63DB-37F5-37C46387F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EF9BDB-36C4-84A0-3C69-776121D0A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1C4467-1095-7E15-1179-D8C8C37B7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Retain</a:t>
            </a: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0312C072-0211-7D24-B5D6-5D2164FDC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7" y="124333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295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7606-3381-F1EB-154B-0827E3D8F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8FFDE5-558D-FF79-A4F2-4B90F0ADB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C9471A1-43AB-4741-FE2F-36A6E6227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Retain</a:t>
            </a: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3C570684-2725-F6D9-1C86-96B6C57B0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69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903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DC38E-5726-4234-CCC9-AB02E081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E27FF9-E71D-6EA0-09EB-8C8613CD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BD67BC-6B78-2092-291C-1AA207625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Retain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ECE1D-F05B-5D46-2A7F-B9EF8A0366CE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CogMem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không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chỉ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lưu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fact,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đồng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thời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còn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lưu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đoạn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gốc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tại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mỗi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ô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nhớ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67CABE73-CFCB-25E8-242B-117320611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40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215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1BB87-1177-51BE-5F14-08935E22C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CA100C-5075-FB7C-4F47-A57D413F7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BAFC0C-FDA9-1F49-7DE0-67F642324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Retain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42988-6E77-0F8C-2551-F652A8CAA2F4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CogMem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không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chỉ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lưu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fact,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đồng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thời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còn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lưu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đoạn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gốc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tại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mỗi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ô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nhớ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384763A8-22C4-7B25-5734-E3D0ECA34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40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292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2B541-6F7E-9ECC-C316-53D912B1F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350F7E-C180-6E86-D4EA-7DC6FEA9E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6C2B6F-BE90-6E1F-DA12-2458C6A92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12807-EFDD-5FC9-9C87-1CF6E94B7820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Giai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đoạn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recall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dùng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để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lấy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xếp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hạng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fact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bộ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nhớ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theo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query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đầu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vào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E52FFAB8-361A-5DDA-DA08-2E2505832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480" y="2115820"/>
            <a:ext cx="7051040" cy="396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391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F08AA-9773-66DF-F772-035A7F8D3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37FB76-BAB3-CF89-AC9A-69124B19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B9FC8D-DE32-D57A-8B25-71A9639DF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38657-2DB5-DE67-A5F5-0AACD21EEE19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Giai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đoạn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recall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dùng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để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lấy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xếp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hạng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fact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bộ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nhớ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theo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query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đầu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vào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5D02D4ED-EED0-2C96-D215-7CFEBCF6E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480" y="2115820"/>
            <a:ext cx="7051040" cy="396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354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82760-31AA-3B21-2BD9-F47FAFEF9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384B2D-C1B8-71CF-B58D-8A8042EE5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40CF72-2299-CBDF-84D9-FF80C6396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142D0-7DA6-0B0C-848D-293B36CDAFA8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Đóng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góp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thứ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4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nằm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ở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kênh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truy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vấn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Graph: Thay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toán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tử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MAX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SUM ở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bước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activation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để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lấy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điểm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từng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node.</a:t>
            </a:r>
          </a:p>
          <a:p>
            <a:pPr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2B8D192C-6F61-55EB-F9EB-2B41BA9CD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86" y="2511285"/>
            <a:ext cx="7543828" cy="424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2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67BE9-A501-C84C-8A23-8611FA0D9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9E6EA6-7A47-BB53-7A5E-0FEDDE099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B9348CE-601B-58BC-08CC-2D8A60A5B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11FAC-7AC6-BF0D-72D9-2834ED443984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Đóng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góp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thứ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4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nằm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ở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kênh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truy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vấn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Graph: Thay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toán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tử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MAX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SUM ở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bước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activation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để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lấy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điểm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từng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node.</a:t>
            </a:r>
          </a:p>
          <a:p>
            <a:pPr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402E2EE4-2085-AC8C-8404-05B5A70D2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86" y="2511285"/>
            <a:ext cx="7543828" cy="424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1892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9C588-2C47-4228-00A2-9F8CF13CA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C7FEF4-9721-38F5-3544-A959FC4E1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BDED2B-F0F1-BB47-E417-2A071BEE6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CogMem</a:t>
            </a:r>
            <a:r>
              <a:rPr lang="en-US" dirty="0"/>
              <a:t> –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36EAE-8DF9-5243-6566-9E39B97AB3A5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Do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toán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tử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SUM có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thể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làm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tăng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không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giới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hạn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điểm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trong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đồ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thị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có chu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trình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cần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cơ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chế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bảo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vệ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DB394366-4C17-76F3-B452-B903A801E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080" y="2087880"/>
            <a:ext cx="6847840" cy="385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5620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A579E-61AE-0BF2-6C8B-214C27243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Hình ảnh 8">
            <a:extLst>
              <a:ext uri="{FF2B5EF4-FFF2-40B4-BE49-F238E27FC236}">
                <a16:creationId xmlns:a16="http://schemas.microsoft.com/office/drawing/2014/main" id="{DDD9E7D9-67B9-B844-4400-8DC4F6D3B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00" y="2807095"/>
            <a:ext cx="7599680" cy="397229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D8189E-0794-4154-BB67-45591C590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08108D3-2909-8CEC-D1BD-A120766F8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F9D2A-CD71-BA87-CCCB-2AED1AA1A939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Thực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nghiệm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trên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3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bộ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dữ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liệu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: </a:t>
            </a:r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LongMemEval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-s, </a:t>
            </a:r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LoCoMo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, </a:t>
            </a:r>
            <a:r>
              <a:rPr lang="en-US" i="1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CogMem</a:t>
            </a:r>
            <a:r>
              <a:rPr lang="en-US" i="1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Bench.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Experiment pipeline: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Thêm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bước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eval (LLM as a judge).</a:t>
            </a:r>
          </a:p>
          <a:p>
            <a:pPr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CED2A5BC-6D5A-A6AC-E108-D574B3107FC0}"/>
              </a:ext>
            </a:extLst>
          </p:cNvPr>
          <p:cNvSpPr txBox="1"/>
          <p:nvPr/>
        </p:nvSpPr>
        <p:spPr>
          <a:xfrm>
            <a:off x="686440" y="3214662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Conversation</a:t>
            </a:r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581BF8BF-6EAB-7A9A-B75C-4C276B469181}"/>
              </a:ext>
            </a:extLst>
          </p:cNvPr>
          <p:cNvSpPr txBox="1"/>
          <p:nvPr/>
        </p:nvSpPr>
        <p:spPr>
          <a:xfrm>
            <a:off x="2382612" y="3218439"/>
            <a:ext cx="832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Retain </a:t>
            </a:r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B4FD5837-E48F-4DBC-A2DD-26A6A2195534}"/>
              </a:ext>
            </a:extLst>
          </p:cNvPr>
          <p:cNvSpPr txBox="1"/>
          <p:nvPr/>
        </p:nvSpPr>
        <p:spPr>
          <a:xfrm>
            <a:off x="3777931" y="3214662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AB08948F-8877-06ED-20A5-901FC0971196}"/>
              </a:ext>
            </a:extLst>
          </p:cNvPr>
          <p:cNvSpPr txBox="1"/>
          <p:nvPr/>
        </p:nvSpPr>
        <p:spPr>
          <a:xfrm>
            <a:off x="5185468" y="3214662"/>
            <a:ext cx="733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Recall</a:t>
            </a:r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44FC3302-BDC5-5AF4-BBAD-3C230C4D945E}"/>
              </a:ext>
            </a:extLst>
          </p:cNvPr>
          <p:cNvSpPr txBox="1"/>
          <p:nvPr/>
        </p:nvSpPr>
        <p:spPr>
          <a:xfrm>
            <a:off x="6639423" y="3214662"/>
            <a:ext cx="1240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Generation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Viết tay 19">
                <a:extLst>
                  <a:ext uri="{FF2B5EF4-FFF2-40B4-BE49-F238E27FC236}">
                    <a16:creationId xmlns:a16="http://schemas.microsoft.com/office/drawing/2014/main" id="{0F90B5CA-FB1A-D374-B955-EDCD3B20E2B4}"/>
                  </a:ext>
                </a:extLst>
              </p14:cNvPr>
              <p14:cNvContentPartPr/>
              <p14:nvPr/>
            </p14:nvContentPartPr>
            <p14:xfrm>
              <a:off x="3933387" y="5750044"/>
              <a:ext cx="306360" cy="323640"/>
            </p14:xfrm>
          </p:contentPart>
        </mc:Choice>
        <mc:Fallback xmlns="">
          <p:pic>
            <p:nvPicPr>
              <p:cNvPr id="20" name="Viết tay 19">
                <a:extLst>
                  <a:ext uri="{FF2B5EF4-FFF2-40B4-BE49-F238E27FC236}">
                    <a16:creationId xmlns:a16="http://schemas.microsoft.com/office/drawing/2014/main" id="{0F90B5CA-FB1A-D374-B955-EDCD3B20E2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24387" y="5741404"/>
                <a:ext cx="32400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2" name="Viết tay 21">
                <a:extLst>
                  <a:ext uri="{FF2B5EF4-FFF2-40B4-BE49-F238E27FC236}">
                    <a16:creationId xmlns:a16="http://schemas.microsoft.com/office/drawing/2014/main" id="{6997A9C9-BD1D-B533-3841-CECB95776D56}"/>
                  </a:ext>
                </a:extLst>
              </p14:cNvPr>
              <p14:cNvContentPartPr/>
              <p14:nvPr/>
            </p14:nvContentPartPr>
            <p14:xfrm>
              <a:off x="3869000" y="5743564"/>
              <a:ext cx="333360" cy="336600"/>
            </p14:xfrm>
          </p:contentPart>
        </mc:Choice>
        <mc:Fallback xmlns="">
          <p:pic>
            <p:nvPicPr>
              <p:cNvPr id="22" name="Viết tay 21">
                <a:extLst>
                  <a:ext uri="{FF2B5EF4-FFF2-40B4-BE49-F238E27FC236}">
                    <a16:creationId xmlns:a16="http://schemas.microsoft.com/office/drawing/2014/main" id="{6997A9C9-BD1D-B533-3841-CECB95776D5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60000" y="5734924"/>
                <a:ext cx="351000" cy="354240"/>
              </a:xfrm>
              <a:prstGeom prst="rect">
                <a:avLst/>
              </a:prstGeom>
            </p:spPr>
          </p:pic>
        </mc:Fallback>
      </mc:AlternateContent>
      <p:cxnSp>
        <p:nvCxnSpPr>
          <p:cNvPr id="24" name="Đường kết nối Mũi tên Thẳng 23">
            <a:extLst>
              <a:ext uri="{FF2B5EF4-FFF2-40B4-BE49-F238E27FC236}">
                <a16:creationId xmlns:a16="http://schemas.microsoft.com/office/drawing/2014/main" id="{88CC8FC2-CB3F-E5CD-85DF-71566174619E}"/>
              </a:ext>
            </a:extLst>
          </p:cNvPr>
          <p:cNvCxnSpPr/>
          <p:nvPr/>
        </p:nvCxnSpPr>
        <p:spPr>
          <a:xfrm>
            <a:off x="7880019" y="4605844"/>
            <a:ext cx="5077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4308F809-A60D-F91D-6D0E-18AAFD8FFC91}"/>
              </a:ext>
            </a:extLst>
          </p:cNvPr>
          <p:cNvSpPr txBox="1"/>
          <p:nvPr/>
        </p:nvSpPr>
        <p:spPr>
          <a:xfrm>
            <a:off x="8368990" y="4421178"/>
            <a:ext cx="55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Eval</a:t>
            </a:r>
          </a:p>
        </p:txBody>
      </p:sp>
    </p:spTree>
    <p:extLst>
      <p:ext uri="{BB962C8B-B14F-4D97-AF65-F5344CB8AC3E}">
        <p14:creationId xmlns:p14="http://schemas.microsoft.com/office/powerpoint/2010/main" val="17882511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7819E-A270-B13E-27FB-84C9BB8C9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EBF130-8336-FDB7-EA52-4AC64D51F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1E401B-14F0-7A60-F58E-F00658EA3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521A2-5580-BF03-B427-065DDF1F19BA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Cấu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hình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thực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nghiệm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Retain LLM Model: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Ministral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3-3B</a:t>
            </a: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Generation Model: Llama-3.2-8B</a:t>
            </a: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Judge Model: Minimax-M2.7 (~200B)</a:t>
            </a: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Embedding Model: BAAI/bge-small-en-v1.5</a:t>
            </a: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Reranking Model: cross-encoder/ms-macro-MiniLM-L-6-v2</a:t>
            </a:r>
          </a:p>
          <a:p>
            <a:pPr lvl="1" algn="just"/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2655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27FA8-87DF-0E71-BAC2-5AD6C473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B0D7FE-D294-088B-30E2-6F04AF5E0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1DBB81-F33B-7651-05CF-9BEF83A58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- </a:t>
            </a:r>
            <a:r>
              <a:rPr lang="en-US" dirty="0" err="1"/>
              <a:t>LongMemEval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6CD45-9180-8C9D-8AB0-2E37149988BF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Trích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35 conversation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từ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LongMemEval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-s</a:t>
            </a:r>
          </a:p>
          <a:p>
            <a:pPr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4" name="Hình ảnh 3" descr="LongMemEval">
            <a:extLst>
              <a:ext uri="{FF2B5EF4-FFF2-40B4-BE49-F238E27FC236}">
                <a16:creationId xmlns:a16="http://schemas.microsoft.com/office/drawing/2014/main" id="{A5BCE658-51AD-B5E9-01DA-08B242024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754" y="1549296"/>
            <a:ext cx="6632306" cy="488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4692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AE107-3B4E-00C7-2CF3-781F830D0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4F6C09-819C-E4DB-B5D2-C037DD0B3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48DFB3-614D-6AAD-2FA3-622FF405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- </a:t>
            </a:r>
            <a:r>
              <a:rPr lang="en-US" dirty="0" err="1"/>
              <a:t>LongMemEval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56F91-A23D-928A-6BC4-E89BE1C93904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Trích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35 conversation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từ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LongMemEval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-s</a:t>
            </a:r>
          </a:p>
          <a:p>
            <a:pPr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1FAD3017-DA6B-C263-9A7F-251EB4711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54" y="1724938"/>
            <a:ext cx="8300212" cy="453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623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CF2FF-2D2C-2457-0675-FEB9F5BFB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385A44-F621-3FC6-61F6-1828ABD7F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220018-95EC-859A-6C43-A583E47C5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–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C6A15F7E-B622-A6CE-C96F-B94E9A11A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55" y="1803953"/>
            <a:ext cx="7797890" cy="371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162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62F11-74D8-085E-FBCD-9FB2E910D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B7C49A-4547-1497-74AC-C2166766E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58231C-D025-FABA-C642-E326C5794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- </a:t>
            </a:r>
            <a:r>
              <a:rPr lang="en-US" dirty="0" err="1"/>
              <a:t>LongMemEval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0D74-4F2C-D5B6-56C2-C367D34F38D2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Trích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35 conversation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từ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LongMemEval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-s</a:t>
            </a:r>
          </a:p>
          <a:p>
            <a:pPr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14" name="Hình ảnh 13">
            <a:extLst>
              <a:ext uri="{FF2B5EF4-FFF2-40B4-BE49-F238E27FC236}">
                <a16:creationId xmlns:a16="http://schemas.microsoft.com/office/drawing/2014/main" id="{D870AC56-5F1E-E015-9A88-213EECDC8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94" y="1607594"/>
            <a:ext cx="8057684" cy="3446948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D32F938B-BB27-13EE-B342-E708CB94A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03" y="5006030"/>
            <a:ext cx="5702593" cy="1016052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6EE9A0B0-CA7D-D171-A940-B19BBEFC4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1087" y="5069658"/>
            <a:ext cx="5759746" cy="103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4127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CF93C-3DFB-5579-0849-0CF7B892B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90734E-F5D3-0ACC-E63F-455F186F0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D6CE6D-9B3E-2CFE-5423-9F2B6501D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–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3143A316-885D-321D-F96C-D81CA4BB8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6589"/>
            <a:ext cx="9144000" cy="454319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2D1818-C49C-954D-A720-A618454E8055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Trích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5 conversation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với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tổng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161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câu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hỏi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từ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Locomo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với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1497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EB2C8-D5D6-479A-6CE6-846CDC9A8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9EE07B-5692-911E-FA36-8DFED214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57231C-BDA1-3D1A-0E2A-799825BBF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- </a:t>
            </a:r>
            <a:r>
              <a:rPr lang="en-US" dirty="0" err="1"/>
              <a:t>LoCoMo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CB39F-591B-90AE-A2E9-18C87A15D30A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Trích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5 conversation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với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tổng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161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câu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hỏi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từ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Locomo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với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7" name="Hình ảnh 6">
            <a:extLst>
              <a:ext uri="{FF2B5EF4-FFF2-40B4-BE49-F238E27FC236}">
                <a16:creationId xmlns:a16="http://schemas.microsoft.com/office/drawing/2014/main" id="{DFB494AF-53BF-3A13-9634-0097619AA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11" y="2121143"/>
            <a:ext cx="8300212" cy="1853714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086022E2-053F-C77E-6391-454AEE406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155" y="3974857"/>
            <a:ext cx="5881690" cy="215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3008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F1306-6A56-1715-5E7E-3F2ECA968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16E42D-98DE-CC5A-F3CB-5F0C2E38E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95F53BB-1A6E-FCFB-04BA-5F81A84E1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– </a:t>
            </a:r>
            <a:r>
              <a:rPr lang="en-US" dirty="0" err="1"/>
              <a:t>CogMem</a:t>
            </a:r>
            <a:r>
              <a:rPr lang="en-US" dirty="0"/>
              <a:t> Bench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98021-6D7A-6E44-6CF3-32D1B7B2FA94}"/>
              </a:ext>
            </a:extLst>
          </p:cNvPr>
          <p:cNvSpPr txBox="1">
            <a:spLocks/>
          </p:cNvSpPr>
          <p:nvPr/>
        </p:nvSpPr>
        <p:spPr>
          <a:xfrm>
            <a:off x="421894" y="1031559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Benchmark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tự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xây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dựng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để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kiểm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định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3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loại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node:</a:t>
            </a:r>
          </a:p>
          <a:p>
            <a:pPr lvl="1"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Habit, intention, action-effect.</a:t>
            </a:r>
          </a:p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Kiểm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mỗi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node type có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thực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sự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chứa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thông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tin không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thể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thay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thế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hay không.</a:t>
            </a:r>
          </a:p>
          <a:p>
            <a:pPr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954DE395-D486-4654-9200-01041AC66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80" y="2803937"/>
            <a:ext cx="7051040" cy="384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8211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78A3C-3543-E06F-77F7-F2043E0EE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8935E0-5F78-E6DF-9085-CAE777723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6D4613D-B71E-C096-D30F-EAEA50253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– </a:t>
            </a:r>
            <a:r>
              <a:rPr lang="en-US" dirty="0" err="1"/>
              <a:t>CogMem</a:t>
            </a:r>
            <a:r>
              <a:rPr lang="en-US" dirty="0"/>
              <a:t> Bench - Intention</a:t>
            </a: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BA810788-2587-A74E-290F-5CAD07407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6534"/>
            <a:ext cx="9144000" cy="515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1240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36736-0B2B-6675-5720-CB7634FDB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E18327-F1A9-5AE4-7259-E6974F0D6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C0E75D2-F37E-4B2D-EC13-F7153D057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– </a:t>
            </a:r>
            <a:r>
              <a:rPr lang="en-US" dirty="0" err="1"/>
              <a:t>CogMem</a:t>
            </a:r>
            <a:r>
              <a:rPr lang="en-US" dirty="0"/>
              <a:t> Bench – Action-Effect</a:t>
            </a:r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01DDFC5C-FD41-489E-D164-D95F342097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5574"/>
            <a:ext cx="9144000" cy="515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247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37881-315E-45DF-ACAA-0F88B2796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3A5BE-FE10-3260-6CD2-FC4856DD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71695E2-8919-0301-30BA-2C732221A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EE485-B9DD-D284-6D14-639F722ADE52}"/>
              </a:ext>
            </a:extLst>
          </p:cNvPr>
          <p:cNvSpPr txBox="1">
            <a:spLocks/>
          </p:cNvSpPr>
          <p:nvPr/>
        </p:nvSpPr>
        <p:spPr>
          <a:xfrm>
            <a:off x="421894" y="1148080"/>
            <a:ext cx="8300212" cy="50393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CogMem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đạt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kết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quả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tốt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trên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2 benchmark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LongMemEval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LoCoMo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Trong 3 node type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được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thêm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, 2 node intention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action-effect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chứng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minh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được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một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phần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giá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trị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. Habit có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thể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cần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phân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tích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sử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dụng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khác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Truy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vấn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nhiều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kênh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là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cần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thiết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Thay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thế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toán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tử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MAX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bằng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SUM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giúp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cải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thiện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trên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rank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đồ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thị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chưa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đóng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góp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nhiều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vào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kết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quả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cuối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Cần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có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thêm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thử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nghiệm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trên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tập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đầy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đủ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cách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truy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vấn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tập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trung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vào</a:t>
            </a:r>
            <a:r>
              <a:rPr lang="en-US" dirty="0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>
                <a:solidFill>
                  <a:srgbClr val="202122"/>
                </a:solidFill>
                <a:latin typeface="+mn-lt"/>
                <a:cs typeface="Times New Roman" panose="02020603050405020304" pitchFamily="18" charset="0"/>
              </a:rPr>
              <a:t> node type.</a:t>
            </a:r>
            <a:endParaRPr lang="en-US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  <a:p>
            <a:pPr lvl="1" algn="just"/>
            <a:endParaRPr lang="en-US" b="1" dirty="0">
              <a:solidFill>
                <a:srgbClr val="202122"/>
              </a:solidFill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1709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6FF5105935A047949EC15A29E8956A" ma:contentTypeVersion="4" ma:contentTypeDescription="Create a new document." ma:contentTypeScope="" ma:versionID="b29c6fefc618e136688e03dce636df7d">
  <xsd:schema xmlns:xsd="http://www.w3.org/2001/XMLSchema" xmlns:xs="http://www.w3.org/2001/XMLSchema" xmlns:p="http://schemas.microsoft.com/office/2006/metadata/properties" xmlns:ns2="787772fa-e80e-4196-8492-c382f620fc1d" targetNamespace="http://schemas.microsoft.com/office/2006/metadata/properties" ma:root="true" ma:fieldsID="3e23d7ca8d6da6eba593525d95b10d9f" ns2:_="">
    <xsd:import namespace="787772fa-e80e-4196-8492-c382f620fc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7772fa-e80e-4196-8492-c382f620fc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5DDDD1-ED4A-45D2-A1A5-EDDFFDD8377D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0c0a5278-6572-4232-b8ad-97ff2313e1cb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E41E46E-FF59-4C1D-AE00-A76323361D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7772fa-e80e-4196-8492-c382f620fc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98D1B8-1803-48D2-B4B6-C15C336A4B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2889</TotalTime>
  <Words>1164</Words>
  <Application>Microsoft Office PowerPoint</Application>
  <PresentationFormat>Trình chiếu Trên màn hình (4:3)</PresentationFormat>
  <Paragraphs>198</Paragraphs>
  <Slides>35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35</vt:i4>
      </vt:variant>
    </vt:vector>
  </HeadingPairs>
  <TitlesOfParts>
    <vt:vector size="39" baseType="lpstr">
      <vt:lpstr>Arial</vt:lpstr>
      <vt:lpstr>Calibri</vt:lpstr>
      <vt:lpstr>Lato</vt:lpstr>
      <vt:lpstr>Office Theme</vt:lpstr>
      <vt:lpstr>Bản trình bày PowerPoint</vt:lpstr>
      <vt:lpstr>ToC</vt:lpstr>
      <vt:lpstr>Đặt vấn đề</vt:lpstr>
      <vt:lpstr>Đặt vấn đề</vt:lpstr>
      <vt:lpstr>Đặt vấn đề</vt:lpstr>
      <vt:lpstr>Các nghiên cứu liên quan</vt:lpstr>
      <vt:lpstr>Các nghiên cứu liên quan</vt:lpstr>
      <vt:lpstr>Các nghiên cứu liên quan</vt:lpstr>
      <vt:lpstr>CogMem</vt:lpstr>
      <vt:lpstr>CogMem</vt:lpstr>
      <vt:lpstr>CogMem – Retain</vt:lpstr>
      <vt:lpstr>CogMem – Retain</vt:lpstr>
      <vt:lpstr>CogMem – Retain</vt:lpstr>
      <vt:lpstr>CogMem – Retain</vt:lpstr>
      <vt:lpstr>CogMem – Retain</vt:lpstr>
      <vt:lpstr>CogMem – Retain</vt:lpstr>
      <vt:lpstr>CogMem – Retain</vt:lpstr>
      <vt:lpstr>CogMem – Recall</vt:lpstr>
      <vt:lpstr>CogMem – Recall</vt:lpstr>
      <vt:lpstr>CogMem – Recall</vt:lpstr>
      <vt:lpstr>CogMem – Recall</vt:lpstr>
      <vt:lpstr>CogMem – Recall</vt:lpstr>
      <vt:lpstr>Experiments</vt:lpstr>
      <vt:lpstr>Experiments</vt:lpstr>
      <vt:lpstr>Experiments - LongMemEval</vt:lpstr>
      <vt:lpstr>Experiments - LongMemEval</vt:lpstr>
      <vt:lpstr>Experiments – Kết quả tổng quan</vt:lpstr>
      <vt:lpstr>Experiments - LongMemEval</vt:lpstr>
      <vt:lpstr>Experiments – Kết quả tổng quan</vt:lpstr>
      <vt:lpstr>Experiments - LoCoMo</vt:lpstr>
      <vt:lpstr>Experiments – CogMem Bench</vt:lpstr>
      <vt:lpstr>Experiments – CogMem Bench - Intention</vt:lpstr>
      <vt:lpstr>Experiments – CogMem Bench – Action-Effect</vt:lpstr>
      <vt:lpstr>Kết luận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Le Minh Triet 20220045</cp:lastModifiedBy>
  <cp:revision>57</cp:revision>
  <dcterms:created xsi:type="dcterms:W3CDTF">2021-05-28T04:32:29Z</dcterms:created>
  <dcterms:modified xsi:type="dcterms:W3CDTF">2026-07-08T14:14:27Z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0x010100E26FF5105935A047949EC15A29E8956A</vt:lpwstr>
  </property>
</Properties>
</file>