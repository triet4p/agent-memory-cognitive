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4"/>
  </p:sldMasterIdLst>
  <p:notesMasterIdLst>
    <p:notesMasterId r:id="rId19"/>
  </p:notesMasterIdLst>
  <p:handoutMasterIdLst>
    <p:handoutMasterId r:id="rId20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1"/>
    <p:sldId id="264" r:id="rId10"/>
    <p:sldId id="265" r:id="rId9"/>
    <p:sldId id="266" r:id="rId8"/>
    <p:sldId id="267" r:id="rId7"/>
    <p:sldId id="268" r:id="rId6"/>
    <p:sldId id="269" r:id="rId5"/>
    <p:sldId id="270" r:id="rId26"/>
    <p:sldId id="271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276FD0-EA8A-45DE-8D62-9EED4F24FA75}" v="17861" dt="2025-05-21T08:54:32.14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Kiểu Trung bình 2 - Màu chủ đề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140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4.xml"/><Relationship Id="rId6" Type="http://schemas.openxmlformats.org/officeDocument/2006/relationships/slide" Target="slides/slide13.xml"/><Relationship Id="rId7" Type="http://schemas.openxmlformats.org/officeDocument/2006/relationships/slide" Target="slides/slide12.xml"/><Relationship Id="rId8" Type="http://schemas.openxmlformats.org/officeDocument/2006/relationships/slide" Target="slides/slide11.xml"/><Relationship Id="rId9" Type="http://schemas.openxmlformats.org/officeDocument/2006/relationships/slide" Target="slides/slide10.xml"/><Relationship Id="rId10" Type="http://schemas.openxmlformats.org/officeDocument/2006/relationships/slide" Target="slides/slide9.xml"/><Relationship Id="rId11" Type="http://schemas.openxmlformats.org/officeDocument/2006/relationships/slide" Target="slides/slide8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notesMaster" Target="notesMasters/notesMaster1.xml"/><Relationship Id="rId20" Type="http://schemas.openxmlformats.org/officeDocument/2006/relationships/handoutMaster" Target="handoutMasters/handout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5.xml"/><Relationship Id="rId27" Type="http://schemas.openxmlformats.org/officeDocument/2006/relationships/slide" Target="slides/slide16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5EAC724-B034-4F10-A9E8-56851A79B8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0872BB-3892-4F66-9266-36ADB83FAD5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8B45424-6BAC-416C-8F6C-5F9DE854A36B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ACA138F-B9BA-4997-B3C2-DA8B17B6D5B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EE86FBF-0AC4-4904-8ED7-0BD6E9AC71D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E34D737-83BD-4FDE-8CF3-8BC01E7FCF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907374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733702-C25A-40B9-9167-54BAA79B29B0}" type="datetimeFigureOut">
              <a:rPr lang="en-US" smtClean="0"/>
              <a:t>3/23/2026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2FC7A4-3D1B-482D-8C9D-7642A2CE307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92653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64949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1D2FCDAA-D1AE-440A-ADEA-98F1ACB0647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3/23/2026</a:t>
            </a:fld>
            <a:endParaRPr lang="en-US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C4186984-389F-440C-BD79-8D1349BD85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5C66723D-7FE6-462E-9733-48764D89B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03483232-D29A-4255-9149-0177F878581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28828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A1BAF8AD-67D8-46AD-A292-05589E8273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2000" y="1423289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9" name="Title 6">
            <a:extLst>
              <a:ext uri="{FF2B5EF4-FFF2-40B4-BE49-F238E27FC236}">
                <a16:creationId xmlns:a16="http://schemas.microsoft.com/office/drawing/2014/main" id="{EFD61387-9809-4E21-B8EA-93815E5E8F6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4: ………………………………………</a:t>
            </a:r>
          </a:p>
        </p:txBody>
      </p:sp>
    </p:spTree>
    <p:extLst>
      <p:ext uri="{BB962C8B-B14F-4D97-AF65-F5344CB8AC3E}">
        <p14:creationId xmlns:p14="http://schemas.microsoft.com/office/powerpoint/2010/main" val="13534025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6: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3/23/2026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chemeClr val="accent1">
                    <a:lumMod val="50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85406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3/23/2026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7: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227550"/>
            <a:ext cx="8674100" cy="486844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234231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6">
            <a:extLst>
              <a:ext uri="{FF2B5EF4-FFF2-40B4-BE49-F238E27FC236}">
                <a16:creationId xmlns:a16="http://schemas.microsoft.com/office/drawing/2014/main" id="{74BADCE4-794A-4B69-9AB7-3D794A1F9A4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8: ………………………………………</a:t>
            </a:r>
          </a:p>
        </p:txBody>
      </p: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38375D86-D290-4003-A314-C916116C42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595884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B62406B-26DB-4A01-B048-1F2C7540F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39056" y="1533017"/>
            <a:ext cx="3886200" cy="4351338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A52862E5-D8E1-49BF-8D1B-BF0ED6579EA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3/23/2026</a:t>
            </a:fld>
            <a:endParaRPr lang="en-US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591AAF74-01FB-49A8-9375-959140F1D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18" name="Slide Number Placeholder 5">
            <a:extLst>
              <a:ext uri="{FF2B5EF4-FFF2-40B4-BE49-F238E27FC236}">
                <a16:creationId xmlns:a16="http://schemas.microsoft.com/office/drawing/2014/main" id="{BBF4BC2F-980C-499D-A4B9-E7CD3D4475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018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is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007929A3-17ED-41F3-AD36-819BC9DFBCB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3/23/2026</a:t>
            </a:fld>
            <a:endParaRPr lang="en-US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4973EE95-672F-4E5A-A918-2F51DB2C3A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2B17F6F6-0CA3-4D52-AA3D-7CF8ADE79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1" name="Title 6">
            <a:extLst>
              <a:ext uri="{FF2B5EF4-FFF2-40B4-BE49-F238E27FC236}">
                <a16:creationId xmlns:a16="http://schemas.microsoft.com/office/drawing/2014/main" id="{943CD72D-5295-43E4-B175-0EA61084ADC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5077" y="78613"/>
            <a:ext cx="8673846" cy="451739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bg1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r>
              <a:rPr lang="en-US" dirty="0"/>
              <a:t>Title 9: ………………………………………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0C9A3A79-B187-4A33-8EBB-92ECD8BA3C5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34950" y="1164920"/>
            <a:ext cx="8674100" cy="4931079"/>
          </a:xfrm>
          <a:prstGeom prst="rect">
            <a:avLst/>
          </a:prstGeom>
        </p:spPr>
        <p:txBody>
          <a:bodyPr/>
          <a:lstStyle>
            <a:lvl1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  <a:lvl2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2pPr>
            <a:lvl3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3pPr>
            <a:lvl4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4pPr>
            <a:lvl5pPr>
              <a:defRPr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664829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ontent with Captio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3">
            <a:extLst>
              <a:ext uri="{FF2B5EF4-FFF2-40B4-BE49-F238E27FC236}">
                <a16:creationId xmlns:a16="http://schemas.microsoft.com/office/drawing/2014/main" id="{76EAE966-F590-4BAF-A55B-75735FCC661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8650" y="6565257"/>
            <a:ext cx="2057400" cy="365125"/>
          </a:xfrm>
          <a:prstGeom prst="rect">
            <a:avLst/>
          </a:prstGeom>
        </p:spPr>
        <p:txBody>
          <a:bodyPr/>
          <a:lstStyle>
            <a:lvl1pPr>
              <a:defRPr sz="1200" b="1">
                <a:solidFill>
                  <a:schemeClr val="bg1">
                    <a:lumMod val="95000"/>
                  </a:schemeClr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F70EAA40-3A53-4A3D-924A-D38F1059C7D5}" type="datetime1">
              <a:rPr lang="en-US" smtClean="0"/>
              <a:pPr/>
              <a:t>3/23/2026</a:t>
            </a:fld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C330CA1C-4366-43E8-9DC8-B360FC115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028950" y="6565257"/>
            <a:ext cx="3086100" cy="365125"/>
          </a:xfrm>
          <a:prstGeom prst="rect">
            <a:avLst/>
          </a:prstGeom>
        </p:spPr>
        <p:txBody>
          <a:bodyPr/>
          <a:lstStyle>
            <a:lvl1pPr algn="ct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endParaRPr lang="en-US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72DB13F6-9193-4FE2-AE85-5B96248CC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6867383" y="6572126"/>
            <a:ext cx="2057400" cy="365125"/>
          </a:xfrm>
          <a:prstGeom prst="rect">
            <a:avLst/>
          </a:prstGeom>
        </p:spPr>
        <p:txBody>
          <a:bodyPr/>
          <a:lstStyle>
            <a:lvl1pPr algn="r">
              <a:defRPr sz="1200" b="1">
                <a:solidFill>
                  <a:srgbClr val="C00000"/>
                </a:solidFill>
                <a:latin typeface="Lato" panose="020F0502020204030203" pitchFamily="34" charset="0"/>
                <a:ea typeface="Lato" panose="020F0502020204030203" pitchFamily="34" charset="0"/>
                <a:cs typeface="Lato" panose="020F0502020204030203" pitchFamily="34" charset="0"/>
              </a:defRPr>
            </a:lvl1pPr>
          </a:lstStyle>
          <a:p>
            <a:fld id="{9EA0BE3B-158A-4EDF-80DC-E394A0D1600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04625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98952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83" r:id="rId2"/>
    <p:sldLayoutId id="2147483679" r:id="rId3"/>
    <p:sldLayoutId id="2147483680" r:id="rId4"/>
    <p:sldLayoutId id="2147483681" r:id="rId5"/>
    <p:sldLayoutId id="2147483682" r:id="rId6"/>
    <p:sldLayoutId id="2147483678" r:id="rId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" y="384048"/>
            <a:ext cx="1611630" cy="483827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93776" y="1353312"/>
            <a:ext cx="3291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783" b="1">
                <a:solidFill>
                  <a:srgbClr val="C40000"/>
                </a:solidFill>
                <a:latin typeface="Aptos Display"/>
              </a:defRPr>
            </a:pPr>
            <a:r>
              <a:t>CogMem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7492" y="2084831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48" b="1">
                <a:solidFill>
                  <a:srgbClr val="C40000"/>
                </a:solidFill>
                <a:latin typeface="Aptos"/>
              </a:defRPr>
            </a:pPr>
            <a:r>
              <a:t>Cognitive-Grounded Long-Term Memory</a:t>
            </a:r>
            <a:br/>
            <a:r>
              <a:t>for Conversational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8" y="3035808"/>
            <a:ext cx="34975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75" b="1">
                <a:solidFill>
                  <a:srgbClr val="C40000"/>
                </a:solidFill>
                <a:latin typeface="Aptos"/>
              </a:defRPr>
            </a:pPr>
            <a:r>
              <a:t>Typed memory graph + multi-channel recall</a:t>
            </a:r>
            <a:br/>
            <a:r>
              <a:t>+ SUM spreading activation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" y="5797296"/>
            <a:ext cx="3291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61" b="1">
                <a:solidFill>
                  <a:srgbClr val="C40000"/>
                </a:solidFill>
                <a:latin typeface="Aptos"/>
              </a:defRPr>
            </a:pPr>
            <a:r>
              <a:t>Student: Le Minh Triet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60570" y="4023360"/>
            <a:ext cx="768096" cy="347472"/>
          </a:xfrm>
          <a:prstGeom prst="roundRect">
            <a:avLst/>
          </a:prstGeom>
          <a:solidFill>
            <a:srgbClr val="2466B3"/>
          </a:solidFill>
          <a:ln w="13970">
            <a:solidFill>
              <a:srgbClr val="246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6" b="1">
                <a:solidFill>
                  <a:srgbClr val="FFFFFF"/>
                </a:solidFill>
                <a:latin typeface="Aptos"/>
              </a:defRPr>
            </a:pPr>
            <a:r>
              <a:t>Chat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328666" y="4197096"/>
            <a:ext cx="68580" cy="0"/>
          </a:xfrm>
          <a:prstGeom prst="line">
            <a:avLst/>
          </a:prstGeom>
          <a:ln w="15240">
            <a:solidFill>
              <a:srgbClr val="66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397246" y="4023360"/>
            <a:ext cx="768096" cy="347472"/>
          </a:xfrm>
          <a:prstGeom prst="roundRect">
            <a:avLst/>
          </a:prstGeom>
          <a:solidFill>
            <a:srgbClr val="108080"/>
          </a:solidFill>
          <a:ln w="13970">
            <a:solidFill>
              <a:srgbClr val="1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6" b="1">
                <a:solidFill>
                  <a:srgbClr val="FFFFFF"/>
                </a:solidFill>
                <a:latin typeface="Aptos"/>
              </a:defRPr>
            </a:pPr>
            <a:r>
              <a:t>Graph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165342" y="4197096"/>
            <a:ext cx="68580" cy="0"/>
          </a:xfrm>
          <a:prstGeom prst="line">
            <a:avLst/>
          </a:prstGeom>
          <a:ln w="15240">
            <a:solidFill>
              <a:srgbClr val="66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33922" y="4023360"/>
            <a:ext cx="768096" cy="347472"/>
          </a:xfrm>
          <a:prstGeom prst="roundRect">
            <a:avLst/>
          </a:prstGeom>
          <a:solidFill>
            <a:srgbClr val="DB911C"/>
          </a:solidFill>
          <a:ln w="13970">
            <a:solidFill>
              <a:srgbClr val="DB91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6" b="1">
                <a:solidFill>
                  <a:srgbClr val="FFFFFF"/>
                </a:solidFill>
                <a:latin typeface="Aptos"/>
              </a:defRPr>
            </a:pPr>
            <a:r>
              <a:t>Evidence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02018" y="4197096"/>
            <a:ext cx="68580" cy="0"/>
          </a:xfrm>
          <a:prstGeom prst="line">
            <a:avLst/>
          </a:prstGeom>
          <a:ln w="15240">
            <a:solidFill>
              <a:srgbClr val="66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070598" y="4023360"/>
            <a:ext cx="768096" cy="347472"/>
          </a:xfrm>
          <a:prstGeom prst="roundRect">
            <a:avLst/>
          </a:prstGeom>
          <a:solidFill>
            <a:srgbClr val="55802C"/>
          </a:solidFill>
          <a:ln w="13970">
            <a:solidFill>
              <a:srgbClr val="558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6" b="1">
                <a:solidFill>
                  <a:srgbClr val="FFFFFF"/>
                </a:solidFill>
                <a:latin typeface="Aptos"/>
              </a:defRPr>
            </a:pPr>
            <a:r>
              <a:t>Answer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18304" y="1508760"/>
            <a:ext cx="3291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76" b="1">
                <a:solidFill>
                  <a:srgbClr val="102A43"/>
                </a:solidFill>
                <a:latin typeface="Aptos"/>
              </a:defRPr>
            </a:pPr>
            <a:r>
              <a:t>Defense focus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18304" y="1901952"/>
            <a:ext cx="332613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092">
                <a:solidFill>
                  <a:srgbClr val="24303E"/>
                </a:solidFill>
                <a:latin typeface="Aptos"/>
              </a:defRPr>
            </a:pPr>
            <a:r>
              <a:t>• What was built: a typed memory graph pipeline.</a:t>
            </a:r>
          </a:p>
          <a:p>
            <a:pPr>
              <a:spcAft>
                <a:spcPts val="700"/>
              </a:spcAft>
              <a:defRPr sz="1092">
                <a:solidFill>
                  <a:srgbClr val="24303E"/>
                </a:solidFill>
                <a:latin typeface="Aptos"/>
              </a:defRPr>
            </a:pPr>
            <a:r>
              <a:t>• What was proven: manual LongMemEval and LoCoMo gains.</a:t>
            </a:r>
          </a:p>
          <a:p>
            <a:pPr>
              <a:spcAft>
                <a:spcPts val="700"/>
              </a:spcAft>
              <a:defRPr sz="1092">
                <a:solidFill>
                  <a:srgbClr val="24303E"/>
                </a:solidFill>
                <a:latin typeface="Aptos"/>
              </a:defRPr>
            </a:pPr>
            <a:r>
              <a:t>• What remains: temporal errors and habit-specific validation.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18304" y="4645152"/>
            <a:ext cx="329184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61" b="1">
                <a:solidFill>
                  <a:srgbClr val="24303E"/>
                </a:solidFill>
                <a:latin typeface="Aptos"/>
              </a:defRPr>
            </a:pPr>
            <a:r>
              <a:t>10-15 minute storyline:</a:t>
            </a:r>
            <a:br/>
            <a:r>
              <a:t>problem -&gt; method -&gt; example -&gt;</a:t>
            </a:r>
            <a:br/>
            <a:r>
              <a:t>evidence -&gt; contribution proof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60604" y="795528"/>
            <a:ext cx="16459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88" b="1">
                <a:solidFill>
                  <a:srgbClr val="784800"/>
                </a:solidFill>
                <a:latin typeface="Aptos"/>
              </a:defRPr>
            </a:pPr>
            <a:r>
              <a:t>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8610" y="118872"/>
            <a:ext cx="846963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91" b="1">
                <a:solidFill>
                  <a:srgbClr val="FFFFFF"/>
                </a:solidFill>
                <a:latin typeface="Aptos Display"/>
              </a:defRPr>
            </a:pPr>
            <a:r>
              <a:t>Problem: long conversations break short-context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" y="1298448"/>
            <a:ext cx="80238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48" b="1">
                <a:solidFill>
                  <a:srgbClr val="24303E"/>
                </a:solidFill>
                <a:latin typeface="Aptos"/>
              </a:defRPr>
            </a:pPr>
            <a:r>
              <a:t>A useful assistant must remember across many sessions, but the answer is rarely stored as one clean sentence.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1510" y="2743200"/>
            <a:ext cx="7475220" cy="0"/>
          </a:xfrm>
          <a:prstGeom prst="line">
            <a:avLst/>
          </a:prstGeom>
          <a:ln w="17780">
            <a:solidFill>
              <a:srgbClr val="66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85800" y="2596896"/>
            <a:ext cx="219456" cy="292608"/>
          </a:xfrm>
          <a:prstGeom prst="ellipse">
            <a:avLst/>
          </a:prstGeom>
          <a:solidFill>
            <a:srgbClr val="E66F37"/>
          </a:solidFill>
          <a:ln>
            <a:solidFill>
              <a:srgbClr val="E66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9486" y="3063240"/>
            <a:ext cx="1083564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163824"/>
            <a:ext cx="8915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17" b="1">
                <a:solidFill>
                  <a:srgbClr val="E66F37"/>
                </a:solidFill>
                <a:latin typeface="Aptos"/>
              </a:defRPr>
            </a:pPr>
            <a:r>
              <a:t>Session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401568"/>
            <a:ext cx="8915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17" b="1">
                <a:solidFill>
                  <a:srgbClr val="102A43"/>
                </a:solidFill>
                <a:latin typeface="Aptos"/>
              </a:defRPr>
            </a:pPr>
            <a:r>
              <a:t>Preference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630168"/>
            <a:ext cx="8915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731" b="0">
                <a:solidFill>
                  <a:srgbClr val="667280"/>
                </a:solidFill>
                <a:latin typeface="Aptos"/>
              </a:defRPr>
            </a:pPr>
            <a:r>
              <a:t>likes quiet hotels</a:t>
            </a:r>
          </a:p>
        </p:txBody>
      </p:sp>
      <p:sp>
        <p:nvSpPr>
          <p:cNvPr id="14" name="Oval 13"/>
          <p:cNvSpPr/>
          <p:nvPr/>
        </p:nvSpPr>
        <p:spPr>
          <a:xfrm>
            <a:off x="2297430" y="2596896"/>
            <a:ext cx="219456" cy="292608"/>
          </a:xfrm>
          <a:prstGeom prst="ellipse">
            <a:avLst/>
          </a:prstGeom>
          <a:solidFill>
            <a:srgbClr val="108080"/>
          </a:solidFill>
          <a:ln>
            <a:solidFill>
              <a:srgbClr val="1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071116" y="3063240"/>
            <a:ext cx="1083564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60270" y="3163824"/>
            <a:ext cx="8915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17" b="1">
                <a:solidFill>
                  <a:srgbClr val="108080"/>
                </a:solidFill>
                <a:latin typeface="Aptos"/>
              </a:defRPr>
            </a:pPr>
            <a:r>
              <a:t>Session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60270" y="3401568"/>
            <a:ext cx="8915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17" b="1">
                <a:solidFill>
                  <a:srgbClr val="102A43"/>
                </a:solidFill>
                <a:latin typeface="Aptos"/>
              </a:defRPr>
            </a:pPr>
            <a:r>
              <a:t>Location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60270" y="3630168"/>
            <a:ext cx="8915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731" b="0">
                <a:solidFill>
                  <a:srgbClr val="667280"/>
                </a:solidFill>
                <a:latin typeface="Aptos"/>
              </a:defRPr>
            </a:pPr>
            <a:r>
              <a:t>Seattle trip</a:t>
            </a:r>
          </a:p>
        </p:txBody>
      </p:sp>
      <p:sp>
        <p:nvSpPr>
          <p:cNvPr id="19" name="Oval 18"/>
          <p:cNvSpPr/>
          <p:nvPr/>
        </p:nvSpPr>
        <p:spPr>
          <a:xfrm>
            <a:off x="3840480" y="2596896"/>
            <a:ext cx="219456" cy="292608"/>
          </a:xfrm>
          <a:prstGeom prst="ellipse">
            <a:avLst/>
          </a:prstGeom>
          <a:solidFill>
            <a:srgbClr val="DB911C"/>
          </a:solidFill>
          <a:ln>
            <a:solidFill>
              <a:srgbClr val="DB91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614166" y="3063240"/>
            <a:ext cx="1083564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03320" y="3163824"/>
            <a:ext cx="8915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17" b="1">
                <a:solidFill>
                  <a:srgbClr val="DB911C"/>
                </a:solidFill>
                <a:latin typeface="Aptos"/>
              </a:defRPr>
            </a:pPr>
            <a:r>
              <a:t>Session 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3401568"/>
            <a:ext cx="8915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17" b="1">
                <a:solidFill>
                  <a:srgbClr val="102A43"/>
                </a:solidFill>
                <a:latin typeface="Aptos"/>
              </a:defRPr>
            </a:pPr>
            <a:r>
              <a:t>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3630168"/>
            <a:ext cx="8915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731" b="0">
                <a:solidFill>
                  <a:srgbClr val="667280"/>
                </a:solidFill>
                <a:latin typeface="Aptos"/>
              </a:defRPr>
            </a:pPr>
            <a:r>
              <a:t>workshop next month</a:t>
            </a:r>
          </a:p>
        </p:txBody>
      </p:sp>
      <p:sp>
        <p:nvSpPr>
          <p:cNvPr id="24" name="Oval 23"/>
          <p:cNvSpPr/>
          <p:nvPr/>
        </p:nvSpPr>
        <p:spPr>
          <a:xfrm>
            <a:off x="5349240" y="2596896"/>
            <a:ext cx="219456" cy="292608"/>
          </a:xfrm>
          <a:prstGeom prst="ellipse">
            <a:avLst/>
          </a:prstGeom>
          <a:solidFill>
            <a:srgbClr val="55802C"/>
          </a:solidFill>
          <a:ln>
            <a:solidFill>
              <a:srgbClr val="558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122926" y="3063240"/>
            <a:ext cx="1083564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3163824"/>
            <a:ext cx="8915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17" b="1">
                <a:solidFill>
                  <a:srgbClr val="55802C"/>
                </a:solidFill>
                <a:latin typeface="Aptos"/>
              </a:defRPr>
            </a:pPr>
            <a:r>
              <a:t>Session 31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3401568"/>
            <a:ext cx="8915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17" b="1">
                <a:solidFill>
                  <a:srgbClr val="102A43"/>
                </a:solidFill>
                <a:latin typeface="Aptos"/>
              </a:defRPr>
            </a:pPr>
            <a:r>
              <a:t>Outcome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3630168"/>
            <a:ext cx="8915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731" b="0">
                <a:solidFill>
                  <a:srgbClr val="667280"/>
                </a:solidFill>
                <a:latin typeface="Aptos"/>
              </a:defRPr>
            </a:pPr>
            <a:r>
              <a:t>tool fix worked</a:t>
            </a:r>
          </a:p>
        </p:txBody>
      </p:sp>
      <p:sp>
        <p:nvSpPr>
          <p:cNvPr id="29" name="Oval 28"/>
          <p:cNvSpPr/>
          <p:nvPr/>
        </p:nvSpPr>
        <p:spPr>
          <a:xfrm>
            <a:off x="6892290" y="2596896"/>
            <a:ext cx="219456" cy="292608"/>
          </a:xfrm>
          <a:prstGeom prst="ellipse">
            <a:avLst/>
          </a:prstGeom>
          <a:solidFill>
            <a:srgbClr val="CA4343"/>
          </a:solidFill>
          <a:ln>
            <a:solidFill>
              <a:srgbClr val="CA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665976" y="3063240"/>
            <a:ext cx="1083564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55130" y="3163824"/>
            <a:ext cx="8915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17" b="1">
                <a:solidFill>
                  <a:srgbClr val="CA4343"/>
                </a:solidFill>
                <a:latin typeface="Aptos"/>
              </a:defRPr>
            </a:pPr>
            <a:r>
              <a:t>Session 47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55130" y="3401568"/>
            <a:ext cx="8915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17" b="1">
                <a:solidFill>
                  <a:srgbClr val="102A43"/>
                </a:solidFill>
                <a:latin typeface="Aptos"/>
              </a:defRPr>
            </a:pPr>
            <a:r>
              <a:t>Conflict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55130" y="3630168"/>
            <a:ext cx="8915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731" b="0">
                <a:solidFill>
                  <a:srgbClr val="667280"/>
                </a:solidFill>
                <a:latin typeface="Aptos"/>
              </a:defRPr>
            </a:pPr>
            <a:r>
              <a:t>updated answer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4924" y="4572000"/>
            <a:ext cx="2331720" cy="10515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120390" y="4572000"/>
            <a:ext cx="2331720" cy="10515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705856" y="4572000"/>
            <a:ext cx="2331720" cy="10515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2084" y="4736592"/>
            <a:ext cx="2057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4" b="1">
                <a:solidFill>
                  <a:srgbClr val="102A43"/>
                </a:solidFill>
                <a:latin typeface="Aptos"/>
              </a:defRPr>
            </a:pPr>
            <a:r>
              <a:t>Raw log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" y="5047488"/>
            <a:ext cx="20574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32" b="0">
                <a:solidFill>
                  <a:srgbClr val="667280"/>
                </a:solidFill>
                <a:latin typeface="Aptos"/>
              </a:defRPr>
            </a:pPr>
            <a:r>
              <a:t>too long and noisy for every prompt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57550" y="4736592"/>
            <a:ext cx="2057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4" b="1">
                <a:solidFill>
                  <a:srgbClr val="102A43"/>
                </a:solidFill>
                <a:latin typeface="Aptos"/>
              </a:defRPr>
            </a:pPr>
            <a:r>
              <a:t>Vector-only memory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57550" y="5047488"/>
            <a:ext cx="20574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32" b="0">
                <a:solidFill>
                  <a:srgbClr val="667280"/>
                </a:solidFill>
                <a:latin typeface="Aptos"/>
              </a:defRPr>
            </a:pPr>
            <a:r>
              <a:t>semantic match, but weak relation/time control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43016" y="4736592"/>
            <a:ext cx="2057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4" b="1">
                <a:solidFill>
                  <a:srgbClr val="102A43"/>
                </a:solidFill>
                <a:latin typeface="Aptos"/>
              </a:defRPr>
            </a:pPr>
            <a:r>
              <a:t>Automatic judge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3016" y="5047488"/>
            <a:ext cx="205740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32" b="0">
                <a:solidFill>
                  <a:srgbClr val="667280"/>
                </a:solidFill>
                <a:latin typeface="Aptos"/>
              </a:defRPr>
            </a:pPr>
            <a:r>
              <a:t>not reliable enough as final truth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60604" y="795528"/>
            <a:ext cx="16459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88" b="1">
                <a:solidFill>
                  <a:srgbClr val="784800"/>
                </a:solidFill>
                <a:latin typeface="Aptos"/>
              </a:defRPr>
            </a:pPr>
            <a:r>
              <a:t>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8610" y="118872"/>
            <a:ext cx="846963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91" b="1">
                <a:solidFill>
                  <a:srgbClr val="FFFFFF"/>
                </a:solidFill>
                <a:latin typeface="Aptos Display"/>
              </a:defRPr>
            </a:pPr>
            <a:r>
              <a:t>Solution overview: Retain -&gt; Graph -&gt; Recall -&gt; Answer</a:t>
            </a:r>
          </a:p>
        </p:txBody>
      </p:sp>
      <p:pic>
        <p:nvPicPr>
          <p:cNvPr id="7" name="Picture 6" descr="cogmem_pipeline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517" y="1060704"/>
            <a:ext cx="7230076" cy="406908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34924" y="5330952"/>
            <a:ext cx="1543050" cy="384048"/>
          </a:xfrm>
          <a:prstGeom prst="roundRect">
            <a:avLst/>
          </a:prstGeom>
          <a:solidFill>
            <a:srgbClr val="108080"/>
          </a:solidFill>
          <a:ln w="13970">
            <a:solidFill>
              <a:srgbClr val="1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45" b="1">
                <a:solidFill>
                  <a:srgbClr val="FFFFFF"/>
                </a:solidFill>
                <a:latin typeface="Aptos"/>
              </a:defRPr>
            </a:pPr>
            <a:r>
              <a:t>1. Retain typed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49424" y="5330952"/>
            <a:ext cx="1543050" cy="384048"/>
          </a:xfrm>
          <a:prstGeom prst="roundRect">
            <a:avLst/>
          </a:prstGeom>
          <a:solidFill>
            <a:srgbClr val="DB911C"/>
          </a:solidFill>
          <a:ln w="13970">
            <a:solidFill>
              <a:srgbClr val="DB91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45" b="1">
                <a:solidFill>
                  <a:srgbClr val="FFFFFF"/>
                </a:solidFill>
                <a:latin typeface="Aptos"/>
              </a:defRPr>
            </a:pPr>
            <a:r>
              <a:t>2. Store memory graph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63924" y="5330952"/>
            <a:ext cx="1543050" cy="384048"/>
          </a:xfrm>
          <a:prstGeom prst="roundRect">
            <a:avLst/>
          </a:prstGeom>
          <a:solidFill>
            <a:srgbClr val="2466B3"/>
          </a:solidFill>
          <a:ln w="13970">
            <a:solidFill>
              <a:srgbClr val="246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45" b="1">
                <a:solidFill>
                  <a:srgbClr val="FFFFFF"/>
                </a:solidFill>
                <a:latin typeface="Aptos"/>
              </a:defRPr>
            </a:pPr>
            <a:r>
              <a:t>3. Multi-channel recall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78424" y="5330952"/>
            <a:ext cx="1680210" cy="384048"/>
          </a:xfrm>
          <a:prstGeom prst="roundRect">
            <a:avLst/>
          </a:prstGeom>
          <a:solidFill>
            <a:srgbClr val="55802C"/>
          </a:solidFill>
          <a:ln w="13970">
            <a:solidFill>
              <a:srgbClr val="558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45" b="1">
                <a:solidFill>
                  <a:srgbClr val="FFFFFF"/>
                </a:solidFill>
                <a:latin typeface="Aptos"/>
              </a:defRPr>
            </a:pPr>
            <a:r>
              <a:t>4. Grounded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74470" y="5897880"/>
            <a:ext cx="6035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4" b="0">
                <a:solidFill>
                  <a:srgbClr val="24303E"/>
                </a:solidFill>
                <a:latin typeface="Aptos"/>
              </a:defRPr>
            </a:pPr>
            <a:r>
              <a:t>Feedback loop: each answer can become new retained evidence later.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60604" y="795528"/>
            <a:ext cx="16459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88" b="1">
                <a:solidFill>
                  <a:srgbClr val="784800"/>
                </a:solidFill>
                <a:latin typeface="Aptos"/>
              </a:defRPr>
            </a:pPr>
            <a:r>
              <a:t>MEMORY REPRESENTATION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8610" y="118872"/>
            <a:ext cx="846963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91" b="1">
                <a:solidFill>
                  <a:srgbClr val="FFFFFF"/>
                </a:solidFill>
                <a:latin typeface="Aptos Display"/>
              </a:defRPr>
            </a:pPr>
            <a:r>
              <a:t>What is stored: compressed fact + lossless snippet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4924" y="1143000"/>
            <a:ext cx="3634740" cy="45262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BEDB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60570" y="1143000"/>
            <a:ext cx="3634740" cy="45262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8CB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0664" y="1389888"/>
            <a:ext cx="1611630" cy="384048"/>
          </a:xfrm>
          <a:prstGeom prst="roundRect">
            <a:avLst/>
          </a:prstGeom>
          <a:solidFill>
            <a:srgbClr val="108080"/>
          </a:solidFill>
          <a:ln w="13970">
            <a:solidFill>
              <a:srgbClr val="1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45" b="1">
                <a:solidFill>
                  <a:srgbClr val="FFFFFF"/>
                </a:solidFill>
                <a:latin typeface="Aptos"/>
              </a:defRPr>
            </a:pPr>
            <a:r>
              <a:t>Layer 1: Narrative fact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66310" y="1389888"/>
            <a:ext cx="1440180" cy="384048"/>
          </a:xfrm>
          <a:prstGeom prst="roundRect">
            <a:avLst/>
          </a:prstGeom>
          <a:solidFill>
            <a:srgbClr val="DB911C"/>
          </a:solidFill>
          <a:ln w="13970">
            <a:solidFill>
              <a:srgbClr val="DB91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45" b="1">
                <a:solidFill>
                  <a:srgbClr val="FFFFFF"/>
                </a:solidFill>
                <a:latin typeface="Aptos"/>
              </a:defRPr>
            </a:pPr>
            <a:r>
              <a:t>Layer 2: Raw snippet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1993392"/>
            <a:ext cx="32232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62" b="1">
                <a:solidFill>
                  <a:srgbClr val="102A43"/>
                </a:solidFill>
                <a:latin typeface="Aptos"/>
              </a:defRPr>
            </a:pPr>
            <a:r>
              <a:t>Structured memory unit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2450592"/>
            <a:ext cx="312039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118">
                <a:solidFill>
                  <a:srgbClr val="24303E"/>
                </a:solidFill>
                <a:latin typeface="Aptos"/>
              </a:defRPr>
            </a:pPr>
            <a:r>
              <a:t>• typed fact: experience / intention / action-effect / ...</a:t>
            </a:r>
          </a:p>
          <a:p>
            <a:pPr>
              <a:spcAft>
                <a:spcPts val="700"/>
              </a:spcAft>
              <a:defRPr sz="1118">
                <a:solidFill>
                  <a:srgbClr val="24303E"/>
                </a:solidFill>
                <a:latin typeface="Aptos"/>
              </a:defRPr>
            </a:pPr>
            <a:r>
              <a:t>• entities, dates, confidence and metadata</a:t>
            </a:r>
          </a:p>
          <a:p>
            <a:pPr>
              <a:spcAft>
                <a:spcPts val="700"/>
              </a:spcAft>
              <a:defRPr sz="1118">
                <a:solidFill>
                  <a:srgbClr val="24303E"/>
                </a:solidFill>
                <a:latin typeface="Aptos"/>
              </a:defRPr>
            </a:pPr>
            <a:r>
              <a:t>• embedding for semantic retrieval</a:t>
            </a:r>
          </a:p>
          <a:p>
            <a:pPr>
              <a:spcAft>
                <a:spcPts val="700"/>
              </a:spcAft>
              <a:defRPr sz="1118">
                <a:solidFill>
                  <a:srgbClr val="24303E"/>
                </a:solidFill>
                <a:latin typeface="Aptos"/>
              </a:defRPr>
            </a:pPr>
            <a:r>
              <a:t>• graph links for multi-hop recall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4617720"/>
            <a:ext cx="32232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32" b="1">
                <a:solidFill>
                  <a:srgbClr val="108080"/>
                </a:solidFill>
                <a:latin typeface="Aptos"/>
              </a:defRPr>
            </a:pPr>
            <a:r>
              <a:t>Example fact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4892040"/>
            <a:ext cx="32232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61" b="0">
                <a:solidFill>
                  <a:srgbClr val="24303E"/>
                </a:solidFill>
                <a:latin typeface="Aptos"/>
              </a:defRPr>
            </a:pPr>
            <a:r>
              <a:t>User was in Seattle before traveling to Chicago.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6310" y="1993392"/>
            <a:ext cx="32232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62" b="1">
                <a:solidFill>
                  <a:srgbClr val="102A43"/>
                </a:solidFill>
                <a:latin typeface="Aptos"/>
              </a:defRPr>
            </a:pPr>
            <a:r>
              <a:t>Source-grounded detail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6310" y="2450592"/>
            <a:ext cx="312039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118">
                <a:solidFill>
                  <a:srgbClr val="24303E"/>
                </a:solidFill>
                <a:latin typeface="Aptos"/>
              </a:defRPr>
            </a:pPr>
            <a:r>
              <a:t>• keeps original wording and context</a:t>
            </a:r>
          </a:p>
          <a:p>
            <a:pPr>
              <a:spcAft>
                <a:spcPts val="700"/>
              </a:spcAft>
              <a:defRPr sz="1118">
                <a:solidFill>
                  <a:srgbClr val="24303E"/>
                </a:solidFill>
                <a:latin typeface="Aptos"/>
              </a:defRPr>
            </a:pPr>
            <a:r>
              <a:t>• helps generation avoid lossy summaries</a:t>
            </a:r>
          </a:p>
          <a:p>
            <a:pPr>
              <a:spcAft>
                <a:spcPts val="700"/>
              </a:spcAft>
              <a:defRPr sz="1118">
                <a:solidFill>
                  <a:srgbClr val="24303E"/>
                </a:solidFill>
                <a:latin typeface="Aptos"/>
              </a:defRPr>
            </a:pPr>
            <a:r>
              <a:t>• supports evidence guard and manual review</a:t>
            </a:r>
          </a:p>
          <a:p>
            <a:pPr>
              <a:spcAft>
                <a:spcPts val="700"/>
              </a:spcAft>
              <a:defRPr sz="1118">
                <a:solidFill>
                  <a:srgbClr val="24303E"/>
                </a:solidFill>
                <a:latin typeface="Aptos"/>
              </a:defRPr>
            </a:pPr>
            <a:r>
              <a:t>• useful when dates or durations are implicit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6310" y="4617720"/>
            <a:ext cx="32232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32" b="1">
                <a:solidFill>
                  <a:srgbClr val="DB911C"/>
                </a:solidFill>
                <a:latin typeface="Aptos"/>
              </a:defRPr>
            </a:pPr>
            <a:r>
              <a:t>Example snippet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6310" y="4892040"/>
            <a:ext cx="32232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61" b="0">
                <a:solidFill>
                  <a:srgbClr val="24303E"/>
                </a:solidFill>
                <a:latin typeface="Aptos"/>
              </a:defRPr>
            </a:pPr>
            <a:r>
              <a:t>"I stayed in Seattle before flying to Chicago."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169664" y="3410712"/>
            <a:ext cx="390906" cy="0"/>
          </a:xfrm>
          <a:prstGeom prst="line">
            <a:avLst/>
          </a:prstGeom>
          <a:ln w="22860">
            <a:solidFill>
              <a:srgbClr val="66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754380" y="5916168"/>
            <a:ext cx="7406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90" b="1">
                <a:solidFill>
                  <a:srgbClr val="102A43"/>
                </a:solidFill>
                <a:latin typeface="Aptos"/>
              </a:defRPr>
            </a:pPr>
            <a:r>
              <a:t>Design goal: compact enough to retrieve, faithful enough to answer.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60604" y="795528"/>
            <a:ext cx="16459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88" b="1">
                <a:solidFill>
                  <a:srgbClr val="784800"/>
                </a:solidFill>
                <a:latin typeface="Aptos"/>
              </a:defRPr>
            </a:pPr>
            <a:r>
              <a:t>MEMORY REPRESENTATION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8610" y="118872"/>
            <a:ext cx="846963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91" b="1">
                <a:solidFill>
                  <a:srgbClr val="FFFFFF"/>
                </a:solidFill>
                <a:latin typeface="Aptos Display"/>
              </a:defRPr>
            </a:pPr>
            <a:r>
              <a:t>Six typed memory networks</a:t>
            </a:r>
          </a:p>
        </p:txBody>
      </p:sp>
      <p:pic>
        <p:nvPicPr>
          <p:cNvPr id="7" name="Picture 6" descr="cogmem_memory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456" y="1936381"/>
            <a:ext cx="4800600" cy="270177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177790" y="1143000"/>
            <a:ext cx="1474470" cy="76809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46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80660" y="1252728"/>
            <a:ext cx="1268730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75" b="1">
                <a:solidFill>
                  <a:srgbClr val="2466B3"/>
                </a:solidFill>
                <a:latin typeface="Aptos"/>
              </a:defRPr>
            </a:pPr>
            <a:r>
              <a:t>World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80660" y="1527048"/>
            <a:ext cx="126873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748" b="0">
                <a:solidFill>
                  <a:srgbClr val="667280"/>
                </a:solidFill>
                <a:latin typeface="Aptos"/>
              </a:defRPr>
            </a:pPr>
            <a:r>
              <a:t>stable facts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143000"/>
            <a:ext cx="1474470" cy="76809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0870" y="1252728"/>
            <a:ext cx="1268730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75" b="1">
                <a:solidFill>
                  <a:srgbClr val="108080"/>
                </a:solidFill>
                <a:latin typeface="Aptos"/>
              </a:defRPr>
            </a:pPr>
            <a:r>
              <a:t>Experience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0870" y="1527048"/>
            <a:ext cx="126873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748" b="0">
                <a:solidFill>
                  <a:srgbClr val="667280"/>
                </a:solidFill>
                <a:latin typeface="Aptos"/>
              </a:defRPr>
            </a:pPr>
            <a:r>
              <a:t>dated events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77790" y="2167128"/>
            <a:ext cx="1474470" cy="76809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66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80660" y="2276856"/>
            <a:ext cx="1268730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75" b="1">
                <a:solidFill>
                  <a:srgbClr val="E66F37"/>
                </a:solidFill>
                <a:latin typeface="Aptos"/>
              </a:defRPr>
            </a:pPr>
            <a:r>
              <a:t>Opinion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80660" y="2551176"/>
            <a:ext cx="126873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748" b="0">
                <a:solidFill>
                  <a:srgbClr val="667280"/>
                </a:solidFill>
                <a:latin typeface="Aptos"/>
              </a:defRPr>
            </a:pPr>
            <a:r>
              <a:t>preferences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0" y="2167128"/>
            <a:ext cx="1474470" cy="76809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558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60870" y="2276856"/>
            <a:ext cx="1268730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75" b="1">
                <a:solidFill>
                  <a:srgbClr val="55802C"/>
                </a:solidFill>
                <a:latin typeface="Aptos"/>
              </a:defRPr>
            </a:pPr>
            <a:r>
              <a:t>Habit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60870" y="2551176"/>
            <a:ext cx="126873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748" b="0">
                <a:solidFill>
                  <a:srgbClr val="667280"/>
                </a:solidFill>
                <a:latin typeface="Aptos"/>
              </a:defRPr>
            </a:pPr>
            <a:r>
              <a:t>routines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77790" y="3191256"/>
            <a:ext cx="1474470" cy="76809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B91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80660" y="3300984"/>
            <a:ext cx="1268730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75" b="1">
                <a:solidFill>
                  <a:srgbClr val="DB911C"/>
                </a:solidFill>
                <a:latin typeface="Aptos"/>
              </a:defRPr>
            </a:pPr>
            <a:r>
              <a:t>Intention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80660" y="3575304"/>
            <a:ext cx="126873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748" b="0">
                <a:solidFill>
                  <a:srgbClr val="667280"/>
                </a:solidFill>
                <a:latin typeface="Aptos"/>
              </a:defRPr>
            </a:pPr>
            <a:r>
              <a:t>future plans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858000" y="3191256"/>
            <a:ext cx="1474470" cy="768096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A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60870" y="3300984"/>
            <a:ext cx="1268730" cy="210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75" b="1">
                <a:solidFill>
                  <a:srgbClr val="CA4343"/>
                </a:solidFill>
                <a:latin typeface="Aptos"/>
              </a:defRPr>
            </a:pPr>
            <a:r>
              <a:t>Action-effect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60870" y="3575304"/>
            <a:ext cx="126873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748" b="0">
                <a:solidFill>
                  <a:srgbClr val="667280"/>
                </a:solidFill>
                <a:latin typeface="Aptos"/>
              </a:defRPr>
            </a:pPr>
            <a:r>
              <a:t>precondition -&gt; action -&gt; outcome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77790" y="4498848"/>
            <a:ext cx="3154680" cy="1051560"/>
          </a:xfrm>
          <a:prstGeom prst="roundRect">
            <a:avLst/>
          </a:prstGeom>
          <a:solidFill>
            <a:srgbClr val="FFFCF4"/>
          </a:solidFill>
          <a:ln w="13970">
            <a:solidFill>
              <a:srgbClr val="DB91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49240" y="4663440"/>
            <a:ext cx="281178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18" b="1">
                <a:solidFill>
                  <a:srgbClr val="102A43"/>
                </a:solidFill>
                <a:latin typeface="Aptos"/>
              </a:defRPr>
            </a:pPr>
            <a:r>
              <a:t>Honest scope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49240" y="4956048"/>
            <a:ext cx="28117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02" b="0">
                <a:solidFill>
                  <a:srgbClr val="24303E"/>
                </a:solidFill>
                <a:latin typeface="Aptos"/>
              </a:defRPr>
            </a:pPr>
            <a:r>
              <a:t>Intention and action-effect have targeted qualitative ablations. Habit is representationally useful, but still needs a routine diary workload.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60604" y="795528"/>
            <a:ext cx="16459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88" b="1">
                <a:solidFill>
                  <a:srgbClr val="784800"/>
                </a:solidFill>
                <a:latin typeface="Aptos"/>
              </a:defRPr>
            </a:pPr>
            <a:r>
              <a:t>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8610" y="118872"/>
            <a:ext cx="846963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91" b="1">
                <a:solidFill>
                  <a:srgbClr val="FFFFFF"/>
                </a:solidFill>
                <a:latin typeface="Aptos Display"/>
              </a:defRPr>
            </a:pPr>
            <a:r>
              <a:t>Recall: four channels become one ranked evidence 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" y="1234440"/>
            <a:ext cx="1783080" cy="6949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46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" y="1353312"/>
            <a:ext cx="147447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61" b="1">
                <a:solidFill>
                  <a:srgbClr val="2466B3"/>
                </a:solidFill>
                <a:latin typeface="Aptos"/>
              </a:defRPr>
            </a:pPr>
            <a:r>
              <a:t>Semantic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" y="1609344"/>
            <a:ext cx="147447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791" b="0">
                <a:solidFill>
                  <a:srgbClr val="667280"/>
                </a:solidFill>
                <a:latin typeface="Aptos"/>
              </a:defRPr>
            </a:pPr>
            <a:r>
              <a:t>similar meaning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34590" y="1581912"/>
            <a:ext cx="1268730" cy="1344168"/>
          </a:xfrm>
          <a:prstGeom prst="line">
            <a:avLst/>
          </a:prstGeom>
          <a:ln w="16510">
            <a:solidFill>
              <a:srgbClr val="2466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17220" y="2221992"/>
            <a:ext cx="1783080" cy="6949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" y="2340864"/>
            <a:ext cx="147447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61" b="1">
                <a:solidFill>
                  <a:srgbClr val="108080"/>
                </a:solidFill>
                <a:latin typeface="Aptos"/>
              </a:defRPr>
            </a:pPr>
            <a:r>
              <a:t>BM25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" y="2596896"/>
            <a:ext cx="147447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791" b="0">
                <a:solidFill>
                  <a:srgbClr val="667280"/>
                </a:solidFill>
                <a:latin typeface="Aptos"/>
              </a:defRPr>
            </a:pPr>
            <a:r>
              <a:t>lexical match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434590" y="2569464"/>
            <a:ext cx="1268730" cy="356616"/>
          </a:xfrm>
          <a:prstGeom prst="line">
            <a:avLst/>
          </a:prstGeom>
          <a:ln w="16510">
            <a:solidFill>
              <a:srgbClr val="1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17220" y="3209544"/>
            <a:ext cx="1783080" cy="6949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B91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4380" y="3328416"/>
            <a:ext cx="147447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61" b="1">
                <a:solidFill>
                  <a:srgbClr val="DB911C"/>
                </a:solidFill>
                <a:latin typeface="Aptos"/>
              </a:defRPr>
            </a:pPr>
            <a:r>
              <a:t>Graph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" y="3584448"/>
            <a:ext cx="147447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791" b="0">
                <a:solidFill>
                  <a:srgbClr val="667280"/>
                </a:solidFill>
                <a:latin typeface="Aptos"/>
              </a:defRPr>
            </a:pPr>
            <a:r>
              <a:t>linked evidence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2434590" y="2926080"/>
            <a:ext cx="1268730" cy="630936"/>
          </a:xfrm>
          <a:prstGeom prst="line">
            <a:avLst/>
          </a:prstGeom>
          <a:ln w="16510">
            <a:solidFill>
              <a:srgbClr val="DB91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17220" y="4197096"/>
            <a:ext cx="1783080" cy="694944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558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54380" y="4315968"/>
            <a:ext cx="147447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61" b="1">
                <a:solidFill>
                  <a:srgbClr val="55802C"/>
                </a:solidFill>
                <a:latin typeface="Aptos"/>
              </a:defRPr>
            </a:pPr>
            <a:r>
              <a:t>Temporal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4380" y="4572000"/>
            <a:ext cx="147447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791" b="0">
                <a:solidFill>
                  <a:srgbClr val="667280"/>
                </a:solidFill>
                <a:latin typeface="Aptos"/>
              </a:defRPr>
            </a:pPr>
            <a:r>
              <a:t>time windows</a:t>
            </a:r>
          </a:p>
        </p:txBody>
      </p:sp>
      <p:cxnSp>
        <p:nvCxnSpPr>
          <p:cNvPr id="22" name="Connector 21"/>
          <p:cNvCxnSpPr/>
          <p:nvPr/>
        </p:nvCxnSpPr>
        <p:spPr>
          <a:xfrm flipV="1">
            <a:off x="2434590" y="2926080"/>
            <a:ext cx="1268730" cy="1618488"/>
          </a:xfrm>
          <a:prstGeom prst="line">
            <a:avLst/>
          </a:prstGeom>
          <a:ln w="16510">
            <a:solidFill>
              <a:srgbClr val="5580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669030" y="2011680"/>
            <a:ext cx="1714500" cy="1874519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246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40480" y="2240280"/>
            <a:ext cx="1371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90" b="1">
                <a:solidFill>
                  <a:srgbClr val="102A43"/>
                </a:solidFill>
                <a:latin typeface="Aptos"/>
              </a:defRPr>
            </a:pPr>
            <a:r>
              <a:t>Adaptive routing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54196" y="2679192"/>
            <a:ext cx="1344168" cy="4389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45" b="0">
                <a:solidFill>
                  <a:srgbClr val="667280"/>
                </a:solidFill>
                <a:latin typeface="Aptos"/>
              </a:defRPr>
            </a:pPr>
            <a:r>
              <a:t>query type changes channel weights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54196" y="3200400"/>
            <a:ext cx="1344168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731" b="0">
                <a:solidFill>
                  <a:srgbClr val="108080"/>
                </a:solidFill>
                <a:latin typeface="Aptos"/>
              </a:defRPr>
            </a:pPr>
            <a:r>
              <a:t>semantic | temporal | causal | prospective | preference | multi-hop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90388" y="2926080"/>
            <a:ext cx="816102" cy="0"/>
          </a:xfrm>
          <a:prstGeom prst="line">
            <a:avLst/>
          </a:prstGeom>
          <a:ln w="22860">
            <a:solidFill>
              <a:srgbClr val="66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240780" y="1325880"/>
            <a:ext cx="2023110" cy="3429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0236" y="1572768"/>
            <a:ext cx="15773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90" b="1">
                <a:solidFill>
                  <a:srgbClr val="102A43"/>
                </a:solidFill>
                <a:latin typeface="Aptos"/>
              </a:defRPr>
            </a:pPr>
            <a:r>
              <a:t>Top evidence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49390" y="2057400"/>
            <a:ext cx="1405890" cy="310896"/>
          </a:xfrm>
          <a:prstGeom prst="roundRect">
            <a:avLst/>
          </a:prstGeom>
          <a:solidFill>
            <a:srgbClr val="108080"/>
          </a:solidFill>
          <a:ln w="13970">
            <a:solidFill>
              <a:srgbClr val="1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91" b="1">
                <a:solidFill>
                  <a:srgbClr val="FFFFFF"/>
                </a:solidFill>
                <a:latin typeface="Aptos"/>
              </a:defRPr>
            </a:pPr>
            <a:r>
              <a:t>1. fact + snippet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49390" y="2587752"/>
            <a:ext cx="1405890" cy="310896"/>
          </a:xfrm>
          <a:prstGeom prst="roundRect">
            <a:avLst/>
          </a:prstGeom>
          <a:solidFill>
            <a:srgbClr val="55802C"/>
          </a:solidFill>
          <a:ln w="13970">
            <a:solidFill>
              <a:srgbClr val="558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91" b="1">
                <a:solidFill>
                  <a:srgbClr val="FFFFFF"/>
                </a:solidFill>
                <a:latin typeface="Aptos"/>
              </a:defRPr>
            </a:pPr>
            <a:r>
              <a:t>2. dated memory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49390" y="3118104"/>
            <a:ext cx="1405890" cy="310896"/>
          </a:xfrm>
          <a:prstGeom prst="roundRect">
            <a:avLst/>
          </a:prstGeom>
          <a:solidFill>
            <a:srgbClr val="DB911C"/>
          </a:solidFill>
          <a:ln w="13970">
            <a:solidFill>
              <a:srgbClr val="DB91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91" b="1">
                <a:solidFill>
                  <a:srgbClr val="FFFFFF"/>
                </a:solidFill>
                <a:latin typeface="Aptos"/>
              </a:defRPr>
            </a:pPr>
            <a:r>
              <a:t>3. linked node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49390" y="3648456"/>
            <a:ext cx="1405890" cy="310896"/>
          </a:xfrm>
          <a:prstGeom prst="roundRect">
            <a:avLst/>
          </a:prstGeom>
          <a:solidFill>
            <a:srgbClr val="2466B3"/>
          </a:solidFill>
          <a:ln w="13970">
            <a:solidFill>
              <a:srgbClr val="246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91" b="1">
                <a:solidFill>
                  <a:srgbClr val="FFFFFF"/>
                </a:solidFill>
                <a:latin typeface="Aptos"/>
              </a:defRPr>
            </a:pPr>
            <a:r>
              <a:t>4. lexical hit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5760720"/>
            <a:ext cx="750951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76" b="1">
                <a:solidFill>
                  <a:srgbClr val="102A43"/>
                </a:solidFill>
                <a:latin typeface="Aptos"/>
              </a:defRPr>
            </a:pPr>
            <a:r>
              <a:t>Key claim: graph is important, but the final system is deliberately multi-channel.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60604" y="795528"/>
            <a:ext cx="16459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88" b="1">
                <a:solidFill>
                  <a:srgbClr val="784800"/>
                </a:solidFill>
                <a:latin typeface="Aptos"/>
              </a:defRPr>
            </a:pPr>
            <a:r>
              <a:t>METHOD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8610" y="118872"/>
            <a:ext cx="846963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91" b="1">
                <a:solidFill>
                  <a:srgbClr val="FFFFFF"/>
                </a:solidFill>
                <a:latin typeface="Aptos Display"/>
              </a:defRPr>
            </a:pPr>
            <a:r>
              <a:t>Graph recall: SUM instead of MAX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4924" y="1234440"/>
            <a:ext cx="3737610" cy="43434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60570" y="1234440"/>
            <a:ext cx="3737610" cy="43434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" y="1444752"/>
            <a:ext cx="1062990" cy="384048"/>
          </a:xfrm>
          <a:prstGeom prst="roundRect">
            <a:avLst/>
          </a:prstGeom>
          <a:solidFill>
            <a:srgbClr val="CA4343"/>
          </a:solidFill>
          <a:ln w="13970">
            <a:solidFill>
              <a:srgbClr val="CA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45" b="1">
                <a:solidFill>
                  <a:srgbClr val="FFFFFF"/>
                </a:solidFill>
                <a:latin typeface="Aptos"/>
              </a:defRPr>
            </a:pPr>
            <a:r>
              <a:t>MAX baseline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18304" y="1444752"/>
            <a:ext cx="1200150" cy="384048"/>
          </a:xfrm>
          <a:prstGeom prst="roundRect">
            <a:avLst/>
          </a:prstGeom>
          <a:solidFill>
            <a:srgbClr val="108080"/>
          </a:solidFill>
          <a:ln w="13970">
            <a:solidFill>
              <a:srgbClr val="1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45" b="1">
                <a:solidFill>
                  <a:srgbClr val="FFFFFF"/>
                </a:solidFill>
                <a:latin typeface="Aptos"/>
              </a:defRPr>
            </a:pPr>
            <a:r>
              <a:t>SUM activation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956816"/>
            <a:ext cx="339471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4" b="1">
                <a:solidFill>
                  <a:srgbClr val="102A43"/>
                </a:solidFill>
                <a:latin typeface="Aptos"/>
              </a:defRPr>
            </a:pPr>
            <a:r>
              <a:t>Keeps the strongest single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18304" y="1956816"/>
            <a:ext cx="332613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4" b="1">
                <a:solidFill>
                  <a:srgbClr val="102A43"/>
                </a:solidFill>
                <a:latin typeface="Aptos"/>
              </a:defRPr>
            </a:pPr>
            <a:r>
              <a:t>Accumulates many weak paths converging on the same answer node</a:t>
            </a:r>
          </a:p>
        </p:txBody>
      </p:sp>
      <p:sp>
        <p:nvSpPr>
          <p:cNvPr id="13" name="Oval 12"/>
          <p:cNvSpPr/>
          <p:nvPr/>
        </p:nvSpPr>
        <p:spPr>
          <a:xfrm>
            <a:off x="1062990" y="4206240"/>
            <a:ext cx="240030" cy="320040"/>
          </a:xfrm>
          <a:prstGeom prst="ellipse">
            <a:avLst/>
          </a:prstGeom>
          <a:solidFill>
            <a:srgbClr val="D7DEE6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11630" y="2971800"/>
            <a:ext cx="240030" cy="320040"/>
          </a:xfrm>
          <a:prstGeom prst="ellipse">
            <a:avLst/>
          </a:prstGeom>
          <a:solidFill>
            <a:srgbClr val="D7DEE6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194560" y="4251960"/>
            <a:ext cx="240030" cy="320040"/>
          </a:xfrm>
          <a:prstGeom prst="ellipse">
            <a:avLst/>
          </a:prstGeom>
          <a:solidFill>
            <a:srgbClr val="D7DEE6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120390" y="3337560"/>
            <a:ext cx="240030" cy="320040"/>
          </a:xfrm>
          <a:prstGeom prst="ellipse">
            <a:avLst/>
          </a:prstGeom>
          <a:solidFill>
            <a:srgbClr val="CA4343"/>
          </a:solidFill>
          <a:ln>
            <a:solidFill>
              <a:srgbClr val="CA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3497580" y="4434840"/>
            <a:ext cx="240030" cy="320040"/>
          </a:xfrm>
          <a:prstGeom prst="ellipse">
            <a:avLst/>
          </a:prstGeom>
          <a:solidFill>
            <a:srgbClr val="D7DEE6"/>
          </a:solidFill>
          <a:ln>
            <a:solidFill>
              <a:srgbClr val="D7DE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V="1">
            <a:off x="1303020" y="3493008"/>
            <a:ext cx="1817370" cy="877824"/>
          </a:xfrm>
          <a:prstGeom prst="line">
            <a:avLst/>
          </a:prstGeom>
          <a:ln w="25400">
            <a:solidFill>
              <a:srgbClr val="CA43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57250" y="4892040"/>
            <a:ext cx="3154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62" b="1">
                <a:solidFill>
                  <a:srgbClr val="CA4343"/>
                </a:solidFill>
                <a:latin typeface="Aptos"/>
              </a:defRPr>
            </a:pPr>
            <a:r>
              <a:t>A(v) = max(signal)</a:t>
            </a:r>
          </a:p>
        </p:txBody>
      </p:sp>
      <p:sp>
        <p:nvSpPr>
          <p:cNvPr id="20" name="Oval 19"/>
          <p:cNvSpPr/>
          <p:nvPr/>
        </p:nvSpPr>
        <p:spPr>
          <a:xfrm>
            <a:off x="6309360" y="3383280"/>
            <a:ext cx="425196" cy="566928"/>
          </a:xfrm>
          <a:prstGeom prst="ellipse">
            <a:avLst/>
          </a:prstGeom>
          <a:solidFill>
            <a:srgbClr val="108080"/>
          </a:solidFill>
          <a:ln>
            <a:solidFill>
              <a:srgbClr val="1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109210" y="2788920"/>
            <a:ext cx="246888" cy="329184"/>
          </a:xfrm>
          <a:prstGeom prst="ellipse">
            <a:avLst/>
          </a:prstGeom>
          <a:solidFill>
            <a:srgbClr val="2466B3"/>
          </a:solidFill>
          <a:ln>
            <a:solidFill>
              <a:srgbClr val="246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5356098" y="2953512"/>
            <a:ext cx="953262" cy="713232"/>
          </a:xfrm>
          <a:prstGeom prst="line">
            <a:avLst/>
          </a:prstGeom>
          <a:ln w="21590">
            <a:solidFill>
              <a:srgbClr val="2466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/>
          <p:cNvSpPr/>
          <p:nvPr/>
        </p:nvSpPr>
        <p:spPr>
          <a:xfrm>
            <a:off x="5280660" y="4315968"/>
            <a:ext cx="246888" cy="329184"/>
          </a:xfrm>
          <a:prstGeom prst="ellipse">
            <a:avLst/>
          </a:prstGeom>
          <a:solidFill>
            <a:srgbClr val="55802C"/>
          </a:solidFill>
          <a:ln>
            <a:solidFill>
              <a:srgbClr val="558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V="1">
            <a:off x="5527548" y="3666744"/>
            <a:ext cx="781812" cy="813815"/>
          </a:xfrm>
          <a:prstGeom prst="line">
            <a:avLst/>
          </a:prstGeom>
          <a:ln w="21590">
            <a:solidFill>
              <a:srgbClr val="55802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7303770" y="2880360"/>
            <a:ext cx="246888" cy="329184"/>
          </a:xfrm>
          <a:prstGeom prst="ellipse">
            <a:avLst/>
          </a:prstGeom>
          <a:solidFill>
            <a:srgbClr val="DB911C"/>
          </a:solidFill>
          <a:ln>
            <a:solidFill>
              <a:srgbClr val="DB91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" name="Connector 25"/>
          <p:cNvCxnSpPr/>
          <p:nvPr/>
        </p:nvCxnSpPr>
        <p:spPr>
          <a:xfrm flipH="1">
            <a:off x="6309360" y="3044952"/>
            <a:ext cx="1241298" cy="621792"/>
          </a:xfrm>
          <a:prstGeom prst="line">
            <a:avLst/>
          </a:prstGeom>
          <a:ln w="21590">
            <a:solidFill>
              <a:srgbClr val="DB91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7235190" y="4434840"/>
            <a:ext cx="246888" cy="329184"/>
          </a:xfrm>
          <a:prstGeom prst="ellipse">
            <a:avLst/>
          </a:prstGeom>
          <a:solidFill>
            <a:srgbClr val="E66F37"/>
          </a:solidFill>
          <a:ln>
            <a:solidFill>
              <a:srgbClr val="E66F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 flipH="1" flipV="1">
            <a:off x="6309360" y="3666744"/>
            <a:ext cx="1172718" cy="932687"/>
          </a:xfrm>
          <a:prstGeom prst="line">
            <a:avLst/>
          </a:prstGeom>
          <a:ln w="21590">
            <a:solidFill>
              <a:srgbClr val="E66F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4834890" y="4892040"/>
            <a:ext cx="31546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62" b="1">
                <a:solidFill>
                  <a:srgbClr val="108080"/>
                </a:solidFill>
                <a:latin typeface="Aptos"/>
              </a:defRPr>
            </a:pPr>
            <a:r>
              <a:t>A(v) += total incoming signal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20090" y="5779008"/>
            <a:ext cx="1645920" cy="310896"/>
          </a:xfrm>
          <a:prstGeom prst="roundRect">
            <a:avLst/>
          </a:prstGeom>
          <a:solidFill>
            <a:srgbClr val="2466B3"/>
          </a:solidFill>
          <a:ln w="13970">
            <a:solidFill>
              <a:srgbClr val="246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6" b="1">
                <a:solidFill>
                  <a:srgbClr val="FFFFFF"/>
                </a:solidFill>
                <a:latin typeface="Aptos"/>
              </a:defRPr>
            </a:pPr>
            <a:r>
              <a:t>cycle guard 1: refractory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98064" y="5779008"/>
            <a:ext cx="1645920" cy="310896"/>
          </a:xfrm>
          <a:prstGeom prst="roundRect">
            <a:avLst/>
          </a:prstGeom>
          <a:solidFill>
            <a:srgbClr val="DB911C"/>
          </a:solidFill>
          <a:ln w="13970">
            <a:solidFill>
              <a:srgbClr val="DB91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6" b="1">
                <a:solidFill>
                  <a:srgbClr val="FFFFFF"/>
                </a:solidFill>
                <a:latin typeface="Aptos"/>
              </a:defRPr>
            </a:pPr>
            <a:r>
              <a:t>cycle guard 2: firing quota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855464" y="5779008"/>
            <a:ext cx="1645920" cy="310896"/>
          </a:xfrm>
          <a:prstGeom prst="roundRect">
            <a:avLst/>
          </a:prstGeom>
          <a:solidFill>
            <a:srgbClr val="55802C"/>
          </a:solidFill>
          <a:ln w="13970">
            <a:solidFill>
              <a:srgbClr val="558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6" b="1">
                <a:solidFill>
                  <a:srgbClr val="FFFFFF"/>
                </a:solidFill>
                <a:latin typeface="Aptos"/>
              </a:defRPr>
            </a:pPr>
            <a:r>
              <a:t>cycle guard 3: saturation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60604" y="795528"/>
            <a:ext cx="16459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88" b="1">
                <a:solidFill>
                  <a:srgbClr val="784800"/>
                </a:solidFill>
                <a:latin typeface="Aptos"/>
              </a:defRPr>
            </a:pPr>
            <a:r>
              <a:t>EXAMPLE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8610" y="118872"/>
            <a:ext cx="846963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91" b="1">
                <a:solidFill>
                  <a:srgbClr val="FFFFFF"/>
                </a:solidFill>
                <a:latin typeface="Aptos Display"/>
              </a:defRPr>
            </a:pPr>
            <a:r>
              <a:t>Running example: before-travel question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115568"/>
            <a:ext cx="7715250" cy="6858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" y="1298448"/>
            <a:ext cx="7406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634" b="1">
                <a:solidFill>
                  <a:srgbClr val="102A43"/>
                </a:solidFill>
                <a:latin typeface="Aptos"/>
              </a:defRPr>
            </a:pPr>
            <a:r>
              <a:t>Query: Which city was the user in before traveling to Chicago?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8670" y="2907792"/>
            <a:ext cx="7098030" cy="0"/>
          </a:xfrm>
          <a:prstGeom prst="line">
            <a:avLst/>
          </a:prstGeom>
          <a:ln w="20320">
            <a:solidFill>
              <a:srgbClr val="66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474470" y="2743200"/>
            <a:ext cx="246888" cy="329184"/>
          </a:xfrm>
          <a:prstGeom prst="ellipse">
            <a:avLst/>
          </a:prstGeom>
          <a:solidFill>
            <a:srgbClr val="108080"/>
          </a:solidFill>
          <a:ln>
            <a:solidFill>
              <a:srgbClr val="1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94410" y="3310128"/>
            <a:ext cx="1200150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1570" y="3456432"/>
            <a:ext cx="92583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17" b="1">
                <a:solidFill>
                  <a:srgbClr val="108080"/>
                </a:solidFill>
                <a:latin typeface="Aptos"/>
              </a:defRPr>
            </a:pPr>
            <a:r>
              <a:t>Memory 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1570" y="3730752"/>
            <a:ext cx="92583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90" b="1">
                <a:solidFill>
                  <a:srgbClr val="102A43"/>
                </a:solidFill>
                <a:latin typeface="Aptos"/>
              </a:defRPr>
            </a:pPr>
            <a:r>
              <a:t>Seattle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1570" y="4005072"/>
            <a:ext cx="92583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705" b="0">
                <a:solidFill>
                  <a:srgbClr val="667280"/>
                </a:solidFill>
                <a:latin typeface="Aptos"/>
              </a:defRPr>
            </a:pPr>
            <a:r>
              <a:t>earlier dated evidence</a:t>
            </a:r>
          </a:p>
        </p:txBody>
      </p:sp>
      <p:sp>
        <p:nvSpPr>
          <p:cNvPr id="15" name="Oval 14"/>
          <p:cNvSpPr/>
          <p:nvPr/>
        </p:nvSpPr>
        <p:spPr>
          <a:xfrm>
            <a:off x="4114800" y="2743200"/>
            <a:ext cx="246888" cy="329184"/>
          </a:xfrm>
          <a:prstGeom prst="ellipse">
            <a:avLst/>
          </a:prstGeom>
          <a:solidFill>
            <a:srgbClr val="DB911C"/>
          </a:solidFill>
          <a:ln>
            <a:solidFill>
              <a:srgbClr val="DB91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34740" y="3310128"/>
            <a:ext cx="1200150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B91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71900" y="3456432"/>
            <a:ext cx="92583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17" b="1">
                <a:solidFill>
                  <a:srgbClr val="DB911C"/>
                </a:solidFill>
                <a:latin typeface="Aptos"/>
              </a:defRPr>
            </a:pPr>
            <a:r>
              <a:t>Memory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1900" y="3730752"/>
            <a:ext cx="92583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90" b="1">
                <a:solidFill>
                  <a:srgbClr val="102A43"/>
                </a:solidFill>
                <a:latin typeface="Aptos"/>
              </a:defRPr>
            </a:pPr>
            <a:r>
              <a:t>Chicago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1900" y="4005072"/>
            <a:ext cx="92583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705" b="0">
                <a:solidFill>
                  <a:srgbClr val="667280"/>
                </a:solidFill>
                <a:latin typeface="Aptos"/>
              </a:defRPr>
            </a:pPr>
            <a:r>
              <a:t>anchor travel evidence</a:t>
            </a:r>
          </a:p>
        </p:txBody>
      </p:sp>
      <p:sp>
        <p:nvSpPr>
          <p:cNvPr id="20" name="Oval 19"/>
          <p:cNvSpPr/>
          <p:nvPr/>
        </p:nvSpPr>
        <p:spPr>
          <a:xfrm>
            <a:off x="6755130" y="2743200"/>
            <a:ext cx="246888" cy="329184"/>
          </a:xfrm>
          <a:prstGeom prst="ellipse">
            <a:avLst/>
          </a:prstGeom>
          <a:solidFill>
            <a:srgbClr val="55802C"/>
          </a:solidFill>
          <a:ln>
            <a:solidFill>
              <a:srgbClr val="558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75070" y="3310128"/>
            <a:ext cx="1200150" cy="9601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558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2230" y="3456432"/>
            <a:ext cx="92583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17" b="1">
                <a:solidFill>
                  <a:srgbClr val="55802C"/>
                </a:solidFill>
                <a:latin typeface="Aptos"/>
              </a:defRPr>
            </a:pPr>
            <a:r>
              <a:t>Answer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12230" y="3730752"/>
            <a:ext cx="92583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90" b="1">
                <a:solidFill>
                  <a:srgbClr val="102A43"/>
                </a:solidFill>
                <a:latin typeface="Aptos"/>
              </a:defRPr>
            </a:pPr>
            <a:r>
              <a:t>Seattle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2230" y="4005072"/>
            <a:ext cx="925830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705" b="0">
                <a:solidFill>
                  <a:srgbClr val="667280"/>
                </a:solidFill>
                <a:latin typeface="Aptos"/>
              </a:defRPr>
            </a:pPr>
            <a:r>
              <a:t>before Chicago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19472"/>
            <a:ext cx="2125980" cy="80467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360420" y="4919472"/>
            <a:ext cx="2125980" cy="80467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6035040" y="4919472"/>
            <a:ext cx="2125980" cy="80467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6" y="5047488"/>
            <a:ext cx="181737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32" b="1">
                <a:solidFill>
                  <a:srgbClr val="102A43"/>
                </a:solidFill>
                <a:latin typeface="Aptos"/>
              </a:defRPr>
            </a:pPr>
            <a:r>
              <a:t>1. Detect relation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" y="5321808"/>
            <a:ext cx="181737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60" b="0">
                <a:solidFill>
                  <a:srgbClr val="667280"/>
                </a:solidFill>
                <a:latin typeface="Aptos"/>
              </a:defRPr>
            </a:pPr>
            <a:r>
              <a:t>before + travel + city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11296" y="5047488"/>
            <a:ext cx="181737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32" b="1">
                <a:solidFill>
                  <a:srgbClr val="102A43"/>
                </a:solidFill>
                <a:latin typeface="Aptos"/>
              </a:defRPr>
            </a:pPr>
            <a:r>
              <a:t>2. Recall dated memories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11296" y="5321808"/>
            <a:ext cx="181737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60" b="0">
                <a:solidFill>
                  <a:srgbClr val="667280"/>
                </a:solidFill>
                <a:latin typeface="Aptos"/>
              </a:defRPr>
            </a:pPr>
            <a:r>
              <a:t>Seattle and Chicago evidence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85916" y="5047488"/>
            <a:ext cx="181737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032" b="1">
                <a:solidFill>
                  <a:srgbClr val="102A43"/>
                </a:solidFill>
                <a:latin typeface="Aptos"/>
              </a:defRPr>
            </a:pPr>
            <a:r>
              <a:t>3. Guard generation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85916" y="5321808"/>
            <a:ext cx="181737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60" b="0">
                <a:solidFill>
                  <a:srgbClr val="667280"/>
                </a:solidFill>
                <a:latin typeface="Aptos"/>
              </a:defRPr>
            </a:pPr>
            <a:r>
              <a:t>answer from evidence only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60604" y="795528"/>
            <a:ext cx="16459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88" b="1">
                <a:solidFill>
                  <a:srgbClr val="784800"/>
                </a:solidFill>
                <a:latin typeface="Aptos"/>
              </a:defRPr>
            </a:pPr>
            <a:r>
              <a:t>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8610" y="118872"/>
            <a:ext cx="846963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91" b="1">
                <a:solidFill>
                  <a:srgbClr val="FFFFFF"/>
                </a:solidFill>
                <a:latin typeface="Aptos Display"/>
              </a:defRPr>
            </a:pPr>
            <a:r>
              <a:t>Evaluation: manual verdicts, not blind judge trust</a:t>
            </a:r>
          </a:p>
        </p:txBody>
      </p:sp>
      <p:pic>
        <p:nvPicPr>
          <p:cNvPr id="7" name="Picture 6" descr="manual_evaluation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899805"/>
            <a:ext cx="4800600" cy="2701773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417820" y="1234440"/>
            <a:ext cx="2708910" cy="4251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09844" y="1481328"/>
            <a:ext cx="2331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48" b="1">
                <a:solidFill>
                  <a:srgbClr val="102A43"/>
                </a:solidFill>
                <a:latin typeface="Aptos"/>
              </a:defRPr>
            </a:pPr>
            <a:r>
              <a:t>Final scoring rules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57850" y="2057400"/>
            <a:ext cx="21945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075">
                <a:solidFill>
                  <a:srgbClr val="24303E"/>
                </a:solidFill>
                <a:latin typeface="Aptos"/>
              </a:defRPr>
            </a:pPr>
            <a:r>
              <a:t>• Automatic judge is diagnostic only.</a:t>
            </a:r>
          </a:p>
          <a:p>
            <a:pPr>
              <a:spcAft>
                <a:spcPts val="700"/>
              </a:spcAft>
              <a:defRPr sz="1075">
                <a:solidFill>
                  <a:srgbClr val="24303E"/>
                </a:solidFill>
                <a:latin typeface="Aptos"/>
              </a:defRPr>
            </a:pPr>
            <a:r>
              <a:t>• Manual PASS is the main metric.</a:t>
            </a:r>
          </a:p>
          <a:p>
            <a:pPr>
              <a:spcAft>
                <a:spcPts val="700"/>
              </a:spcAft>
              <a:defRPr sz="1075">
                <a:solidFill>
                  <a:srgbClr val="24303E"/>
                </a:solidFill>
                <a:latin typeface="Aptos"/>
              </a:defRPr>
            </a:pPr>
            <a:r>
              <a:t>• LoCoMo PASS means fully correct or core-correct and usable.</a:t>
            </a:r>
          </a:p>
          <a:p>
            <a:pPr>
              <a:spcAft>
                <a:spcPts val="700"/>
              </a:spcAft>
              <a:defRPr sz="1075">
                <a:solidFill>
                  <a:srgbClr val="24303E"/>
                </a:solidFill>
                <a:latin typeface="Aptos"/>
              </a:defRPr>
            </a:pPr>
            <a:r>
              <a:t>• Blank-gold cases pass only when memory insufficiency is explicit.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" y="5522976"/>
            <a:ext cx="822960" cy="310896"/>
          </a:xfrm>
          <a:prstGeom prst="roundRect">
            <a:avLst/>
          </a:prstGeom>
          <a:solidFill>
            <a:srgbClr val="2466B3"/>
          </a:solidFill>
          <a:ln w="13970">
            <a:solidFill>
              <a:srgbClr val="246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6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80210" y="5522976"/>
            <a:ext cx="1062990" cy="310896"/>
          </a:xfrm>
          <a:prstGeom prst="roundRect">
            <a:avLst/>
          </a:prstGeom>
          <a:solidFill>
            <a:srgbClr val="108080"/>
          </a:solidFill>
          <a:ln w="13970">
            <a:solidFill>
              <a:srgbClr val="1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6" b="1">
                <a:solidFill>
                  <a:srgbClr val="FFFFFF"/>
                </a:solidFill>
                <a:latin typeface="Aptos"/>
              </a:defRPr>
            </a:pPr>
            <a:r>
              <a:t>CogMem answer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14650" y="5522976"/>
            <a:ext cx="1028700" cy="310896"/>
          </a:xfrm>
          <a:prstGeom prst="roundRect">
            <a:avLst/>
          </a:prstGeom>
          <a:solidFill>
            <a:srgbClr val="DB911C"/>
          </a:solidFill>
          <a:ln w="13970">
            <a:solidFill>
              <a:srgbClr val="DB91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6" b="1">
                <a:solidFill>
                  <a:srgbClr val="FFFFFF"/>
                </a:solidFill>
                <a:latin typeface="Aptos"/>
              </a:defRPr>
            </a:pPr>
            <a:r>
              <a:t>Human verdict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0" y="5522976"/>
            <a:ext cx="1062990" cy="310896"/>
          </a:xfrm>
          <a:prstGeom prst="roundRect">
            <a:avLst/>
          </a:prstGeom>
          <a:solidFill>
            <a:srgbClr val="55802C"/>
          </a:solidFill>
          <a:ln w="13970">
            <a:solidFill>
              <a:srgbClr val="558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6" b="1">
                <a:solidFill>
                  <a:srgbClr val="FFFFFF"/>
                </a:solidFill>
                <a:latin typeface="Aptos"/>
              </a:defRPr>
            </a:pPr>
            <a:r>
              <a:t>Category totals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60604" y="795528"/>
            <a:ext cx="16459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88" b="1">
                <a:solidFill>
                  <a:srgbClr val="78480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8610" y="118872"/>
            <a:ext cx="846963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91" b="1">
                <a:solidFill>
                  <a:srgbClr val="FFFFFF"/>
                </a:solidFill>
                <a:latin typeface="Aptos Display"/>
              </a:defRPr>
            </a:pPr>
            <a:r>
              <a:t>LongMemEval v16: multi-channel recall is strongest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2930" y="1152144"/>
            <a:ext cx="2194560" cy="1417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6374" y="1298448"/>
            <a:ext cx="19476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150" b="1">
                <a:solidFill>
                  <a:srgbClr val="108080"/>
                </a:solidFill>
                <a:latin typeface="Aptos"/>
              </a:defRPr>
            </a:pPr>
            <a:r>
              <a:t>29/35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6374" y="1810512"/>
            <a:ext cx="194767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45" b="1">
                <a:solidFill>
                  <a:srgbClr val="102A43"/>
                </a:solidFill>
                <a:latin typeface="Aptos"/>
              </a:defRPr>
            </a:pPr>
            <a:r>
              <a:t>Best multi-channel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6374" y="2103120"/>
            <a:ext cx="19476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17" b="0">
                <a:solidFill>
                  <a:srgbClr val="667280"/>
                </a:solidFill>
                <a:latin typeface="Aptos"/>
              </a:defRPr>
            </a:pPr>
            <a:r>
              <a:t>manual PASS = 82.9%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57550" y="1152144"/>
            <a:ext cx="2194560" cy="1417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0994" y="1298448"/>
            <a:ext cx="19476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150" b="1">
                <a:solidFill>
                  <a:srgbClr val="2466B3"/>
                </a:solidFill>
                <a:latin typeface="Aptos"/>
              </a:defRPr>
            </a:pPr>
            <a:r>
              <a:t>26/35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0994" y="1810512"/>
            <a:ext cx="194767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45" b="1">
                <a:solidFill>
                  <a:srgbClr val="102A43"/>
                </a:solidFill>
                <a:latin typeface="Aptos"/>
              </a:defRPr>
            </a:pPr>
            <a:r>
              <a:t>Full six-type 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0994" y="2103120"/>
            <a:ext cx="19476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17" b="0">
                <a:solidFill>
                  <a:srgbClr val="667280"/>
                </a:solidFill>
                <a:latin typeface="Aptos"/>
              </a:defRPr>
            </a:pPr>
            <a:r>
              <a:t>manual PASS = 74.3%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32170" y="1152144"/>
            <a:ext cx="2194560" cy="1417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55614" y="1298448"/>
            <a:ext cx="19476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150" b="1">
                <a:solidFill>
                  <a:srgbClr val="DB911C"/>
                </a:solidFill>
                <a:latin typeface="Aptos"/>
              </a:defRPr>
            </a:pPr>
            <a:r>
              <a:t>35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55614" y="1810512"/>
            <a:ext cx="194767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45" b="1">
                <a:solidFill>
                  <a:srgbClr val="102A43"/>
                </a:solidFill>
                <a:latin typeface="Aptos"/>
              </a:defRPr>
            </a:pPr>
            <a:r>
              <a:t>Verified subset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5614" y="2103120"/>
            <a:ext cx="19476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17" b="0">
                <a:solidFill>
                  <a:srgbClr val="667280"/>
                </a:solidFill>
                <a:latin typeface="Aptos"/>
              </a:defRPr>
            </a:pPr>
            <a:r>
              <a:t>LongMemEval v16 questions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8670" y="3063240"/>
            <a:ext cx="7132320" cy="22402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2990" y="3401568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32" b="1">
                <a:solidFill>
                  <a:srgbClr val="24303E"/>
                </a:solidFill>
                <a:latin typeface="Aptos"/>
              </a:defRPr>
            </a:pPr>
            <a:r>
              <a:t>Best multi-channel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3438144"/>
            <a:ext cx="3943350" cy="164592"/>
          </a:xfrm>
          <a:prstGeom prst="rect">
            <a:avLst/>
          </a:prstGeom>
          <a:solidFill>
            <a:srgbClr val="E1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0" y="3438144"/>
            <a:ext cx="3269037" cy="164592"/>
          </a:xfrm>
          <a:prstGeom prst="rect">
            <a:avLst/>
          </a:prstGeom>
          <a:solidFill>
            <a:srgbClr val="1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55130" y="3383280"/>
            <a:ext cx="51435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45" b="1">
                <a:solidFill>
                  <a:srgbClr val="102A43"/>
                </a:solidFill>
                <a:latin typeface="Aptos"/>
              </a:defRPr>
            </a:pPr>
            <a:r>
              <a:t>82.9%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62990" y="3950208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32" b="1">
                <a:solidFill>
                  <a:srgbClr val="24303E"/>
                </a:solidFill>
                <a:latin typeface="Aptos"/>
              </a:defRPr>
            </a:pPr>
            <a:r>
              <a:t>Full six-type baseline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0" y="3986784"/>
            <a:ext cx="3943350" cy="164592"/>
          </a:xfrm>
          <a:prstGeom prst="rect">
            <a:avLst/>
          </a:prstGeom>
          <a:solidFill>
            <a:srgbClr val="E1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743200" y="3986784"/>
            <a:ext cx="2929909" cy="164592"/>
          </a:xfrm>
          <a:prstGeom prst="rect">
            <a:avLst/>
          </a:prstGeom>
          <a:solidFill>
            <a:srgbClr val="246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55130" y="3931920"/>
            <a:ext cx="51435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45" b="1">
                <a:solidFill>
                  <a:srgbClr val="102A43"/>
                </a:solidFill>
                <a:latin typeface="Aptos"/>
              </a:defRPr>
            </a:pPr>
            <a:r>
              <a:t>74.3%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2990" y="4498848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32" b="1">
                <a:solidFill>
                  <a:srgbClr val="24303E"/>
                </a:solidFill>
                <a:latin typeface="Aptos"/>
              </a:defRPr>
            </a:pPr>
            <a:r>
              <a:t>Graph-only controls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77490" y="4498848"/>
            <a:ext cx="387477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85" b="0">
                <a:solidFill>
                  <a:srgbClr val="667280"/>
                </a:solidFill>
                <a:latin typeface="Aptos"/>
              </a:defRPr>
            </a:pPr>
            <a:r>
              <a:t>lower-band controls used for isolation, not the final system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0090" y="5806440"/>
            <a:ext cx="74752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76" b="1">
                <a:solidFill>
                  <a:srgbClr val="102A43"/>
                </a:solidFill>
                <a:latin typeface="Aptos"/>
              </a:defRPr>
            </a:pPr>
            <a:r>
              <a:t>Takeaway: CogMem works best when graph structure complements lexical, semantic, and temporal evidence.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60604" y="795528"/>
            <a:ext cx="16459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88" b="1">
                <a:solidFill>
                  <a:srgbClr val="78480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8610" y="118872"/>
            <a:ext cx="846963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91" b="1">
                <a:solidFill>
                  <a:srgbClr val="FFFFFF"/>
                </a:solidFill>
                <a:latin typeface="Aptos Display"/>
              </a:defRPr>
            </a:pPr>
            <a:r>
              <a:t>Control experiment: SUM improves graph-only top-k priority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4924" y="1115568"/>
            <a:ext cx="2194560" cy="1417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261872"/>
            <a:ext cx="19476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150" b="1">
                <a:solidFill>
                  <a:srgbClr val="108080"/>
                </a:solidFill>
                <a:latin typeface="Aptos"/>
              </a:defRPr>
            </a:pPr>
            <a:r>
              <a:t>0.8052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73936"/>
            <a:ext cx="194767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45" b="1">
                <a:solidFill>
                  <a:srgbClr val="102A43"/>
                </a:solidFill>
                <a:latin typeface="Aptos"/>
              </a:defRPr>
            </a:pPr>
            <a:r>
              <a:t>Graph-only SUM recall@5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66543"/>
            <a:ext cx="19476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17" b="0">
                <a:solidFill>
                  <a:srgbClr val="667280"/>
                </a:solidFill>
                <a:latin typeface="Aptos"/>
              </a:defRPr>
            </a:pPr>
            <a:r>
              <a:t>mean session recall@5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48940" y="1115568"/>
            <a:ext cx="2194560" cy="1417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72384" y="1261872"/>
            <a:ext cx="19476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150" b="1">
                <a:solidFill>
                  <a:srgbClr val="CA4343"/>
                </a:solidFill>
                <a:latin typeface="Aptos"/>
              </a:defRPr>
            </a:pPr>
            <a:r>
              <a:t>0.7624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72384" y="1773936"/>
            <a:ext cx="194767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45" b="1">
                <a:solidFill>
                  <a:srgbClr val="102A43"/>
                </a:solidFill>
                <a:latin typeface="Aptos"/>
              </a:defRPr>
            </a:pPr>
            <a:r>
              <a:t>Graph-only MAX recall@5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72384" y="2066543"/>
            <a:ext cx="19476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17" b="0">
                <a:solidFill>
                  <a:srgbClr val="667280"/>
                </a:solidFill>
                <a:latin typeface="Aptos"/>
              </a:defRPr>
            </a:pPr>
            <a:r>
              <a:t>mean session recall@5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62956" y="1115568"/>
            <a:ext cx="2194560" cy="14173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0" y="1261872"/>
            <a:ext cx="19476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150" b="1">
                <a:solidFill>
                  <a:srgbClr val="DB911C"/>
                </a:solidFill>
                <a:latin typeface="Aptos"/>
              </a:defRPr>
            </a:pPr>
            <a:r>
              <a:t>+0.0429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1773936"/>
            <a:ext cx="194767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45" b="1">
                <a:solidFill>
                  <a:srgbClr val="102A43"/>
                </a:solidFill>
                <a:latin typeface="Aptos"/>
              </a:defRPr>
            </a:pPr>
            <a:r>
              <a:t>Absolute lift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2066543"/>
            <a:ext cx="19476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17" b="0">
                <a:solidFill>
                  <a:srgbClr val="667280"/>
                </a:solidFill>
                <a:latin typeface="Aptos"/>
              </a:defRPr>
            </a:pPr>
            <a:r>
              <a:t>SUM minus MAX at top-5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" y="2944368"/>
            <a:ext cx="3566160" cy="2011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608576" y="2944368"/>
            <a:ext cx="3566160" cy="201168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3182112"/>
            <a:ext cx="3154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90" b="1">
                <a:solidFill>
                  <a:srgbClr val="102A43"/>
                </a:solidFill>
                <a:latin typeface="Aptos"/>
              </a:defRPr>
            </a:pPr>
            <a:r>
              <a:t>Rank budget view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8670" y="3703320"/>
            <a:ext cx="260604" cy="347472"/>
          </a:xfrm>
          <a:prstGeom prst="roundRect">
            <a:avLst/>
          </a:prstGeom>
          <a:solidFill>
            <a:srgbClr val="55802C"/>
          </a:solidFill>
          <a:ln w="13970">
            <a:solidFill>
              <a:srgbClr val="558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213866" y="3703320"/>
            <a:ext cx="260604" cy="347472"/>
          </a:xfrm>
          <a:prstGeom prst="roundRect">
            <a:avLst/>
          </a:prstGeom>
          <a:solidFill>
            <a:srgbClr val="55802C"/>
          </a:solidFill>
          <a:ln w="13970">
            <a:solidFill>
              <a:srgbClr val="558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39062" y="3703320"/>
            <a:ext cx="260604" cy="347472"/>
          </a:xfrm>
          <a:prstGeom prst="roundRect">
            <a:avLst/>
          </a:prstGeom>
          <a:solidFill>
            <a:srgbClr val="55802C"/>
          </a:solidFill>
          <a:ln w="13970">
            <a:solidFill>
              <a:srgbClr val="558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064258" y="3703320"/>
            <a:ext cx="260604" cy="347472"/>
          </a:xfrm>
          <a:prstGeom prst="roundRect">
            <a:avLst/>
          </a:prstGeom>
          <a:solidFill>
            <a:srgbClr val="55802C"/>
          </a:solidFill>
          <a:ln w="13970">
            <a:solidFill>
              <a:srgbClr val="558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489454" y="3703320"/>
            <a:ext cx="260604" cy="347472"/>
          </a:xfrm>
          <a:prstGeom prst="roundRect">
            <a:avLst/>
          </a:prstGeom>
          <a:solidFill>
            <a:srgbClr val="55802C"/>
          </a:solidFill>
          <a:ln w="13970">
            <a:solidFill>
              <a:srgbClr val="558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14650" y="3703320"/>
            <a:ext cx="260604" cy="347472"/>
          </a:xfrm>
          <a:prstGeom prst="roundRect">
            <a:avLst/>
          </a:prstGeom>
          <a:solidFill>
            <a:srgbClr val="E1E8F0"/>
          </a:solidFill>
          <a:ln w="1397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39846" y="3703320"/>
            <a:ext cx="260604" cy="347472"/>
          </a:xfrm>
          <a:prstGeom prst="roundRect">
            <a:avLst/>
          </a:prstGeom>
          <a:solidFill>
            <a:srgbClr val="E1E8F0"/>
          </a:solidFill>
          <a:ln w="13970">
            <a:solidFill>
              <a:srgbClr val="E1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60" b="1">
                <a:solidFill>
                  <a:srgbClr val="FFFFFF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352544"/>
            <a:ext cx="3154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89" b="0">
                <a:solidFill>
                  <a:srgbClr val="667280"/>
                </a:solidFill>
                <a:latin typeface="Aptos"/>
              </a:defRPr>
            </a:pPr>
            <a:r>
              <a:t>Relevant evidence should land inside ranks 1-5.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00600" y="3182112"/>
            <a:ext cx="315468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90" b="1">
                <a:solidFill>
                  <a:srgbClr val="102A43"/>
                </a:solidFill>
                <a:latin typeface="Aptos"/>
              </a:defRPr>
            </a:pPr>
            <a:r>
              <a:t>Result interpretation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55464" y="3611880"/>
            <a:ext cx="298323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989">
                <a:solidFill>
                  <a:srgbClr val="24303E"/>
                </a:solidFill>
                <a:latin typeface="Aptos"/>
              </a:defRPr>
            </a:pPr>
            <a:r>
              <a:t>• Recall@10 is equal at 0.8481.</a:t>
            </a:r>
          </a:p>
          <a:p>
            <a:pPr>
              <a:spcAft>
                <a:spcPts val="700"/>
              </a:spcAft>
              <a:defRPr sz="989">
                <a:solidFill>
                  <a:srgbClr val="24303E"/>
                </a:solidFill>
                <a:latin typeface="Aptos"/>
              </a:defRPr>
            </a:pPr>
            <a:r>
              <a:t>• SUM better in 2/35 questions.</a:t>
            </a:r>
          </a:p>
          <a:p>
            <a:pPr>
              <a:spcAft>
                <a:spcPts val="700"/>
              </a:spcAft>
              <a:defRPr sz="989">
                <a:solidFill>
                  <a:srgbClr val="24303E"/>
                </a:solidFill>
                <a:latin typeface="Aptos"/>
              </a:defRPr>
            </a:pPr>
            <a:r>
              <a:t>• MAX better in 0/35 questions.</a:t>
            </a:r>
          </a:p>
          <a:p>
            <a:pPr>
              <a:spcAft>
                <a:spcPts val="700"/>
              </a:spcAft>
              <a:defRPr sz="989">
                <a:solidFill>
                  <a:srgbClr val="24303E"/>
                </a:solidFill>
                <a:latin typeface="Aptos"/>
              </a:defRPr>
            </a:pPr>
            <a:r>
              <a:t>• Top-10 order changes in 12/35 questions.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5650992"/>
            <a:ext cx="7543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90" b="1">
                <a:solidFill>
                  <a:srgbClr val="102A43"/>
                </a:solidFill>
                <a:latin typeface="Aptos"/>
              </a:defRPr>
            </a:pPr>
            <a:r>
              <a:t>Honest claim: SUM does not create new evidence; it moves convergent evidence earlier in the prompt budget.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60604" y="795528"/>
            <a:ext cx="16459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88" b="1">
                <a:solidFill>
                  <a:srgbClr val="78480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8610" y="118872"/>
            <a:ext cx="846963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91" b="1">
                <a:solidFill>
                  <a:srgbClr val="FFFFFF"/>
                </a:solidFill>
                <a:latin typeface="Aptos Display"/>
              </a:defRPr>
            </a:pPr>
            <a:r>
              <a:t>LoCoMo: final system crosses the 70% target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4924" y="1060704"/>
            <a:ext cx="2400300" cy="14630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207007"/>
            <a:ext cx="21534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150" b="1">
                <a:solidFill>
                  <a:srgbClr val="108080"/>
                </a:solidFill>
                <a:latin typeface="Aptos"/>
              </a:defRPr>
            </a:pPr>
            <a:r>
              <a:t>119/161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19072"/>
            <a:ext cx="215341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45" b="1">
                <a:solidFill>
                  <a:srgbClr val="102A43"/>
                </a:solidFill>
                <a:latin typeface="Aptos"/>
              </a:defRPr>
            </a:pPr>
            <a:r>
              <a:t>Final evidence-guard configuration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11680"/>
            <a:ext cx="215341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17" b="0">
                <a:solidFill>
                  <a:srgbClr val="667280"/>
                </a:solidFill>
                <a:latin typeface="Aptos"/>
              </a:defRPr>
            </a:pPr>
            <a:r>
              <a:t>manual PASS = 73.9%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1060704"/>
            <a:ext cx="2194560" cy="14630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15284" y="1207007"/>
            <a:ext cx="19476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150" b="1">
                <a:solidFill>
                  <a:srgbClr val="2466B3"/>
                </a:solidFill>
                <a:latin typeface="Aptos"/>
              </a:defRPr>
            </a:pPr>
            <a:r>
              <a:t>97/161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5284" y="1719072"/>
            <a:ext cx="194767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45" b="1">
                <a:solidFill>
                  <a:srgbClr val="102A43"/>
                </a:solidFill>
                <a:latin typeface="Aptos"/>
              </a:defRPr>
            </a:pPr>
            <a:r>
              <a:t>Previous baseline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5284" y="2011680"/>
            <a:ext cx="194767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17" b="0">
                <a:solidFill>
                  <a:srgbClr val="667280"/>
                </a:solidFill>
                <a:latin typeface="Aptos"/>
              </a:defRPr>
            </a:pPr>
            <a:r>
              <a:t>manual PASS = 60.2%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843016" y="1060704"/>
            <a:ext cx="2125980" cy="14630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66460" y="1207007"/>
            <a:ext cx="187909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2150" b="1">
                <a:solidFill>
                  <a:srgbClr val="DB911C"/>
                </a:solidFill>
                <a:latin typeface="Aptos"/>
              </a:defRPr>
            </a:pPr>
            <a:r>
              <a:t>+22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66460" y="1719072"/>
            <a:ext cx="187909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45" b="1">
                <a:solidFill>
                  <a:srgbClr val="102A43"/>
                </a:solidFill>
                <a:latin typeface="Aptos"/>
              </a:defRPr>
            </a:pPr>
            <a:r>
              <a:t>Recovered cases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66460" y="2011680"/>
            <a:ext cx="1879092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17" b="0">
                <a:solidFill>
                  <a:srgbClr val="667280"/>
                </a:solidFill>
                <a:latin typeface="Aptos"/>
              </a:defRPr>
            </a:pPr>
            <a:r>
              <a:t>additional manual PASS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2880360"/>
            <a:ext cx="7475220" cy="26517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6404" y="3246120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32" b="1">
                <a:solidFill>
                  <a:srgbClr val="24303E"/>
                </a:solidFill>
                <a:latin typeface="Aptos"/>
              </a:defRPr>
            </a:pPr>
            <a:r>
              <a:t>multi-hop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26614" y="3282696"/>
            <a:ext cx="4457700" cy="164592"/>
          </a:xfrm>
          <a:prstGeom prst="rect">
            <a:avLst/>
          </a:prstGeom>
          <a:solidFill>
            <a:srgbClr val="E1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626614" y="3282696"/>
            <a:ext cx="4087711" cy="164592"/>
          </a:xfrm>
          <a:prstGeom prst="rect">
            <a:avLst/>
          </a:prstGeom>
          <a:solidFill>
            <a:srgbClr val="1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52894" y="3227832"/>
            <a:ext cx="51435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45" b="1">
                <a:solidFill>
                  <a:srgbClr val="102A43"/>
                </a:solidFill>
                <a:latin typeface="Aptos"/>
              </a:defRPr>
            </a:pPr>
            <a:r>
              <a:t>91.7%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404" y="3657600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32" b="1">
                <a:solidFill>
                  <a:srgbClr val="24303E"/>
                </a:solidFill>
                <a:latin typeface="Aptos"/>
              </a:defRPr>
            </a:pPr>
            <a:r>
              <a:t>causal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626614" y="3694176"/>
            <a:ext cx="4457700" cy="164592"/>
          </a:xfrm>
          <a:prstGeom prst="rect">
            <a:avLst/>
          </a:prstGeom>
          <a:solidFill>
            <a:srgbClr val="E1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26614" y="3694176"/>
            <a:ext cx="4052049" cy="164592"/>
          </a:xfrm>
          <a:prstGeom prst="rect">
            <a:avLst/>
          </a:prstGeom>
          <a:solidFill>
            <a:srgbClr val="558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52894" y="3639312"/>
            <a:ext cx="51435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45" b="1">
                <a:solidFill>
                  <a:srgbClr val="102A43"/>
                </a:solidFill>
                <a:latin typeface="Aptos"/>
              </a:defRPr>
            </a:pPr>
            <a:r>
              <a:t>90.9%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6404" y="4069080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32" b="1">
                <a:solidFill>
                  <a:srgbClr val="24303E"/>
                </a:solidFill>
                <a:latin typeface="Aptos"/>
              </a:defRPr>
            </a:pPr>
            <a:r>
              <a:t>preference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26614" y="4105656"/>
            <a:ext cx="4457700" cy="164592"/>
          </a:xfrm>
          <a:prstGeom prst="rect">
            <a:avLst/>
          </a:prstGeom>
          <a:solidFill>
            <a:srgbClr val="E1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26614" y="4105656"/>
            <a:ext cx="3931691" cy="164592"/>
          </a:xfrm>
          <a:prstGeom prst="rect">
            <a:avLst/>
          </a:prstGeom>
          <a:solidFill>
            <a:srgbClr val="DB91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52894" y="4050792"/>
            <a:ext cx="51435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45" b="1">
                <a:solidFill>
                  <a:srgbClr val="102A43"/>
                </a:solidFill>
                <a:latin typeface="Aptos"/>
              </a:defRPr>
            </a:pPr>
            <a:r>
              <a:t>88.2%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6404" y="4480560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32" b="1">
                <a:solidFill>
                  <a:srgbClr val="24303E"/>
                </a:solidFill>
                <a:latin typeface="Aptos"/>
              </a:defRPr>
            </a:pPr>
            <a:r>
              <a:t>single-hop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26614" y="4517136"/>
            <a:ext cx="4457700" cy="164592"/>
          </a:xfrm>
          <a:prstGeom prst="rect">
            <a:avLst/>
          </a:prstGeom>
          <a:solidFill>
            <a:srgbClr val="E1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626614" y="4517136"/>
            <a:ext cx="3191713" cy="164592"/>
          </a:xfrm>
          <a:prstGeom prst="rect">
            <a:avLst/>
          </a:prstGeom>
          <a:solidFill>
            <a:srgbClr val="2466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52894" y="4462272"/>
            <a:ext cx="51435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45" b="1">
                <a:solidFill>
                  <a:srgbClr val="102A43"/>
                </a:solidFill>
                <a:latin typeface="Aptos"/>
              </a:defRPr>
            </a:pPr>
            <a:r>
              <a:t>71.6%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6404" y="4892040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32" b="1">
                <a:solidFill>
                  <a:srgbClr val="24303E"/>
                </a:solidFill>
                <a:latin typeface="Aptos"/>
              </a:defRPr>
            </a:pPr>
            <a:r>
              <a:t>temporal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26614" y="4928616"/>
            <a:ext cx="4457700" cy="164592"/>
          </a:xfrm>
          <a:prstGeom prst="rect">
            <a:avLst/>
          </a:prstGeom>
          <a:solidFill>
            <a:srgbClr val="E1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626614" y="4928616"/>
            <a:ext cx="1858860" cy="164592"/>
          </a:xfrm>
          <a:prstGeom prst="rect">
            <a:avLst/>
          </a:prstGeom>
          <a:solidFill>
            <a:srgbClr val="CA43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52894" y="4873752"/>
            <a:ext cx="51435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45" b="1">
                <a:solidFill>
                  <a:srgbClr val="102A43"/>
                </a:solidFill>
                <a:latin typeface="Aptos"/>
              </a:defRPr>
            </a:pPr>
            <a:r>
              <a:t>41.7%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5870448"/>
            <a:ext cx="7543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47" b="1">
                <a:solidFill>
                  <a:srgbClr val="102A43"/>
                </a:solidFill>
                <a:latin typeface="Aptos"/>
              </a:defRPr>
            </a:pPr>
            <a:r>
              <a:t>Takeaway: the full system is useful on a harder long-dialogue benchmark, but temporal reasoning still needs focused work.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60604" y="795528"/>
            <a:ext cx="16459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88" b="1">
                <a:solidFill>
                  <a:srgbClr val="784800"/>
                </a:solidFill>
                <a:latin typeface="Aptos"/>
              </a:defRPr>
            </a:pPr>
            <a:r>
              <a:t>TYPED MEMORY PROOF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8610" y="118872"/>
            <a:ext cx="846963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91" b="1">
                <a:solidFill>
                  <a:srgbClr val="FFFFFF"/>
                </a:solidFill>
                <a:latin typeface="Aptos Display"/>
              </a:defRPr>
            </a:pPr>
            <a:r>
              <a:t>Qualitative proof: intention stores unfinished plans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4924" y="1078992"/>
            <a:ext cx="7715250" cy="658368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B91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90" y="1261872"/>
            <a:ext cx="737235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419" b="1">
                <a:solidFill>
                  <a:srgbClr val="102A43"/>
                </a:solidFill>
                <a:latin typeface="Aptos"/>
              </a:defRPr>
            </a:pPr>
            <a:r>
              <a:t>Target question: What sustainability habit did the user intend to start but has not?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4924" y="1965960"/>
            <a:ext cx="3669030" cy="2834640"/>
          </a:xfrm>
          <a:prstGeom prst="roundRect">
            <a:avLst/>
          </a:prstGeom>
          <a:solidFill>
            <a:srgbClr val="F7FDFA"/>
          </a:solidFill>
          <a:ln w="13970">
            <a:solidFill>
              <a:srgbClr val="558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20090" y="2176272"/>
            <a:ext cx="1440180" cy="329184"/>
          </a:xfrm>
          <a:prstGeom prst="roundRect">
            <a:avLst/>
          </a:prstGeom>
          <a:solidFill>
            <a:srgbClr val="55802C"/>
          </a:solidFill>
          <a:ln w="13970">
            <a:solidFill>
              <a:srgbClr val="558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17" b="1">
                <a:solidFill>
                  <a:srgbClr val="FFFFFF"/>
                </a:solidFill>
                <a:latin typeface="Aptos"/>
              </a:defRPr>
            </a:pPr>
            <a:r>
              <a:t>Full memory bank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6856" y="2212848"/>
            <a:ext cx="168021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2" b="1">
                <a:solidFill>
                  <a:srgbClr val="102A43"/>
                </a:solidFill>
                <a:latin typeface="Aptos"/>
              </a:defRPr>
            </a:pPr>
            <a:r>
              <a:t>37 facts, including 4 intention nodes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8670" y="2880360"/>
            <a:ext cx="857250" cy="502920"/>
          </a:xfrm>
          <a:prstGeom prst="roundRect">
            <a:avLst/>
          </a:prstGeom>
          <a:solidFill>
            <a:srgbClr val="CA4343"/>
          </a:solidFill>
          <a:ln>
            <a:solidFill>
              <a:srgbClr val="CA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39" b="1">
                <a:solidFill>
                  <a:srgbClr val="FFFFFF"/>
                </a:solidFill>
                <a:latin typeface="Aptos"/>
              </a:defRPr>
            </a:pPr>
            <a:r>
              <a:t>plans</a:t>
            </a:r>
            <a:br/>
            <a:r>
              <a:t>composting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48790" y="2880360"/>
            <a:ext cx="836676" cy="502920"/>
          </a:xfrm>
          <a:prstGeom prst="roundRect">
            <a:avLst/>
          </a:prstGeom>
          <a:solidFill>
            <a:srgbClr val="CA4343"/>
          </a:solidFill>
          <a:ln>
            <a:solidFill>
              <a:srgbClr val="CA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39" b="1">
                <a:solidFill>
                  <a:srgbClr val="FFFFFF"/>
                </a:solidFill>
                <a:latin typeface="Aptos"/>
              </a:defRPr>
            </a:pPr>
            <a:r>
              <a:t>has not</a:t>
            </a:r>
            <a:br/>
            <a:r>
              <a:t>started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8730" y="3730752"/>
            <a:ext cx="809244" cy="384048"/>
          </a:xfrm>
          <a:prstGeom prst="roundRect">
            <a:avLst/>
          </a:prstGeom>
          <a:solidFill>
            <a:srgbClr val="108080"/>
          </a:solidFill>
          <a:ln>
            <a:solidFill>
              <a:srgbClr val="1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39" b="1">
                <a:solidFill>
                  <a:srgbClr val="FFFFFF"/>
                </a:solidFill>
                <a:latin typeface="Aptos"/>
              </a:defRPr>
            </a:pPr>
            <a:r>
              <a:t>trash bags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45920" y="3127248"/>
            <a:ext cx="102870" cy="0"/>
          </a:xfrm>
          <a:prstGeom prst="line">
            <a:avLst/>
          </a:prstGeom>
          <a:ln w="17780">
            <a:solidFill>
              <a:srgbClr val="CA434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659636" y="3767328"/>
            <a:ext cx="822960" cy="0"/>
          </a:xfrm>
          <a:prstGeom prst="line">
            <a:avLst/>
          </a:prstGeom>
          <a:ln w="13970">
            <a:solidFill>
              <a:srgbClr val="66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2537460" y="3456432"/>
            <a:ext cx="1268730" cy="438912"/>
          </a:xfrm>
          <a:prstGeom prst="roundRect">
            <a:avLst/>
          </a:prstGeom>
          <a:solidFill>
            <a:srgbClr val="DB911C"/>
          </a:solidFill>
          <a:ln w="13970">
            <a:solidFill>
              <a:srgbClr val="DB91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25" b="1">
                <a:solidFill>
                  <a:srgbClr val="FFFFFF"/>
                </a:solidFill>
                <a:latin typeface="Aptos"/>
              </a:defRPr>
            </a:pPr>
            <a:r>
              <a:t>Answer: Composting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4380" y="4270248"/>
            <a:ext cx="318897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2" b="0">
                <a:solidFill>
                  <a:srgbClr val="24303E"/>
                </a:solidFill>
                <a:latin typeface="Aptos"/>
              </a:defRPr>
            </a:pPr>
            <a:r>
              <a:t>The gold plan remains physically present as intention-typed evidence.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94860" y="1965960"/>
            <a:ext cx="3669030" cy="2834640"/>
          </a:xfrm>
          <a:prstGeom prst="roundRect">
            <a:avLst/>
          </a:prstGeom>
          <a:solidFill>
            <a:srgbClr val="FFF8F8"/>
          </a:solidFill>
          <a:ln w="13970">
            <a:solidFill>
              <a:srgbClr val="CA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86884" y="2176272"/>
            <a:ext cx="1680210" cy="329184"/>
          </a:xfrm>
          <a:prstGeom prst="roundRect">
            <a:avLst/>
          </a:prstGeom>
          <a:solidFill>
            <a:srgbClr val="CA4343"/>
          </a:solidFill>
          <a:ln w="13970">
            <a:solidFill>
              <a:srgbClr val="CA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17" b="1">
                <a:solidFill>
                  <a:srgbClr val="FFFFFF"/>
                </a:solidFill>
                <a:latin typeface="Aptos"/>
              </a:defRPr>
            </a:pPr>
            <a:r>
              <a:t>Intention-ablated bank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7396" y="2212848"/>
            <a:ext cx="133731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2" b="1">
                <a:solidFill>
                  <a:srgbClr val="102A43"/>
                </a:solidFill>
                <a:latin typeface="Aptos"/>
              </a:defRPr>
            </a:pPr>
            <a:r>
              <a:t>26 facts, 0 intention nodes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03470" y="2926080"/>
            <a:ext cx="809244" cy="384048"/>
          </a:xfrm>
          <a:prstGeom prst="roundRect">
            <a:avLst/>
          </a:prstGeom>
          <a:solidFill>
            <a:srgbClr val="2466B3"/>
          </a:solidFill>
          <a:ln>
            <a:solidFill>
              <a:srgbClr val="246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39" b="1">
                <a:solidFill>
                  <a:srgbClr val="FFFFFF"/>
                </a:solidFill>
                <a:latin typeface="Aptos"/>
              </a:defRPr>
            </a:pPr>
            <a:r>
              <a:t>rain barrel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11596" y="2926080"/>
            <a:ext cx="720090" cy="384048"/>
          </a:xfrm>
          <a:prstGeom prst="roundRect">
            <a:avLst/>
          </a:prstGeom>
          <a:solidFill>
            <a:srgbClr val="2466B3"/>
          </a:solidFill>
          <a:ln>
            <a:solidFill>
              <a:srgbClr val="246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39" b="1">
                <a:solidFill>
                  <a:srgbClr val="FFFFFF"/>
                </a:solidFill>
                <a:latin typeface="Aptos"/>
              </a:defRPr>
            </a:pPr>
            <a:r>
              <a:t>garden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12864" y="2788920"/>
            <a:ext cx="877824" cy="530352"/>
          </a:xfrm>
          <a:prstGeom prst="roundRect">
            <a:avLst/>
          </a:prstGeom>
          <a:solidFill>
            <a:srgbClr val="CA4343"/>
          </a:solidFill>
          <a:ln>
            <a:solidFill>
              <a:srgbClr val="CA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39" b="1">
                <a:solidFill>
                  <a:srgbClr val="FFFFFF"/>
                </a:solidFill>
                <a:latin typeface="Aptos"/>
              </a:defRPr>
            </a:pPr>
            <a:r>
              <a:t>no red</a:t>
            </a:r>
            <a:br/>
            <a:r>
              <a:t>plan nodes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726430" y="3118104"/>
            <a:ext cx="185166" cy="0"/>
          </a:xfrm>
          <a:prstGeom prst="line">
            <a:avLst/>
          </a:prstGeom>
          <a:ln w="15240">
            <a:solidFill>
              <a:srgbClr val="2466B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6638544" y="3054096"/>
            <a:ext cx="274320" cy="64008"/>
          </a:xfrm>
          <a:prstGeom prst="line">
            <a:avLst/>
          </a:prstGeom>
          <a:ln w="12700">
            <a:solidFill>
              <a:srgbClr val="66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541264" y="3675887"/>
            <a:ext cx="1474470" cy="420624"/>
          </a:xfrm>
          <a:prstGeom prst="roundRect">
            <a:avLst/>
          </a:prstGeom>
          <a:solidFill>
            <a:srgbClr val="CA4343"/>
          </a:solidFill>
          <a:ln w="13970">
            <a:solidFill>
              <a:srgbClr val="CA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74" b="1">
                <a:solidFill>
                  <a:srgbClr val="FFFFFF"/>
                </a:solidFill>
                <a:latin typeface="Aptos"/>
              </a:defRPr>
            </a:pPr>
            <a:r>
              <a:t>Wrong decoy: rainwater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14316" y="4270248"/>
            <a:ext cx="318897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2" b="0">
                <a:solidFill>
                  <a:srgbClr val="24303E"/>
                </a:solidFill>
                <a:latin typeface="Aptos"/>
              </a:defRPr>
            </a:pPr>
            <a:r>
              <a:t>The system still recalls evidence, but the missing type forces a topic swap.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1510" y="5230368"/>
            <a:ext cx="7509510" cy="768096"/>
          </a:xfrm>
          <a:prstGeom prst="roundRect">
            <a:avLst/>
          </a:prstGeom>
          <a:solidFill>
            <a:srgbClr val="FFFCF4"/>
          </a:solidFill>
          <a:ln w="13970">
            <a:solidFill>
              <a:srgbClr val="DB91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431536"/>
            <a:ext cx="716661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102A43"/>
                </a:solidFill>
                <a:latin typeface="Aptos"/>
              </a:defRPr>
            </a:pPr>
            <a:r>
              <a:t>Interpretation: intention is not universally necessary, but it is necessary in sparse plan-not-done cases where no experience fact carries the same content.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60604" y="795528"/>
            <a:ext cx="16459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88" b="1">
                <a:solidFill>
                  <a:srgbClr val="784800"/>
                </a:solidFill>
                <a:latin typeface="Aptos"/>
              </a:defRPr>
            </a:pPr>
            <a:r>
              <a:t>TYPED MEMORY PROOF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8610" y="118872"/>
            <a:ext cx="846963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91" b="1">
                <a:solidFill>
                  <a:srgbClr val="FFFFFF"/>
                </a:solidFill>
                <a:latin typeface="Aptos Display"/>
              </a:defRPr>
            </a:pPr>
            <a:r>
              <a:t>Qualitative proof: action-effect stores tool outcomes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4924" y="1042415"/>
            <a:ext cx="7715250" cy="71323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705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0090" y="1225296"/>
            <a:ext cx="737235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7" b="1">
                <a:solidFill>
                  <a:srgbClr val="102A43"/>
                </a:solidFill>
                <a:latin typeface="Aptos"/>
              </a:defRPr>
            </a:pPr>
            <a:r>
              <a:t>Target question: When Stripe returns HTTP 429 with Retry-After, what does the agent do and what happens?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4924" y="1956816"/>
            <a:ext cx="3669030" cy="2907792"/>
          </a:xfrm>
          <a:prstGeom prst="roundRect">
            <a:avLst/>
          </a:prstGeom>
          <a:solidFill>
            <a:srgbClr val="F9F7FD"/>
          </a:solidFill>
          <a:ln w="13970">
            <a:solidFill>
              <a:srgbClr val="705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20090" y="2176272"/>
            <a:ext cx="1440180" cy="329184"/>
          </a:xfrm>
          <a:prstGeom prst="roundRect">
            <a:avLst/>
          </a:prstGeom>
          <a:solidFill>
            <a:srgbClr val="7050AA"/>
          </a:solidFill>
          <a:ln w="13970">
            <a:solidFill>
              <a:srgbClr val="705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17" b="1">
                <a:solidFill>
                  <a:srgbClr val="FFFFFF"/>
                </a:solidFill>
                <a:latin typeface="Aptos"/>
              </a:defRPr>
            </a:pPr>
            <a:r>
              <a:t>Full memory bank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63140" y="2212848"/>
            <a:ext cx="168021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85" b="1">
                <a:solidFill>
                  <a:srgbClr val="102A43"/>
                </a:solidFill>
                <a:latin typeface="Aptos"/>
              </a:defRPr>
            </a:pPr>
            <a:r>
              <a:t>13 facts, including 7 action-effect nodes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" y="2852928"/>
            <a:ext cx="925830" cy="530352"/>
          </a:xfrm>
          <a:prstGeom prst="roundRect">
            <a:avLst/>
          </a:prstGeom>
          <a:solidFill>
            <a:srgbClr val="2466B3"/>
          </a:solidFill>
          <a:ln>
            <a:solidFill>
              <a:srgbClr val="246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39" b="1">
                <a:solidFill>
                  <a:srgbClr val="FFFFFF"/>
                </a:solidFill>
                <a:latin typeface="Aptos"/>
              </a:defRPr>
            </a:pPr>
            <a:r>
              <a:t>HTTP 429</a:t>
            </a:r>
            <a:br/>
            <a:r>
              <a:t>Retry-After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920240" y="2852928"/>
            <a:ext cx="809244" cy="530352"/>
          </a:xfrm>
          <a:prstGeom prst="roundRect">
            <a:avLst/>
          </a:prstGeom>
          <a:solidFill>
            <a:srgbClr val="7050AA"/>
          </a:solidFill>
          <a:ln>
            <a:solidFill>
              <a:srgbClr val="7050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39" b="1">
                <a:solidFill>
                  <a:srgbClr val="FFFFFF"/>
                </a:solidFill>
                <a:latin typeface="Aptos"/>
              </a:defRPr>
            </a:pPr>
            <a:r>
              <a:t>sleep +</a:t>
            </a:r>
            <a:br/>
            <a:r>
              <a:t>retry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983230" y="2852928"/>
            <a:ext cx="720090" cy="530352"/>
          </a:xfrm>
          <a:prstGeom prst="roundRect">
            <a:avLst/>
          </a:prstGeom>
          <a:solidFill>
            <a:srgbClr val="55802C"/>
          </a:solidFill>
          <a:ln>
            <a:solidFill>
              <a:srgbClr val="5580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39" b="1">
                <a:solidFill>
                  <a:srgbClr val="FFFFFF"/>
                </a:solidFill>
                <a:latin typeface="Aptos"/>
              </a:defRPr>
            </a:pPr>
            <a:r>
              <a:t>returns</a:t>
            </a:r>
            <a:br/>
            <a:r>
              <a:t>200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66494" y="3118104"/>
            <a:ext cx="253746" cy="0"/>
          </a:xfrm>
          <a:prstGeom prst="line">
            <a:avLst/>
          </a:prstGeom>
          <a:ln w="19050">
            <a:solidFill>
              <a:srgbClr val="705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729484" y="3118104"/>
            <a:ext cx="253746" cy="0"/>
          </a:xfrm>
          <a:prstGeom prst="line">
            <a:avLst/>
          </a:prstGeom>
          <a:ln w="19050">
            <a:solidFill>
              <a:srgbClr val="7050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68096" y="3822191"/>
            <a:ext cx="3257550" cy="457200"/>
          </a:xfrm>
          <a:prstGeom prst="roundRect">
            <a:avLst/>
          </a:prstGeom>
          <a:solidFill>
            <a:srgbClr val="DB911C"/>
          </a:solidFill>
          <a:ln w="13970">
            <a:solidFill>
              <a:srgbClr val="DB91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22" b="1">
                <a:solidFill>
                  <a:srgbClr val="FFFFFF"/>
                </a:solidFill>
                <a:latin typeface="Aptos"/>
              </a:defRPr>
            </a:pPr>
            <a:r>
              <a:t>Answer: backoff respects Retry-After; later calls succeed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425696"/>
            <a:ext cx="318897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2" b="0">
                <a:solidFill>
                  <a:srgbClr val="24303E"/>
                </a:solidFill>
                <a:latin typeface="Aptos"/>
              </a:defRPr>
            </a:pPr>
            <a:r>
              <a:t>The causal triple is available: precondition -&gt; action -&gt; outcome.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94860" y="1956816"/>
            <a:ext cx="3669030" cy="2907792"/>
          </a:xfrm>
          <a:prstGeom prst="roundRect">
            <a:avLst/>
          </a:prstGeom>
          <a:solidFill>
            <a:srgbClr val="FFF8F8"/>
          </a:solidFill>
          <a:ln w="13970">
            <a:solidFill>
              <a:srgbClr val="CA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73168" y="2176272"/>
            <a:ext cx="1975104" cy="329184"/>
          </a:xfrm>
          <a:prstGeom prst="roundRect">
            <a:avLst/>
          </a:prstGeom>
          <a:solidFill>
            <a:srgbClr val="CA4343"/>
          </a:solidFill>
          <a:ln w="13970">
            <a:solidFill>
              <a:srgbClr val="CA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74" b="1">
                <a:solidFill>
                  <a:srgbClr val="FFFFFF"/>
                </a:solidFill>
                <a:latin typeface="Aptos"/>
              </a:defRPr>
            </a:pPr>
            <a:r>
              <a:t>Action-effect-ablated bank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85432" y="2212848"/>
            <a:ext cx="106299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68" b="1">
                <a:solidFill>
                  <a:srgbClr val="102A43"/>
                </a:solidFill>
                <a:latin typeface="Aptos"/>
              </a:defRPr>
            </a:pPr>
            <a:r>
              <a:t>12 facts, 0 action-effect nodes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34890" y="2834640"/>
            <a:ext cx="809244" cy="530352"/>
          </a:xfrm>
          <a:prstGeom prst="roundRect">
            <a:avLst/>
          </a:prstGeom>
          <a:solidFill>
            <a:srgbClr val="2466B3"/>
          </a:solidFill>
          <a:ln>
            <a:solidFill>
              <a:srgbClr val="2466B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39" b="1">
                <a:solidFill>
                  <a:srgbClr val="FFFFFF"/>
                </a:solidFill>
                <a:latin typeface="Aptos"/>
              </a:defRPr>
            </a:pPr>
            <a:r>
              <a:t>429 has</a:t>
            </a:r>
            <a:br/>
            <a:r>
              <a:t>header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11596" y="2834640"/>
            <a:ext cx="768096" cy="530352"/>
          </a:xfrm>
          <a:prstGeom prst="roundRect">
            <a:avLst/>
          </a:prstGeom>
          <a:solidFill>
            <a:srgbClr val="108080"/>
          </a:solidFill>
          <a:ln>
            <a:solidFill>
              <a:srgbClr val="1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39" b="1">
                <a:solidFill>
                  <a:srgbClr val="FFFFFF"/>
                </a:solidFill>
                <a:latin typeface="Aptos"/>
              </a:defRPr>
            </a:pPr>
            <a:r>
              <a:t>backoff</a:t>
            </a:r>
            <a:br/>
            <a:r>
              <a:t>added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92290" y="2834640"/>
            <a:ext cx="836676" cy="530352"/>
          </a:xfrm>
          <a:prstGeom prst="roundRect">
            <a:avLst/>
          </a:prstGeom>
          <a:solidFill>
            <a:srgbClr val="CA4343"/>
          </a:solidFill>
          <a:ln>
            <a:solidFill>
              <a:srgbClr val="CA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739" b="1">
                <a:solidFill>
                  <a:srgbClr val="FFFFFF"/>
                </a:solidFill>
                <a:latin typeface="Aptos"/>
              </a:defRPr>
            </a:pPr>
            <a:r>
              <a:t>specific</a:t>
            </a:r>
            <a:br/>
            <a:r>
              <a:t>sleep rule?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644134" y="3099816"/>
            <a:ext cx="267462" cy="0"/>
          </a:xfrm>
          <a:prstGeom prst="line">
            <a:avLst/>
          </a:prstGeom>
          <a:ln w="12700">
            <a:solidFill>
              <a:srgbClr val="66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6679692" y="3099816"/>
            <a:ext cx="212598" cy="0"/>
          </a:xfrm>
          <a:prstGeom prst="line">
            <a:avLst/>
          </a:prstGeom>
          <a:ln w="12700">
            <a:solidFill>
              <a:srgbClr val="66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040630" y="3822191"/>
            <a:ext cx="2434590" cy="457200"/>
          </a:xfrm>
          <a:prstGeom prst="roundRect">
            <a:avLst/>
          </a:prstGeom>
          <a:solidFill>
            <a:srgbClr val="CA4343"/>
          </a:solidFill>
          <a:ln w="13970">
            <a:solidFill>
              <a:srgbClr val="CA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756" b="1">
                <a:solidFill>
                  <a:srgbClr val="FFFFFF"/>
                </a:solidFill>
                <a:latin typeface="Aptos"/>
              </a:defRPr>
            </a:pPr>
            <a:r>
              <a:t>Answer hedges: specifics not documented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14316" y="4425696"/>
            <a:ext cx="318897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02" b="0">
                <a:solidFill>
                  <a:srgbClr val="24303E"/>
                </a:solidFill>
                <a:latin typeface="Aptos"/>
              </a:defRPr>
            </a:pPr>
            <a:r>
              <a:t>Recall is not empty; the missing type removes the exact action-result rule.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1510" y="5248656"/>
            <a:ext cx="7509510" cy="768096"/>
          </a:xfrm>
          <a:prstGeom prst="roundRect">
            <a:avLst/>
          </a:prstGeom>
          <a:solidFill>
            <a:srgbClr val="FFFCF4"/>
          </a:solidFill>
          <a:ln w="13970">
            <a:solidFill>
              <a:srgbClr val="DB91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449824"/>
            <a:ext cx="716661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100" b="1">
                <a:solidFill>
                  <a:srgbClr val="102A43"/>
                </a:solidFill>
                <a:latin typeface="Aptos"/>
              </a:defRPr>
            </a:pPr>
            <a:r>
              <a:t>Interpretation: action-effect cleanly discriminates in 5/12 mocked agentic traces. This is conditional evidence, not a universal claim.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 sz="half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260604" y="795528"/>
            <a:ext cx="164592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688" b="1">
                <a:solidFill>
                  <a:srgbClr val="784800"/>
                </a:solidFill>
                <a:latin typeface="Aptos"/>
              </a:defRPr>
            </a:pPr>
            <a:r>
              <a:t>CONTRIBUTION PROOF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8610" y="118872"/>
            <a:ext cx="8469630" cy="42062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91" b="1">
                <a:solidFill>
                  <a:srgbClr val="FFFFFF"/>
                </a:solidFill>
                <a:latin typeface="Aptos Display"/>
              </a:defRPr>
            </a:pPr>
            <a:r>
              <a:t>What was proved, and what remains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4350" y="1143000"/>
            <a:ext cx="2503170" cy="384048"/>
          </a:xfrm>
          <a:prstGeom prst="roundRect">
            <a:avLst/>
          </a:prstGeom>
          <a:solidFill>
            <a:srgbClr val="102A43"/>
          </a:solidFill>
          <a:ln w="13970"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2" b="1">
                <a:solidFill>
                  <a:srgbClr val="FFFFFF"/>
                </a:solidFill>
                <a:latin typeface="Aptos"/>
              </a:defRPr>
            </a:pPr>
            <a:r>
              <a:t>Claim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51810" y="1143000"/>
            <a:ext cx="3394710" cy="384048"/>
          </a:xfrm>
          <a:prstGeom prst="roundRect">
            <a:avLst/>
          </a:prstGeom>
          <a:solidFill>
            <a:srgbClr val="102A43"/>
          </a:solidFill>
          <a:ln w="13970"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2" b="1">
                <a:solidFill>
                  <a:srgbClr val="FFFFFF"/>
                </a:solidFill>
                <a:latin typeface="Aptos"/>
              </a:defRPr>
            </a:pPr>
            <a:r>
              <a:t>Evidence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80810" y="1143000"/>
            <a:ext cx="1440180" cy="384048"/>
          </a:xfrm>
          <a:prstGeom prst="roundRect">
            <a:avLst/>
          </a:prstGeom>
          <a:solidFill>
            <a:srgbClr val="102A43"/>
          </a:solidFill>
          <a:ln w="13970">
            <a:solidFill>
              <a:srgbClr val="102A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2" b="1">
                <a:solidFill>
                  <a:srgbClr val="FFFFFF"/>
                </a:solidFill>
                <a:latin typeface="Aptos"/>
              </a:defRPr>
            </a:pPr>
            <a:r>
              <a:t>Status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4350" y="1618488"/>
            <a:ext cx="2503170" cy="530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9214" y="1719072"/>
            <a:ext cx="24003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94" b="1">
                <a:solidFill>
                  <a:srgbClr val="24303E"/>
                </a:solidFill>
                <a:latin typeface="Aptos"/>
              </a:defRPr>
            </a:pPr>
            <a:r>
              <a:t>Multi-channel memory recall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51810" y="1618488"/>
            <a:ext cx="3394710" cy="530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6674" y="1719072"/>
            <a:ext cx="3291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94" b="0">
                <a:solidFill>
                  <a:srgbClr val="24303E"/>
                </a:solidFill>
                <a:latin typeface="Aptos"/>
              </a:defRPr>
            </a:pPr>
            <a:r>
              <a:t>LongMemEval 29/35; LoCoMo 119/161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80810" y="1618488"/>
            <a:ext cx="1440180" cy="530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5674" y="1719072"/>
            <a:ext cx="133731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94" b="1">
                <a:solidFill>
                  <a:srgbClr val="55802C"/>
                </a:solidFill>
                <a:latin typeface="Aptos"/>
              </a:defRPr>
            </a:pPr>
            <a:r>
              <a:t>Strong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350" y="2276856"/>
            <a:ext cx="2503170" cy="530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9214" y="2377440"/>
            <a:ext cx="24003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94" b="1">
                <a:solidFill>
                  <a:srgbClr val="24303E"/>
                </a:solidFill>
                <a:latin typeface="Aptos"/>
              </a:defRPr>
            </a:pPr>
            <a:r>
              <a:t>SUM graph activation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51810" y="2276856"/>
            <a:ext cx="3394710" cy="530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06674" y="2377440"/>
            <a:ext cx="3291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94" b="0">
                <a:solidFill>
                  <a:srgbClr val="24303E"/>
                </a:solidFill>
                <a:latin typeface="Aptos"/>
              </a:defRPr>
            </a:pPr>
            <a:r>
              <a:t>0.8052 vs 0.7624 recall@5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80810" y="2276856"/>
            <a:ext cx="1440180" cy="530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5674" y="2377440"/>
            <a:ext cx="133731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94" b="1">
                <a:solidFill>
                  <a:srgbClr val="55802C"/>
                </a:solidFill>
                <a:latin typeface="Aptos"/>
              </a:defRPr>
            </a:pPr>
            <a:r>
              <a:t>Strong, scoped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" y="2935224"/>
            <a:ext cx="2503170" cy="530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9214" y="3035808"/>
            <a:ext cx="24003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94" b="1">
                <a:solidFill>
                  <a:srgbClr val="24303E"/>
                </a:solidFill>
                <a:latin typeface="Aptos"/>
              </a:defRPr>
            </a:pPr>
            <a:r>
              <a:t>Evidence guard + snippets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51810" y="2935224"/>
            <a:ext cx="3394710" cy="530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6674" y="3035808"/>
            <a:ext cx="3291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94" b="0">
                <a:solidFill>
                  <a:srgbClr val="24303E"/>
                </a:solidFill>
                <a:latin typeface="Aptos"/>
              </a:defRPr>
            </a:pPr>
            <a:r>
              <a:t>+22 LoCoMo PASS cases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80810" y="2935224"/>
            <a:ext cx="1440180" cy="530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35674" y="3035808"/>
            <a:ext cx="133731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94" b="1">
                <a:solidFill>
                  <a:srgbClr val="55802C"/>
                </a:solidFill>
                <a:latin typeface="Aptos"/>
              </a:defRPr>
            </a:pPr>
            <a:r>
              <a:t>Strong practical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4350" y="3593592"/>
            <a:ext cx="2503170" cy="530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69214" y="3694176"/>
            <a:ext cx="24003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94" b="1">
                <a:solidFill>
                  <a:srgbClr val="24303E"/>
                </a:solidFill>
                <a:latin typeface="Aptos"/>
              </a:defRPr>
            </a:pPr>
            <a:r>
              <a:t>Intention / action-effect types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051810" y="3593592"/>
            <a:ext cx="3394710" cy="530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06674" y="3694176"/>
            <a:ext cx="3291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94" b="0">
                <a:solidFill>
                  <a:srgbClr val="24303E"/>
                </a:solidFill>
                <a:latin typeface="Aptos"/>
              </a:defRPr>
            </a:pPr>
            <a:r>
              <a:t>paired qualitative ablations: composting and HTTP 429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80810" y="3593592"/>
            <a:ext cx="1440180" cy="530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35674" y="3694176"/>
            <a:ext cx="133731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94" b="1">
                <a:solidFill>
                  <a:srgbClr val="DB911C"/>
                </a:solidFill>
                <a:latin typeface="Aptos"/>
              </a:defRPr>
            </a:pPr>
            <a:r>
              <a:t>Conditional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4350" y="4251960"/>
            <a:ext cx="2503170" cy="530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9214" y="4352544"/>
            <a:ext cx="24003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94" b="1">
                <a:solidFill>
                  <a:srgbClr val="24303E"/>
                </a:solidFill>
                <a:latin typeface="Aptos"/>
              </a:defRPr>
            </a:pPr>
            <a:r>
              <a:t>Habit Network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051810" y="4251960"/>
            <a:ext cx="3394710" cy="530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106674" y="4352544"/>
            <a:ext cx="329184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894" b="0">
                <a:solidFill>
                  <a:srgbClr val="24303E"/>
                </a:solidFill>
                <a:latin typeface="Aptos"/>
              </a:defRPr>
            </a:pPr>
            <a:r>
              <a:t>needs routine diary workload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80810" y="4251960"/>
            <a:ext cx="1440180" cy="53035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CFD8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35674" y="4352544"/>
            <a:ext cx="133731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894" b="1">
                <a:solidFill>
                  <a:srgbClr val="CA4343"/>
                </a:solidFill>
                <a:latin typeface="Aptos"/>
              </a:defRPr>
            </a:pPr>
            <a:r>
              <a:t>Limitation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51510" y="5230368"/>
            <a:ext cx="7509510" cy="786384"/>
          </a:xfrm>
          <a:prstGeom prst="roundRect">
            <a:avLst/>
          </a:prstGeom>
          <a:solidFill>
            <a:srgbClr val="FFFCF4"/>
          </a:solidFill>
          <a:ln w="13970">
            <a:solidFill>
              <a:srgbClr val="DB91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" y="5440680"/>
            <a:ext cx="716661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204" b="1">
                <a:solidFill>
                  <a:srgbClr val="102A43"/>
                </a:solidFill>
                <a:latin typeface="Aptos"/>
              </a:defRPr>
            </a:pPr>
            <a:r>
              <a:t>Future work should move toward realistic assistant scenarios: plan lifecycle tasks, dense tool-action traces, and multi-week habit diaries.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0" y="2240280"/>
            <a:ext cx="2057400" cy="1143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268" b="1">
                <a:solidFill>
                  <a:srgbClr val="C40000"/>
                </a:solidFill>
                <a:latin typeface="Aptos Display"/>
              </a:defRPr>
            </a:pPr>
            <a:r>
              <a:t>THANK</a:t>
            </a:r>
            <a:br/>
            <a:r>
              <a:t>YOU 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49090" y="3657600"/>
            <a:ext cx="19888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548" b="1">
                <a:solidFill>
                  <a:srgbClr val="24303E"/>
                </a:solidFill>
                <a:latin typeface="Aptos"/>
              </a:defRPr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69030" y="4434840"/>
            <a:ext cx="28803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928" b="1">
                <a:solidFill>
                  <a:srgbClr val="667280"/>
                </a:solidFill>
                <a:latin typeface="Aptos"/>
              </a:defRPr>
            </a:pPr>
            <a:r>
              <a:t>Code, experiments, manual verdicts, and thesis artifacts are preserved in the repository.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26FF5105935A047949EC15A29E8956A" ma:contentTypeVersion="4" ma:contentTypeDescription="Create a new document." ma:contentTypeScope="" ma:versionID="b29c6fefc618e136688e03dce636df7d">
  <xsd:schema xmlns:xsd="http://www.w3.org/2001/XMLSchema" xmlns:xs="http://www.w3.org/2001/XMLSchema" xmlns:p="http://schemas.microsoft.com/office/2006/metadata/properties" xmlns:ns2="787772fa-e80e-4196-8492-c382f620fc1d" targetNamespace="http://schemas.microsoft.com/office/2006/metadata/properties" ma:root="true" ma:fieldsID="3e23d7ca8d6da6eba593525d95b10d9f" ns2:_="">
    <xsd:import namespace="787772fa-e80e-4196-8492-c382f620fc1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87772fa-e80e-4196-8492-c382f620fc1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E41E46E-FF59-4C1D-AE00-A76323361D7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87772fa-e80e-4196-8492-c382f620fc1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D5DDDD1-ED4A-45D2-A1A5-EDDFFDD8377D}">
  <ds:schemaRefs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schemas.microsoft.com/office/infopath/2007/PartnerControls"/>
    <ds:schemaRef ds:uri="0c0a5278-6572-4232-b8ad-97ff2313e1cb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5698D1B8-1803-48D2-B4B6-C15C336A4B3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2213</TotalTime>
  <Words>1042</Words>
  <Application>Microsoft Office PowerPoint</Application>
  <PresentationFormat>Trình chiếu Trên màn hình (4:3)</PresentationFormat>
  <Paragraphs>152</Paragraphs>
  <Slides>14</Slides>
  <Notes>0</Notes>
  <HiddenSlides>0</HiddenSlides>
  <MMClips>0</MMClips>
  <ScaleCrop>false</ScaleCrop>
  <HeadingPairs>
    <vt:vector size="6" baseType="variant">
      <vt:variant>
        <vt:lpstr>Phông được Dùng</vt:lpstr>
      </vt:variant>
      <vt:variant>
        <vt:i4>4</vt:i4>
      </vt:variant>
      <vt:variant>
        <vt:lpstr>Chủ đề</vt:lpstr>
      </vt:variant>
      <vt:variant>
        <vt:i4>1</vt:i4>
      </vt:variant>
      <vt:variant>
        <vt:lpstr>Tiêu đề Bản chiếu</vt:lpstr>
      </vt:variant>
      <vt:variant>
        <vt:i4>14</vt:i4>
      </vt:variant>
    </vt:vector>
  </HeadingPairs>
  <TitlesOfParts>
    <vt:vector size="19" baseType="lpstr">
      <vt:lpstr>Calibri </vt:lpstr>
      <vt:lpstr>Arial</vt:lpstr>
      <vt:lpstr>Calibri</vt:lpstr>
      <vt:lpstr>Lato</vt:lpstr>
      <vt:lpstr>Office Theme</vt:lpstr>
      <vt:lpstr>Bản trình bày PowerPoint</vt:lpstr>
      <vt:lpstr>Khoảng trống nghiên cứu</vt:lpstr>
      <vt:lpstr>Khoảng trống nghiên cứu</vt:lpstr>
      <vt:lpstr>Khoảng trống nghiên cứu</vt:lpstr>
      <vt:lpstr>CogMem – 6 network</vt:lpstr>
      <vt:lpstr>CogMem – 6 network</vt:lpstr>
      <vt:lpstr>CogMem – Action-Effect Learning</vt:lpstr>
      <vt:lpstr>CogMem – Raw State Snippets</vt:lpstr>
      <vt:lpstr>CogMem – Episodic Buffer với Spreading Activation</vt:lpstr>
      <vt:lpstr>CogMem – Episodic Buffer với Spreading Activation</vt:lpstr>
      <vt:lpstr>CogMem – Adaptive Query Routing</vt:lpstr>
      <vt:lpstr>CogMem – Hierarchical Knowledge Graph</vt:lpstr>
      <vt:lpstr>CogMem – Hierarchical Knowledge Graph</vt:lpstr>
      <vt:lpstr>Bản trình bày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Phong TT &amp; QTTH</dc:creator>
  <cp:lastModifiedBy>Le Minh Triet 20220045</cp:lastModifiedBy>
  <cp:revision>49</cp:revision>
  <dcterms:created xsi:type="dcterms:W3CDTF">2021-05-28T04:32:29Z</dcterms:created>
  <dcterms:modified xsi:type="dcterms:W3CDTF">2026-03-23T13:57:10Z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0x010100E26FF5105935A047949EC15A29E8956A</vt:lpwstr>
  </property>
</Properties>
</file>