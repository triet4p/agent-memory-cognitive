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76FD0-EA8A-45DE-8D62-9EED4F24FA75}" v="17861" dt="2025-05-21T08:54:32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679" r:id="rId3"/>
    <p:sldLayoutId id="2147483680" r:id="rId4"/>
    <p:sldLayoutId id="2147483681" r:id="rId5"/>
    <p:sldLayoutId id="2147483682" r:id="rId6"/>
    <p:sldLayoutId id="214748367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" y="384048"/>
            <a:ext cx="1611630" cy="4838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3776" y="135331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783" b="1">
                <a:solidFill>
                  <a:srgbClr val="C40000"/>
                </a:solidFill>
                <a:latin typeface="Aptos Display"/>
              </a:defRPr>
            </a:pPr>
            <a:r>
              <a:t>CogMem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492" y="2084831"/>
            <a:ext cx="3703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48" b="1">
                <a:solidFill>
                  <a:srgbClr val="C40000"/>
                </a:solidFill>
                <a:latin typeface="Aptos"/>
              </a:defRPr>
            </a:pPr>
            <a:r>
              <a:t>Cognitively-Grounded Long-Term Memory</a:t>
            </a:r>
            <a:br/>
            <a:r>
              <a:t>for Conversational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3035808"/>
            <a:ext cx="34975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5" b="1">
                <a:solidFill>
                  <a:srgbClr val="C40000"/>
                </a:solidFill>
                <a:latin typeface="Aptos"/>
              </a:defRPr>
            </a:pPr>
            <a:r>
              <a:t>Typed memory graph + multi-channel recall</a:t>
            </a:r>
            <a:br/>
            <a:r>
              <a:t>+ SUM spreading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579729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61" b="1">
                <a:solidFill>
                  <a:srgbClr val="C40000"/>
                </a:solidFill>
                <a:latin typeface="Aptos"/>
              </a:defRPr>
            </a:pPr>
            <a:r>
              <a:t>Student: Le Minh Triet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0570" y="4023360"/>
            <a:ext cx="768096" cy="347472"/>
          </a:xfrm>
          <a:prstGeom prst="roundRect">
            <a:avLst/>
          </a:prstGeom>
          <a:solidFill>
            <a:srgbClr val="2466B3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Chat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28666" y="4197096"/>
            <a:ext cx="68580" cy="0"/>
          </a:xfrm>
          <a:prstGeom prst="line">
            <a:avLst/>
          </a:prstGeom>
          <a:ln w="1524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97246" y="4023360"/>
            <a:ext cx="768096" cy="347472"/>
          </a:xfrm>
          <a:prstGeom prst="roundRect">
            <a:avLst/>
          </a:prstGeom>
          <a:solidFill>
            <a:srgbClr val="108080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Graph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65342" y="4197096"/>
            <a:ext cx="68580" cy="0"/>
          </a:xfrm>
          <a:prstGeom prst="line">
            <a:avLst/>
          </a:prstGeom>
          <a:ln w="1524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33922" y="4023360"/>
            <a:ext cx="768096" cy="347472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02018" y="4197096"/>
            <a:ext cx="68580" cy="0"/>
          </a:xfrm>
          <a:prstGeom prst="line">
            <a:avLst/>
          </a:prstGeom>
          <a:ln w="1524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70598" y="4023360"/>
            <a:ext cx="768096" cy="347472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1508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76" b="1">
                <a:solidFill>
                  <a:srgbClr val="102A43"/>
                </a:solidFill>
                <a:latin typeface="Aptos"/>
              </a:defRPr>
            </a:pPr>
            <a:r>
              <a:t>Defense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1901952"/>
            <a:ext cx="332613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92">
                <a:solidFill>
                  <a:srgbClr val="24303E"/>
                </a:solidFill>
                <a:latin typeface="Aptos"/>
              </a:defRPr>
            </a:pPr>
            <a:r>
              <a:t>• What was built: a typed memory graph pipeline.</a:t>
            </a:r>
          </a:p>
          <a:p>
            <a:pPr>
              <a:spcAft>
                <a:spcPts val="700"/>
              </a:spcAft>
              <a:defRPr sz="1092">
                <a:solidFill>
                  <a:srgbClr val="24303E"/>
                </a:solidFill>
                <a:latin typeface="Aptos"/>
              </a:defRPr>
            </a:pPr>
            <a:r>
              <a:t>• What was proven: judge-based LongMemEval and LoCoMo results.</a:t>
            </a:r>
          </a:p>
          <a:p>
            <a:pPr>
              <a:spcAft>
                <a:spcPts val="700"/>
              </a:spcAft>
              <a:defRPr sz="1092">
                <a:solidFill>
                  <a:srgbClr val="24303E"/>
                </a:solidFill>
                <a:latin typeface="Aptos"/>
              </a:defRPr>
            </a:pPr>
            <a:r>
              <a:t>• What remains: temporal errors and habit-specific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4645152"/>
            <a:ext cx="3291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61" b="1">
                <a:solidFill>
                  <a:srgbClr val="24303E"/>
                </a:solidFill>
                <a:latin typeface="Aptos"/>
              </a:defRPr>
            </a:pPr>
            <a:r>
              <a:t>10-15 minute storyline:</a:t>
            </a:r>
            <a:br/>
            <a:r>
              <a:t>problem -&gt; HINDSIGHT -&gt; method -&gt;</a:t>
            </a:r>
            <a:br/>
            <a:r>
              <a:t>retain demo -&gt; experiments -&gt; proof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Problem: long conversations break short-context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298448"/>
            <a:ext cx="80238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48" b="1">
                <a:solidFill>
                  <a:srgbClr val="24303E"/>
                </a:solidFill>
                <a:latin typeface="Aptos"/>
              </a:defRPr>
            </a:pPr>
            <a:r>
              <a:t>A useful assistant must remember across many sessions, but the answer is rarely stored as one clean sentence.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1510" y="2743200"/>
            <a:ext cx="7475220" cy="0"/>
          </a:xfrm>
          <a:prstGeom prst="line">
            <a:avLst/>
          </a:prstGeom>
          <a:ln w="1778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596896"/>
            <a:ext cx="219456" cy="292608"/>
          </a:xfrm>
          <a:prstGeom prst="ellipse">
            <a:avLst/>
          </a:prstGeom>
          <a:solidFill>
            <a:srgbClr val="E66F37"/>
          </a:solidFill>
          <a:ln>
            <a:solidFill>
              <a:srgbClr val="E6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9486" y="3063240"/>
            <a:ext cx="1083564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E66F37"/>
                </a:solidFill>
                <a:latin typeface="Aptos"/>
              </a:defRPr>
            </a:pPr>
            <a:r>
              <a:t>Session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102A43"/>
                </a:solidFill>
                <a:latin typeface="Aptos"/>
              </a:defRPr>
            </a:pPr>
            <a:r>
              <a:t>Preference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0168"/>
            <a:ext cx="8915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1" b="0">
                <a:solidFill>
                  <a:srgbClr val="667280"/>
                </a:solidFill>
                <a:latin typeface="Aptos"/>
              </a:defRPr>
            </a:pPr>
            <a:r>
              <a:t>likes quiet hotels</a:t>
            </a:r>
          </a:p>
        </p:txBody>
      </p:sp>
      <p:sp>
        <p:nvSpPr>
          <p:cNvPr id="14" name="Oval 13"/>
          <p:cNvSpPr/>
          <p:nvPr/>
        </p:nvSpPr>
        <p:spPr>
          <a:xfrm>
            <a:off x="2297430" y="2596896"/>
            <a:ext cx="219456" cy="292608"/>
          </a:xfrm>
          <a:prstGeom prst="ellipse">
            <a:avLst/>
          </a:prstGeom>
          <a:solidFill>
            <a:srgbClr val="108080"/>
          </a:solidFill>
          <a:ln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071116" y="3063240"/>
            <a:ext cx="1083564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0270" y="3163824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108080"/>
                </a:solidFill>
                <a:latin typeface="Aptos"/>
              </a:defRPr>
            </a:pPr>
            <a:r>
              <a:t>Session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270" y="3401568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102A43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270" y="3630168"/>
            <a:ext cx="8915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1" b="0">
                <a:solidFill>
                  <a:srgbClr val="667280"/>
                </a:solidFill>
                <a:latin typeface="Aptos"/>
              </a:defRPr>
            </a:pPr>
            <a:r>
              <a:t>Seattle trip</a:t>
            </a:r>
          </a:p>
        </p:txBody>
      </p:sp>
      <p:sp>
        <p:nvSpPr>
          <p:cNvPr id="19" name="Oval 18"/>
          <p:cNvSpPr/>
          <p:nvPr/>
        </p:nvSpPr>
        <p:spPr>
          <a:xfrm>
            <a:off x="3840480" y="2596896"/>
            <a:ext cx="219456" cy="292608"/>
          </a:xfrm>
          <a:prstGeom prst="ellipse">
            <a:avLst/>
          </a:prstGeom>
          <a:solidFill>
            <a:srgbClr val="DB911C"/>
          </a:solidFill>
          <a:ln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14166" y="3063240"/>
            <a:ext cx="1083564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3163824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DB911C"/>
                </a:solidFill>
                <a:latin typeface="Aptos"/>
              </a:defRPr>
            </a:pPr>
            <a:r>
              <a:t>Session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401568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102A43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630168"/>
            <a:ext cx="8915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1" b="0">
                <a:solidFill>
                  <a:srgbClr val="667280"/>
                </a:solidFill>
                <a:latin typeface="Aptos"/>
              </a:defRPr>
            </a:pPr>
            <a:r>
              <a:t>workshop next month</a:t>
            </a:r>
          </a:p>
        </p:txBody>
      </p:sp>
      <p:sp>
        <p:nvSpPr>
          <p:cNvPr id="24" name="Oval 23"/>
          <p:cNvSpPr/>
          <p:nvPr/>
        </p:nvSpPr>
        <p:spPr>
          <a:xfrm>
            <a:off x="5349240" y="2596896"/>
            <a:ext cx="219456" cy="292608"/>
          </a:xfrm>
          <a:prstGeom prst="ellipse">
            <a:avLst/>
          </a:prstGeom>
          <a:solidFill>
            <a:srgbClr val="55802C"/>
          </a:solidFill>
          <a:ln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22926" y="3063240"/>
            <a:ext cx="1083564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0" y="3163824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55802C"/>
                </a:solidFill>
                <a:latin typeface="Aptos"/>
              </a:defRPr>
            </a:pPr>
            <a:r>
              <a:t>Session 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401568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102A43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630168"/>
            <a:ext cx="8915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1" b="0">
                <a:solidFill>
                  <a:srgbClr val="667280"/>
                </a:solidFill>
                <a:latin typeface="Aptos"/>
              </a:defRPr>
            </a:pPr>
            <a:r>
              <a:t>tool fix worked</a:t>
            </a:r>
          </a:p>
        </p:txBody>
      </p:sp>
      <p:sp>
        <p:nvSpPr>
          <p:cNvPr id="29" name="Oval 28"/>
          <p:cNvSpPr/>
          <p:nvPr/>
        </p:nvSpPr>
        <p:spPr>
          <a:xfrm>
            <a:off x="6892290" y="2596896"/>
            <a:ext cx="219456" cy="292608"/>
          </a:xfrm>
          <a:prstGeom prst="ellipse">
            <a:avLst/>
          </a:prstGeom>
          <a:solidFill>
            <a:srgbClr val="CA4343"/>
          </a:solidFill>
          <a:ln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65976" y="3063240"/>
            <a:ext cx="1083564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55130" y="3163824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CA4343"/>
                </a:solidFill>
                <a:latin typeface="Aptos"/>
              </a:defRPr>
            </a:pPr>
            <a:r>
              <a:t>Session 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5130" y="3401568"/>
            <a:ext cx="8915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102A43"/>
                </a:solidFill>
                <a:latin typeface="Aptos"/>
              </a:defRPr>
            </a:pPr>
            <a:r>
              <a:t>Conflict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5130" y="3630168"/>
            <a:ext cx="8915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1" b="0">
                <a:solidFill>
                  <a:srgbClr val="667280"/>
                </a:solidFill>
                <a:latin typeface="Aptos"/>
              </a:defRPr>
            </a:pPr>
            <a:r>
              <a:t>updated answer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" y="4572000"/>
            <a:ext cx="233172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120390" y="4572000"/>
            <a:ext cx="233172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705856" y="4572000"/>
            <a:ext cx="233172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" y="473659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4" b="1">
                <a:solidFill>
                  <a:srgbClr val="102A43"/>
                </a:solidFill>
                <a:latin typeface="Aptos"/>
              </a:defRPr>
            </a:pPr>
            <a:r>
              <a:t>Raw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" y="5047488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0">
                <a:solidFill>
                  <a:srgbClr val="667280"/>
                </a:solidFill>
                <a:latin typeface="Aptos"/>
              </a:defRPr>
            </a:pPr>
            <a:r>
              <a:t>too long and noisy for every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7550" y="473659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4" b="1">
                <a:solidFill>
                  <a:srgbClr val="102A43"/>
                </a:solidFill>
                <a:latin typeface="Aptos"/>
              </a:defRPr>
            </a:pPr>
            <a:r>
              <a:t>Vector-only memory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57550" y="5047488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0">
                <a:solidFill>
                  <a:srgbClr val="667280"/>
                </a:solidFill>
                <a:latin typeface="Aptos"/>
              </a:defRPr>
            </a:pPr>
            <a:r>
              <a:t>semantic match, but weak relation/time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3016" y="473659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4" b="1">
                <a:solidFill>
                  <a:srgbClr val="102A43"/>
                </a:solidFill>
                <a:latin typeface="Aptos"/>
              </a:defRPr>
            </a:pPr>
            <a:r>
              <a:t>Evaluation metric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3016" y="5047488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0">
                <a:solidFill>
                  <a:srgbClr val="667280"/>
                </a:solidFill>
                <a:latin typeface="Aptos"/>
              </a:defRPr>
            </a:pPr>
            <a:r>
              <a:t>must be consistent and transparent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HINDSIGHT starts from observations before graph recall</a:t>
            </a:r>
          </a:p>
        </p:txBody>
      </p:sp>
      <p:pic>
        <p:nvPicPr>
          <p:cNvPr id="7" name="Picture 6" descr="cogmem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17" y="1060704"/>
            <a:ext cx="7230076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" y="5330952"/>
            <a:ext cx="1543050" cy="384048"/>
          </a:xfrm>
          <a:prstGeom prst="roundRect">
            <a:avLst/>
          </a:prstGeom>
          <a:solidFill>
            <a:srgbClr val="108080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1. Dialogue chunk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9424" y="5330952"/>
            <a:ext cx="1543050" cy="384048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2. Observation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3924" y="5330952"/>
            <a:ext cx="1543050" cy="384048"/>
          </a:xfrm>
          <a:prstGeom prst="roundRect">
            <a:avLst/>
          </a:prstGeom>
          <a:solidFill>
            <a:srgbClr val="2466B3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3. Memory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78424" y="5330952"/>
            <a:ext cx="1680210" cy="384048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4. Retrieval +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4470" y="589788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4" b="0">
                <a:solidFill>
                  <a:srgbClr val="24303E"/>
                </a:solidFill>
                <a:latin typeface="Aptos"/>
              </a:defRPr>
            </a:pPr>
            <a:r>
              <a:t>Why CogMem changes it: fewer node types are not enough; the retain path must be faster, more typed, and less node-heavy.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MEMORY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Retain walkthrough: raw dialogue becomes typed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143000"/>
            <a:ext cx="363474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0570" y="1143000"/>
            <a:ext cx="363474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C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0664" y="1389888"/>
            <a:ext cx="1611630" cy="384048"/>
          </a:xfrm>
          <a:prstGeom prst="roundRect">
            <a:avLst/>
          </a:prstGeom>
          <a:solidFill>
            <a:srgbClr val="108080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Fact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6310" y="1389888"/>
            <a:ext cx="1440180" cy="384048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Raw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993392"/>
            <a:ext cx="32232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62" b="1">
                <a:solidFill>
                  <a:srgbClr val="102A43"/>
                </a:solidFill>
                <a:latin typeface="Aptos"/>
              </a:defRPr>
            </a:pPr>
            <a:r>
              <a:t>Typed memory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50592"/>
            <a:ext cx="312039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classify: experience / intention / action-effect / ...</a:t>
            </a:r>
          </a:p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attach entities, dates, confidence and metadata</a:t>
            </a:r>
          </a:p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embed for semantic retrieval</a:t>
            </a:r>
          </a:p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create graph links for multi-hop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617720"/>
            <a:ext cx="32232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108080"/>
                </a:solidFill>
                <a:latin typeface="Aptos"/>
              </a:defRPr>
            </a:pPr>
            <a:r>
              <a:t>Extracted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892040"/>
            <a:ext cx="32232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61" b="0">
                <a:solidFill>
                  <a:srgbClr val="24303E"/>
                </a:solidFill>
                <a:latin typeface="Aptos"/>
              </a:defRPr>
            </a:pPr>
            <a:r>
              <a:t>User was in Seattle before traveling to Chicago.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6310" y="1993392"/>
            <a:ext cx="32232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62" b="1">
                <a:solidFill>
                  <a:srgbClr val="102A43"/>
                </a:solidFill>
                <a:latin typeface="Aptos"/>
              </a:defRPr>
            </a:pPr>
            <a:r>
              <a:t>Lossless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6310" y="2450592"/>
            <a:ext cx="312039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keeps original wording and context</a:t>
            </a:r>
          </a:p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prevents lossy summary errors</a:t>
            </a:r>
          </a:p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supports evidence guard and judge scoring</a:t>
            </a:r>
          </a:p>
          <a:p>
            <a:pPr>
              <a:spcAft>
                <a:spcPts val="700"/>
              </a:spcAft>
              <a:defRPr sz="1118">
                <a:solidFill>
                  <a:srgbClr val="24303E"/>
                </a:solidFill>
                <a:latin typeface="Aptos"/>
              </a:defRPr>
            </a:pPr>
            <a:r>
              <a:t>• keeps dates/durations recoverable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6310" y="4617720"/>
            <a:ext cx="32232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DB911C"/>
                </a:solidFill>
                <a:latin typeface="Aptos"/>
              </a:defRPr>
            </a:pPr>
            <a:r>
              <a:t>Raw snippet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6310" y="4892040"/>
            <a:ext cx="32232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61" b="0">
                <a:solidFill>
                  <a:srgbClr val="24303E"/>
                </a:solidFill>
                <a:latin typeface="Aptos"/>
              </a:defRPr>
            </a:pPr>
            <a:r>
              <a:t>"I stayed in Seattle before flying to Chicago."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410712"/>
            <a:ext cx="390906" cy="0"/>
          </a:xfrm>
          <a:prstGeom prst="line">
            <a:avLst/>
          </a:prstGeom>
          <a:ln w="2286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4380" y="5916168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Live walkthrough option: animate Raw log -&gt; Fact -&gt; Graph node as a timed build.</a:t>
            </a:r>
          </a:p>
        </p:txBody>
      </p:sp>
      <p:sp>
        <p:nvSpPr>
          <p:cNvPr id="21" name="CodexViz white body cover">
            <a:extLst>
              <a:ext uri="{FF2B5EF4-FFF2-40B4-BE49-F238E27FC236}">
                <a16:creationId xmlns:a16="http://schemas.microsoft.com/office/drawing/2014/main" id="{84F23B90-AB4E-BD76-250E-68DA1627DD00}"/>
              </a:ext>
            </a:extLst>
          </p:cNvPr>
          <p:cNvSpPr/>
          <p:nvPr/>
        </p:nvSpPr>
        <p:spPr>
          <a:xfrm>
            <a:off x="317500" y="965200"/>
            <a:ext cx="8509000" cy="546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CodexViz retain intra/inter animated GIF">
            <a:extLst>
              <a:ext uri="{FF2B5EF4-FFF2-40B4-BE49-F238E27FC236}">
                <a16:creationId xmlns:a16="http://schemas.microsoft.com/office/drawing/2014/main" id="{FA69F19E-2FF0-BCE3-2A26-396A052935BE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93799"/>
            <a:ext cx="8128000" cy="4572000"/>
          </a:xfrm>
        </p:spPr>
      </p:pic>
      <p:sp>
        <p:nvSpPr>
          <p:cNvPr id="24" name="Hình chữ nhật: Góc Tròn 23">
            <a:extLst>
              <a:ext uri="{FF2B5EF4-FFF2-40B4-BE49-F238E27FC236}">
                <a16:creationId xmlns:a16="http://schemas.microsoft.com/office/drawing/2014/main" id="{25935245-E32C-A8D3-5AB0-27AF4AB32839}"/>
              </a:ext>
            </a:extLst>
          </p:cNvPr>
          <p:cNvSpPr/>
          <p:nvPr/>
        </p:nvSpPr>
        <p:spPr>
          <a:xfrm>
            <a:off x="889000" y="5918200"/>
            <a:ext cx="7366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06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16333D"/>
                </a:solidFill>
                <a:latin typeface="Aptos" panose="020B0004020202020204" pitchFamily="34" charset="0"/>
              </a:rPr>
              <a:t>Animation: solid teal = intra-session links; dashed gold = inter-session links; red = recalled evidence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MEMORY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Six typed memory networks</a:t>
            </a:r>
          </a:p>
        </p:txBody>
      </p:sp>
      <p:pic>
        <p:nvPicPr>
          <p:cNvPr id="7" name="Picture 6" descr="cogmem_memor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936381"/>
            <a:ext cx="4800600" cy="27017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77790" y="1143000"/>
            <a:ext cx="147447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80660" y="1252728"/>
            <a:ext cx="126873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5" b="1">
                <a:solidFill>
                  <a:srgbClr val="2466B3"/>
                </a:solidFill>
                <a:latin typeface="Aptos"/>
              </a:defRPr>
            </a:pPr>
            <a:r>
              <a:t>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0660" y="1527048"/>
            <a:ext cx="12687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8" b="0">
                <a:solidFill>
                  <a:srgbClr val="667280"/>
                </a:solidFill>
                <a:latin typeface="Aptos"/>
              </a:defRPr>
            </a:pPr>
            <a:r>
              <a:t>stable 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143000"/>
            <a:ext cx="147447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0870" y="1252728"/>
            <a:ext cx="126873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5" b="1">
                <a:solidFill>
                  <a:srgbClr val="108080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0870" y="1527048"/>
            <a:ext cx="12687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8" b="0">
                <a:solidFill>
                  <a:srgbClr val="667280"/>
                </a:solidFill>
                <a:latin typeface="Aptos"/>
              </a:defRPr>
            </a:pPr>
            <a:r>
              <a:t>dated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7790" y="2167128"/>
            <a:ext cx="147447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0660" y="2276856"/>
            <a:ext cx="126873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5" b="1">
                <a:solidFill>
                  <a:srgbClr val="E66F37"/>
                </a:solidFill>
                <a:latin typeface="Aptos"/>
              </a:defRPr>
            </a:pPr>
            <a:r>
              <a:t>Opinion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0660" y="2551176"/>
            <a:ext cx="12687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8" b="0">
                <a:solidFill>
                  <a:srgbClr val="667280"/>
                </a:solidFill>
                <a:latin typeface="Aptos"/>
              </a:defRPr>
            </a:pPr>
            <a:r>
              <a:t>preferences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167128"/>
            <a:ext cx="147447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60870" y="2276856"/>
            <a:ext cx="126873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5" b="1">
                <a:solidFill>
                  <a:srgbClr val="55802C"/>
                </a:solidFill>
                <a:latin typeface="Aptos"/>
              </a:defRPr>
            </a:pPr>
            <a:r>
              <a:t>Habit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0870" y="2551176"/>
            <a:ext cx="12687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8" b="0">
                <a:solidFill>
                  <a:srgbClr val="667280"/>
                </a:solidFill>
                <a:latin typeface="Aptos"/>
              </a:defRPr>
            </a:pPr>
            <a:r>
              <a:t>routines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7790" y="3191256"/>
            <a:ext cx="147447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0660" y="3300984"/>
            <a:ext cx="126873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5" b="1">
                <a:solidFill>
                  <a:srgbClr val="DB911C"/>
                </a:solidFill>
                <a:latin typeface="Aptos"/>
              </a:defRPr>
            </a:pPr>
            <a:r>
              <a:t>Intention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0660" y="3575304"/>
            <a:ext cx="12687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8" b="0">
                <a:solidFill>
                  <a:srgbClr val="667280"/>
                </a:solidFill>
                <a:latin typeface="Aptos"/>
              </a:defRPr>
            </a:pPr>
            <a:r>
              <a:t>future plans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191256"/>
            <a:ext cx="147447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60870" y="3300984"/>
            <a:ext cx="126873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5" b="1">
                <a:solidFill>
                  <a:srgbClr val="CA4343"/>
                </a:solidFill>
                <a:latin typeface="Aptos"/>
              </a:defRPr>
            </a:pPr>
            <a:r>
              <a:t>Action-effect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0870" y="3575304"/>
            <a:ext cx="12687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8" b="0">
                <a:solidFill>
                  <a:srgbClr val="667280"/>
                </a:solidFill>
                <a:latin typeface="Aptos"/>
              </a:defRPr>
            </a:pPr>
            <a:r>
              <a:t>precondition -&gt; action -&gt; outcome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77790" y="4498848"/>
            <a:ext cx="3154680" cy="1051560"/>
          </a:xfrm>
          <a:prstGeom prst="roundRect">
            <a:avLst/>
          </a:prstGeom>
          <a:solidFill>
            <a:srgbClr val="FFFCF4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4663440"/>
            <a:ext cx="28117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18" b="1">
                <a:solidFill>
                  <a:srgbClr val="102A43"/>
                </a:solidFill>
                <a:latin typeface="Aptos"/>
              </a:defRPr>
            </a:pPr>
            <a:r>
              <a:t>Honest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956048"/>
            <a:ext cx="28117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2" b="0">
                <a:solidFill>
                  <a:srgbClr val="24303E"/>
                </a:solidFill>
                <a:latin typeface="Aptos"/>
              </a:defRPr>
            </a:pPr>
            <a:r>
              <a:t>Intention and action-effect have targeted qualitative ablations. Habit is representationally useful, but still needs a routine diary workload.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Recall: four channels become one ranked evidence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" y="1234440"/>
            <a:ext cx="1783080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" y="1353312"/>
            <a:ext cx="14744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61" b="1">
                <a:solidFill>
                  <a:srgbClr val="2466B3"/>
                </a:solidFill>
                <a:latin typeface="Aptos"/>
              </a:defRPr>
            </a:pPr>
            <a:r>
              <a:t>Semantic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1609344"/>
            <a:ext cx="147447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91" b="0">
                <a:solidFill>
                  <a:srgbClr val="667280"/>
                </a:solidFill>
                <a:latin typeface="Aptos"/>
              </a:defRPr>
            </a:pPr>
            <a:r>
              <a:t>similar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34590" y="1581912"/>
            <a:ext cx="1268730" cy="1344168"/>
          </a:xfrm>
          <a:prstGeom prst="line">
            <a:avLst/>
          </a:prstGeom>
          <a:ln w="16510">
            <a:solidFill>
              <a:srgbClr val="24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" y="2221992"/>
            <a:ext cx="1783080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" y="2340864"/>
            <a:ext cx="14744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61" b="1">
                <a:solidFill>
                  <a:srgbClr val="108080"/>
                </a:solidFill>
                <a:latin typeface="Aptos"/>
              </a:defRPr>
            </a:pPr>
            <a:r>
              <a:t>BM25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" y="2596896"/>
            <a:ext cx="147447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91" b="0">
                <a:solidFill>
                  <a:srgbClr val="667280"/>
                </a:solidFill>
                <a:latin typeface="Aptos"/>
              </a:defRPr>
            </a:pPr>
            <a:r>
              <a:t>lexical match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34590" y="2569464"/>
            <a:ext cx="1268730" cy="356616"/>
          </a:xfrm>
          <a:prstGeom prst="line">
            <a:avLst/>
          </a:prstGeom>
          <a:ln w="16510">
            <a:solidFill>
              <a:srgbClr val="1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220" y="3209544"/>
            <a:ext cx="1783080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" y="3328416"/>
            <a:ext cx="14744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61" b="1">
                <a:solidFill>
                  <a:srgbClr val="DB911C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" y="3584448"/>
            <a:ext cx="147447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91" b="0">
                <a:solidFill>
                  <a:srgbClr val="667280"/>
                </a:solidFill>
                <a:latin typeface="Aptos"/>
              </a:defRPr>
            </a:pPr>
            <a:r>
              <a:t>linked evidence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434590" y="2926080"/>
            <a:ext cx="1268730" cy="630936"/>
          </a:xfrm>
          <a:prstGeom prst="line">
            <a:avLst/>
          </a:prstGeom>
          <a:ln w="16510">
            <a:solidFill>
              <a:srgbClr val="DB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20" y="4197096"/>
            <a:ext cx="1783080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" y="4315968"/>
            <a:ext cx="14744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61" b="1">
                <a:solidFill>
                  <a:srgbClr val="55802C"/>
                </a:solidFill>
                <a:latin typeface="Aptos"/>
              </a:defRPr>
            </a:pPr>
            <a:r>
              <a:t>Temporal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" y="4572000"/>
            <a:ext cx="147447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91" b="0">
                <a:solidFill>
                  <a:srgbClr val="667280"/>
                </a:solidFill>
                <a:latin typeface="Aptos"/>
              </a:defRPr>
            </a:pPr>
            <a:r>
              <a:t>time windows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434590" y="2926080"/>
            <a:ext cx="1268730" cy="1618488"/>
          </a:xfrm>
          <a:prstGeom prst="line">
            <a:avLst/>
          </a:prstGeom>
          <a:ln w="16510">
            <a:solidFill>
              <a:srgbClr val="558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69030" y="2011680"/>
            <a:ext cx="1714500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0" y="224028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Adaptive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4196" y="2679192"/>
            <a:ext cx="13441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0">
                <a:solidFill>
                  <a:srgbClr val="667280"/>
                </a:solidFill>
                <a:latin typeface="Aptos"/>
              </a:defRPr>
            </a:pPr>
            <a:r>
              <a:t>query type changes channel weights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4196" y="3200400"/>
            <a:ext cx="13441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1" b="0">
                <a:solidFill>
                  <a:srgbClr val="108080"/>
                </a:solidFill>
                <a:latin typeface="Aptos"/>
              </a:defRPr>
            </a:pPr>
            <a:r>
              <a:t>semantic | temporal | causal | prospective | preference | multi-hop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0388" y="2926080"/>
            <a:ext cx="816102" cy="0"/>
          </a:xfrm>
          <a:prstGeom prst="line">
            <a:avLst/>
          </a:prstGeom>
          <a:ln w="2286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40780" y="1325880"/>
            <a:ext cx="2023110" cy="342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0236" y="1572768"/>
            <a:ext cx="15773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Top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9390" y="2057400"/>
            <a:ext cx="1405890" cy="310896"/>
          </a:xfrm>
          <a:prstGeom prst="roundRect">
            <a:avLst/>
          </a:prstGeom>
          <a:solidFill>
            <a:srgbClr val="108080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91" b="1">
                <a:solidFill>
                  <a:srgbClr val="FFFFFF"/>
                </a:solidFill>
                <a:latin typeface="Aptos"/>
              </a:defRPr>
            </a:pPr>
            <a:r>
              <a:t>1. fact + snippet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9390" y="2587752"/>
            <a:ext cx="1405890" cy="310896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91" b="1">
                <a:solidFill>
                  <a:srgbClr val="FFFFFF"/>
                </a:solidFill>
                <a:latin typeface="Aptos"/>
              </a:defRPr>
            </a:pPr>
            <a:r>
              <a:t>2. dated memory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49390" y="3118104"/>
            <a:ext cx="1405890" cy="310896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91" b="1">
                <a:solidFill>
                  <a:srgbClr val="FFFFFF"/>
                </a:solidFill>
                <a:latin typeface="Aptos"/>
              </a:defRPr>
            </a:pPr>
            <a:r>
              <a:t>3. linked node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49390" y="3648456"/>
            <a:ext cx="1405890" cy="310896"/>
          </a:xfrm>
          <a:prstGeom prst="roundRect">
            <a:avLst/>
          </a:prstGeom>
          <a:solidFill>
            <a:srgbClr val="2466B3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91" b="1">
                <a:solidFill>
                  <a:srgbClr val="FFFFFF"/>
                </a:solidFill>
                <a:latin typeface="Aptos"/>
              </a:defRPr>
            </a:pPr>
            <a:r>
              <a:t>4. lexical hit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60720"/>
            <a:ext cx="750951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76" b="1">
                <a:solidFill>
                  <a:srgbClr val="102A43"/>
                </a:solidFill>
                <a:latin typeface="Aptos"/>
              </a:defRPr>
            </a:pPr>
            <a:r>
              <a:t>Key claim: graph is important, but the final system is deliberately multi-channel.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Graph recall: SUM instead of 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234440"/>
            <a:ext cx="373761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0570" y="1234440"/>
            <a:ext cx="373761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44752"/>
            <a:ext cx="1062990" cy="384048"/>
          </a:xfrm>
          <a:prstGeom prst="roundRect">
            <a:avLst/>
          </a:prstGeom>
          <a:solidFill>
            <a:srgbClr val="CA4343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MAX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18304" y="1444752"/>
            <a:ext cx="1200150" cy="384048"/>
          </a:xfrm>
          <a:prstGeom prst="roundRect">
            <a:avLst/>
          </a:prstGeom>
          <a:solidFill>
            <a:srgbClr val="108080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5" b="1">
                <a:solidFill>
                  <a:srgbClr val="FFFFFF"/>
                </a:solidFill>
                <a:latin typeface="Aptos"/>
              </a:defRPr>
            </a:pPr>
            <a:r>
              <a:t>SUM 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56816"/>
            <a:ext cx="339471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4" b="1">
                <a:solidFill>
                  <a:srgbClr val="102A43"/>
                </a:solidFill>
                <a:latin typeface="Aptos"/>
              </a:defRPr>
            </a:pPr>
            <a:r>
              <a:t>Keeps the strongest single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1956816"/>
            <a:ext cx="3326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4" b="1">
                <a:solidFill>
                  <a:srgbClr val="102A43"/>
                </a:solidFill>
                <a:latin typeface="Aptos"/>
              </a:defRPr>
            </a:pPr>
            <a:r>
              <a:t>Accumulates many weak paths converging on the same answer node</a:t>
            </a:r>
          </a:p>
        </p:txBody>
      </p:sp>
      <p:sp>
        <p:nvSpPr>
          <p:cNvPr id="13" name="Oval 12"/>
          <p:cNvSpPr/>
          <p:nvPr/>
        </p:nvSpPr>
        <p:spPr>
          <a:xfrm>
            <a:off x="1062990" y="4206240"/>
            <a:ext cx="240030" cy="320040"/>
          </a:xfrm>
          <a:prstGeom prst="ellipse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11630" y="2971800"/>
            <a:ext cx="240030" cy="320040"/>
          </a:xfrm>
          <a:prstGeom prst="ellipse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194560" y="4251960"/>
            <a:ext cx="240030" cy="320040"/>
          </a:xfrm>
          <a:prstGeom prst="ellipse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20390" y="3337560"/>
            <a:ext cx="240030" cy="320040"/>
          </a:xfrm>
          <a:prstGeom prst="ellipse">
            <a:avLst/>
          </a:prstGeom>
          <a:solidFill>
            <a:srgbClr val="CA4343"/>
          </a:solidFill>
          <a:ln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97580" y="4434840"/>
            <a:ext cx="240030" cy="320040"/>
          </a:xfrm>
          <a:prstGeom prst="ellipse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1303020" y="3493008"/>
            <a:ext cx="1817370" cy="877824"/>
          </a:xfrm>
          <a:prstGeom prst="line">
            <a:avLst/>
          </a:prstGeom>
          <a:ln w="25400">
            <a:solidFill>
              <a:srgbClr val="CA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7250" y="489204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62" b="1">
                <a:solidFill>
                  <a:srgbClr val="CA4343"/>
                </a:solidFill>
                <a:latin typeface="Aptos"/>
              </a:defRPr>
            </a:pPr>
            <a:r>
              <a:t>A(v) = max(signal)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3383280"/>
            <a:ext cx="425196" cy="566928"/>
          </a:xfrm>
          <a:prstGeom prst="ellipse">
            <a:avLst/>
          </a:prstGeom>
          <a:solidFill>
            <a:srgbClr val="108080"/>
          </a:solidFill>
          <a:ln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109210" y="2788920"/>
            <a:ext cx="246888" cy="329184"/>
          </a:xfrm>
          <a:prstGeom prst="ellipse">
            <a:avLst/>
          </a:prstGeom>
          <a:solidFill>
            <a:srgbClr val="2466B3"/>
          </a:solidFill>
          <a:ln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5356098" y="2953512"/>
            <a:ext cx="953262" cy="713232"/>
          </a:xfrm>
          <a:prstGeom prst="line">
            <a:avLst/>
          </a:prstGeom>
          <a:ln w="21590">
            <a:solidFill>
              <a:srgbClr val="24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280660" y="4315968"/>
            <a:ext cx="246888" cy="329184"/>
          </a:xfrm>
          <a:prstGeom prst="ellipse">
            <a:avLst/>
          </a:prstGeom>
          <a:solidFill>
            <a:srgbClr val="55802C"/>
          </a:solidFill>
          <a:ln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5527548" y="3666744"/>
            <a:ext cx="781812" cy="813815"/>
          </a:xfrm>
          <a:prstGeom prst="line">
            <a:avLst/>
          </a:prstGeom>
          <a:ln w="21590">
            <a:solidFill>
              <a:srgbClr val="558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03770" y="2880360"/>
            <a:ext cx="246888" cy="329184"/>
          </a:xfrm>
          <a:prstGeom prst="ellipse">
            <a:avLst/>
          </a:prstGeom>
          <a:solidFill>
            <a:srgbClr val="DB911C"/>
          </a:solidFill>
          <a:ln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H="1">
            <a:off x="6309360" y="3044952"/>
            <a:ext cx="1241298" cy="621792"/>
          </a:xfrm>
          <a:prstGeom prst="line">
            <a:avLst/>
          </a:prstGeom>
          <a:ln w="21590">
            <a:solidFill>
              <a:srgbClr val="DB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235190" y="4434840"/>
            <a:ext cx="246888" cy="329184"/>
          </a:xfrm>
          <a:prstGeom prst="ellipse">
            <a:avLst/>
          </a:prstGeom>
          <a:solidFill>
            <a:srgbClr val="E66F37"/>
          </a:solidFill>
          <a:ln>
            <a:solidFill>
              <a:srgbClr val="E6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309360" y="3666744"/>
            <a:ext cx="1172718" cy="932687"/>
          </a:xfrm>
          <a:prstGeom prst="line">
            <a:avLst/>
          </a:prstGeom>
          <a:ln w="21590">
            <a:solidFill>
              <a:srgbClr val="E66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34890" y="489204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62" b="1">
                <a:solidFill>
                  <a:srgbClr val="108080"/>
                </a:solidFill>
                <a:latin typeface="Aptos"/>
              </a:defRPr>
            </a:pPr>
            <a:r>
              <a:t>A(v) += total incoming signal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90" y="5779008"/>
            <a:ext cx="1645920" cy="310896"/>
          </a:xfrm>
          <a:prstGeom prst="roundRect">
            <a:avLst/>
          </a:prstGeom>
          <a:solidFill>
            <a:srgbClr val="2466B3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cycle guard 1: refractory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98064" y="5779008"/>
            <a:ext cx="1645920" cy="310896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cycle guard 2: firing quota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55464" y="5779008"/>
            <a:ext cx="1645920" cy="310896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cycle guard 3: saturation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Running example: before-travel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115568"/>
            <a:ext cx="771525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298448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34" b="1">
                <a:solidFill>
                  <a:srgbClr val="102A43"/>
                </a:solidFill>
                <a:latin typeface="Aptos"/>
              </a:defRPr>
            </a:pPr>
            <a:r>
              <a:t>Query: Which city was the user in before traveling to Chicago?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8670" y="2907792"/>
            <a:ext cx="7098030" cy="0"/>
          </a:xfrm>
          <a:prstGeom prst="line">
            <a:avLst/>
          </a:prstGeom>
          <a:ln w="2032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474470" y="2743200"/>
            <a:ext cx="246888" cy="329184"/>
          </a:xfrm>
          <a:prstGeom prst="ellipse">
            <a:avLst/>
          </a:prstGeom>
          <a:solidFill>
            <a:srgbClr val="108080"/>
          </a:solidFill>
          <a:ln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94410" y="3310128"/>
            <a:ext cx="120015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1570" y="3456432"/>
            <a:ext cx="92583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108080"/>
                </a:solidFill>
                <a:latin typeface="Aptos"/>
              </a:defRPr>
            </a:pPr>
            <a:r>
              <a:t>Memory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1570" y="3730752"/>
            <a:ext cx="92583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Seattle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570" y="4005072"/>
            <a:ext cx="92583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5" b="0">
                <a:solidFill>
                  <a:srgbClr val="667280"/>
                </a:solidFill>
                <a:latin typeface="Aptos"/>
              </a:defRPr>
            </a:pPr>
            <a:r>
              <a:t>earlier dated 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2743200"/>
            <a:ext cx="246888" cy="329184"/>
          </a:xfrm>
          <a:prstGeom prst="ellipse">
            <a:avLst/>
          </a:prstGeom>
          <a:solidFill>
            <a:srgbClr val="DB911C"/>
          </a:solidFill>
          <a:ln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34740" y="3310128"/>
            <a:ext cx="120015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71900" y="3456432"/>
            <a:ext cx="92583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DB911C"/>
                </a:solidFill>
                <a:latin typeface="Aptos"/>
              </a:defRPr>
            </a:pPr>
            <a:r>
              <a:t>Memory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1900" y="3730752"/>
            <a:ext cx="92583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0" y="4005072"/>
            <a:ext cx="92583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5" b="0">
                <a:solidFill>
                  <a:srgbClr val="667280"/>
                </a:solidFill>
                <a:latin typeface="Aptos"/>
              </a:defRPr>
            </a:pPr>
            <a:r>
              <a:t>anchor travel evidence</a:t>
            </a:r>
          </a:p>
        </p:txBody>
      </p:sp>
      <p:sp>
        <p:nvSpPr>
          <p:cNvPr id="20" name="Oval 19"/>
          <p:cNvSpPr/>
          <p:nvPr/>
        </p:nvSpPr>
        <p:spPr>
          <a:xfrm>
            <a:off x="6755130" y="2743200"/>
            <a:ext cx="246888" cy="329184"/>
          </a:xfrm>
          <a:prstGeom prst="ellipse">
            <a:avLst/>
          </a:prstGeom>
          <a:solidFill>
            <a:srgbClr val="55802C"/>
          </a:solidFill>
          <a:ln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75070" y="3310128"/>
            <a:ext cx="120015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2230" y="3456432"/>
            <a:ext cx="92583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1">
                <a:solidFill>
                  <a:srgbClr val="55802C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230" y="3730752"/>
            <a:ext cx="92583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Seattle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2230" y="4005072"/>
            <a:ext cx="92583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5" b="0">
                <a:solidFill>
                  <a:srgbClr val="667280"/>
                </a:solidFill>
                <a:latin typeface="Aptos"/>
              </a:defRPr>
            </a:pPr>
            <a:r>
              <a:t>before Chicago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19472"/>
            <a:ext cx="212598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60420" y="4919472"/>
            <a:ext cx="212598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035040" y="4919472"/>
            <a:ext cx="212598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" y="5047488"/>
            <a:ext cx="18173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32" b="1">
                <a:solidFill>
                  <a:srgbClr val="102A43"/>
                </a:solidFill>
                <a:latin typeface="Aptos"/>
              </a:defRPr>
            </a:pPr>
            <a:r>
              <a:t>1. Detect 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" y="5321808"/>
            <a:ext cx="18173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667280"/>
                </a:solidFill>
                <a:latin typeface="Aptos"/>
              </a:defRPr>
            </a:pPr>
            <a:r>
              <a:t>before + travel + 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5047488"/>
            <a:ext cx="18173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32" b="1">
                <a:solidFill>
                  <a:srgbClr val="102A43"/>
                </a:solidFill>
                <a:latin typeface="Aptos"/>
              </a:defRPr>
            </a:pPr>
            <a:r>
              <a:t>2. Recall dated memories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1296" y="5321808"/>
            <a:ext cx="18173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667280"/>
                </a:solidFill>
                <a:latin typeface="Aptos"/>
              </a:defRPr>
            </a:pPr>
            <a:r>
              <a:t>Seattle and Chicago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5916" y="5047488"/>
            <a:ext cx="18173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32" b="1">
                <a:solidFill>
                  <a:srgbClr val="102A43"/>
                </a:solidFill>
                <a:latin typeface="Aptos"/>
              </a:defRPr>
            </a:pPr>
            <a:r>
              <a:t>3. Guard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5916" y="5321808"/>
            <a:ext cx="181737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0">
                <a:solidFill>
                  <a:srgbClr val="667280"/>
                </a:solidFill>
                <a:latin typeface="Aptos"/>
              </a:defRPr>
            </a:pPr>
            <a:r>
              <a:t>answer from evidence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Evaluation: judge PASS is the reported metric</a:t>
            </a:r>
          </a:p>
        </p:txBody>
      </p:sp>
      <p:pic>
        <p:nvPicPr>
          <p:cNvPr id="7" name="Picture 6" descr="manual_evalu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99805"/>
            <a:ext cx="4800600" cy="27017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17820" y="1234440"/>
            <a:ext cx="2708910" cy="4251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09844" y="1481328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48" b="1">
                <a:solidFill>
                  <a:srgbClr val="102A43"/>
                </a:solidFill>
                <a:latin typeface="Aptos"/>
              </a:defRPr>
            </a:pPr>
            <a:r>
              <a:t>Reported scoring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7850" y="2057400"/>
            <a:ext cx="2194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75">
                <a:solidFill>
                  <a:srgbClr val="24303E"/>
                </a:solidFill>
                <a:latin typeface="Aptos"/>
              </a:defRPr>
            </a:pPr>
            <a:r>
              <a:t>• LLM-as-a-judge compares generated answer with gold.</a:t>
            </a:r>
          </a:p>
          <a:p>
            <a:pPr>
              <a:spcAft>
                <a:spcPts val="700"/>
              </a:spcAft>
              <a:defRPr sz="1075">
                <a:solidFill>
                  <a:srgbClr val="24303E"/>
                </a:solidFill>
                <a:latin typeface="Aptos"/>
              </a:defRPr>
            </a:pPr>
            <a:r>
              <a:t>• PASS/Total is the metric shown in this deck.</a:t>
            </a:r>
          </a:p>
          <a:p>
            <a:pPr>
              <a:spcAft>
                <a:spcPts val="700"/>
              </a:spcAft>
              <a:defRPr sz="1075">
                <a:solidFill>
                  <a:srgbClr val="24303E"/>
                </a:solidFill>
                <a:latin typeface="Aptos"/>
              </a:defRPr>
            </a:pPr>
            <a:r>
              <a:t>• Same judge policy across LongMemEval and LoCoMo.</a:t>
            </a:r>
          </a:p>
          <a:p>
            <a:pPr>
              <a:spcAft>
                <a:spcPts val="700"/>
              </a:spcAft>
              <a:defRPr sz="1075">
                <a:solidFill>
                  <a:srgbClr val="24303E"/>
                </a:solidFill>
                <a:latin typeface="Aptos"/>
              </a:defRPr>
            </a:pPr>
            <a:r>
              <a:t>• Internal run IDs and case IDs are hidden from reader-facing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" y="5522976"/>
            <a:ext cx="822960" cy="310896"/>
          </a:xfrm>
          <a:prstGeom prst="roundRect">
            <a:avLst/>
          </a:prstGeom>
          <a:solidFill>
            <a:srgbClr val="2466B3"/>
          </a:solidFill>
          <a:ln w="13970"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0210" y="5522976"/>
            <a:ext cx="1062990" cy="310896"/>
          </a:xfrm>
          <a:prstGeom prst="roundRect">
            <a:avLst/>
          </a:prstGeom>
          <a:solidFill>
            <a:srgbClr val="108080"/>
          </a:solidFill>
          <a:ln w="1397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CogMem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4650" y="5522976"/>
            <a:ext cx="1028700" cy="310896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Judge verdict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522976"/>
            <a:ext cx="1062990" cy="310896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Category totals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LongMemEval: multi-channel typed graph is strongest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152144"/>
            <a:ext cx="21945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6374" y="1298448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108080"/>
                </a:solidFill>
                <a:latin typeface="Aptos"/>
              </a:defRPr>
            </a:pPr>
            <a:r>
              <a:t>31/35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374" y="1810512"/>
            <a:ext cx="1947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Multi-channel + 6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374" y="2103120"/>
            <a:ext cx="1947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judge PASS = 88.6%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7550" y="1152144"/>
            <a:ext cx="21945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0994" y="1298448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2466B3"/>
                </a:solidFill>
                <a:latin typeface="Aptos"/>
              </a:defRPr>
            </a:pPr>
            <a:r>
              <a:t>30/35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0994" y="1810512"/>
            <a:ext cx="1947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HINDSIGHT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0994" y="2103120"/>
            <a:ext cx="1947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judge PASS = 85.7%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32170" y="1152144"/>
            <a:ext cx="21945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55614" y="1298448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DB911C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5614" y="1810512"/>
            <a:ext cx="1947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Evaluation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5614" y="2103120"/>
            <a:ext cx="1947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LongMemEval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670" y="3063240"/>
            <a:ext cx="713232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2990" y="34015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Multi-channel + 6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438144"/>
            <a:ext cx="3943350" cy="16459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3438144"/>
            <a:ext cx="3269037" cy="164592"/>
          </a:xfrm>
          <a:prstGeom prst="rect">
            <a:avLst/>
          </a:prstGeom>
          <a:solidFill>
            <a:srgbClr val="1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55130" y="3383280"/>
            <a:ext cx="51435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5" b="1">
                <a:solidFill>
                  <a:srgbClr val="102A43"/>
                </a:solidFill>
                <a:latin typeface="Aptos"/>
              </a:defRPr>
            </a:pPr>
            <a:r>
              <a:t>88.6%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2990" y="395020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HINDSIGHT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986784"/>
            <a:ext cx="3943350" cy="16459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0" y="3986784"/>
            <a:ext cx="2929909" cy="164592"/>
          </a:xfrm>
          <a:prstGeom prst="rect">
            <a:avLst/>
          </a:prstGeom>
          <a:solidFill>
            <a:srgbClr val="24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55130" y="3931920"/>
            <a:ext cx="51435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5" b="1">
                <a:solidFill>
                  <a:srgbClr val="102A43"/>
                </a:solidFill>
                <a:latin typeface="Aptos"/>
              </a:defRPr>
            </a:pPr>
            <a:r>
              <a:t>85.7%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990" y="44988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Ablations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7490" y="4498848"/>
            <a:ext cx="387477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5" b="0">
                <a:solidFill>
                  <a:srgbClr val="667280"/>
                </a:solidFill>
                <a:latin typeface="Aptos"/>
              </a:defRPr>
            </a:pPr>
            <a:r>
              <a:t>no habit stays 31/35; no action-effect/intention drops to 29/35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90" y="5806440"/>
            <a:ext cx="74752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76" b="1">
                <a:solidFill>
                  <a:srgbClr val="102A43"/>
                </a:solidFill>
                <a:latin typeface="Aptos"/>
              </a:defRPr>
            </a:pPr>
            <a:r>
              <a:t>Takeaway: CogMem improves over HINDSIGHT when typed graph memory is fused with lexical, semantic, and temporal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Control experiment: SUM improves graph-only top-k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115568"/>
            <a:ext cx="21945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108080"/>
                </a:solidFill>
                <a:latin typeface="Aptos"/>
              </a:defRPr>
            </a:pPr>
            <a:r>
              <a:t>0.8052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1947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Graph-only SUM recall@5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66543"/>
            <a:ext cx="1947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mean session recall@5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8940" y="1115568"/>
            <a:ext cx="21945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2384" y="1261872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CA4343"/>
                </a:solidFill>
                <a:latin typeface="Aptos"/>
              </a:defRPr>
            </a:pPr>
            <a:r>
              <a:t>0.7624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1773936"/>
            <a:ext cx="1947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Graph-only MAX recall@5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066543"/>
            <a:ext cx="1947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mean session recall@5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2956" y="1115568"/>
            <a:ext cx="21945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1261872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DB911C"/>
                </a:solidFill>
                <a:latin typeface="Aptos"/>
              </a:defRPr>
            </a:pPr>
            <a:r>
              <a:t>+0.0429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773936"/>
            <a:ext cx="1947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Absolute 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66543"/>
            <a:ext cx="1947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SUM minus MAX at top-5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2944368"/>
            <a:ext cx="356616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08576" y="2944368"/>
            <a:ext cx="356616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182112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Rank budget 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670" y="3703320"/>
            <a:ext cx="260604" cy="347472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3866" y="3703320"/>
            <a:ext cx="260604" cy="347472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39062" y="3703320"/>
            <a:ext cx="260604" cy="347472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64258" y="3703320"/>
            <a:ext cx="260604" cy="347472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89454" y="3703320"/>
            <a:ext cx="260604" cy="347472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14650" y="3703320"/>
            <a:ext cx="260604" cy="347472"/>
          </a:xfrm>
          <a:prstGeom prst="roundRect">
            <a:avLst/>
          </a:prstGeom>
          <a:solidFill>
            <a:srgbClr val="E1E8F0"/>
          </a:solidFill>
          <a:ln w="1397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9846" y="3703320"/>
            <a:ext cx="260604" cy="347472"/>
          </a:xfrm>
          <a:prstGeom prst="roundRect">
            <a:avLst/>
          </a:prstGeom>
          <a:solidFill>
            <a:srgbClr val="E1E8F0"/>
          </a:solidFill>
          <a:ln w="1397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52544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9" b="0">
                <a:solidFill>
                  <a:srgbClr val="667280"/>
                </a:solidFill>
                <a:latin typeface="Aptos"/>
              </a:defRPr>
            </a:pPr>
            <a:r>
              <a:t>Relevant evidence should land inside ranks 1-5.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182112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Result 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3611880"/>
            <a:ext cx="298323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89">
                <a:solidFill>
                  <a:srgbClr val="24303E"/>
                </a:solidFill>
                <a:latin typeface="Aptos"/>
              </a:defRPr>
            </a:pPr>
            <a:r>
              <a:t>• Recall@10 is equal at 0.8481.</a:t>
            </a:r>
          </a:p>
          <a:p>
            <a:pPr>
              <a:spcAft>
                <a:spcPts val="700"/>
              </a:spcAft>
              <a:defRPr sz="989">
                <a:solidFill>
                  <a:srgbClr val="24303E"/>
                </a:solidFill>
                <a:latin typeface="Aptos"/>
              </a:defRPr>
            </a:pPr>
            <a:r>
              <a:t>• SUM better in 2/35 questions.</a:t>
            </a:r>
          </a:p>
          <a:p>
            <a:pPr>
              <a:spcAft>
                <a:spcPts val="700"/>
              </a:spcAft>
              <a:defRPr sz="989">
                <a:solidFill>
                  <a:srgbClr val="24303E"/>
                </a:solidFill>
                <a:latin typeface="Aptos"/>
              </a:defRPr>
            </a:pPr>
            <a:r>
              <a:t>• MAX better in 0/35 questions.</a:t>
            </a:r>
          </a:p>
          <a:p>
            <a:pPr>
              <a:spcAft>
                <a:spcPts val="700"/>
              </a:spcAft>
              <a:defRPr sz="989">
                <a:solidFill>
                  <a:srgbClr val="24303E"/>
                </a:solidFill>
                <a:latin typeface="Aptos"/>
              </a:defRPr>
            </a:pPr>
            <a:r>
              <a:t>• Top-10 order changes in 12/35 questions.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50992"/>
            <a:ext cx="7543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90" b="1">
                <a:solidFill>
                  <a:srgbClr val="102A43"/>
                </a:solidFill>
                <a:latin typeface="Aptos"/>
              </a:defRPr>
            </a:pPr>
            <a:r>
              <a:t>Honest claim: SUM does not create new evidence; it moves convergent evidence earlier in the prompt budget.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LoCoMo: judge PASS crosses the 70%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060704"/>
            <a:ext cx="2400300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207007"/>
            <a:ext cx="21534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108080"/>
                </a:solidFill>
                <a:latin typeface="Aptos"/>
              </a:defRPr>
            </a:pPr>
            <a:r>
              <a:t>119/161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21534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Final evidence-guard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21534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judge PASS = 73.9%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60704"/>
            <a:ext cx="2194560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5284" y="1207007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2466B3"/>
                </a:solidFill>
                <a:latin typeface="Aptos"/>
              </a:defRPr>
            </a:pPr>
            <a:r>
              <a:t>97/161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5284" y="1719072"/>
            <a:ext cx="1947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Previous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284" y="2011680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judge PASS = 60.2%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3016" y="1060704"/>
            <a:ext cx="2125980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66460" y="1207007"/>
            <a:ext cx="18790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50" b="1">
                <a:solidFill>
                  <a:srgbClr val="DB911C"/>
                </a:solidFill>
                <a:latin typeface="Aptos"/>
              </a:defRPr>
            </a:pPr>
            <a:r>
              <a:t>+22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6460" y="1719072"/>
            <a:ext cx="18790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45" b="1">
                <a:solidFill>
                  <a:srgbClr val="102A43"/>
                </a:solidFill>
                <a:latin typeface="Aptos"/>
              </a:defRPr>
            </a:pPr>
            <a:r>
              <a:t>Recovered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2011680"/>
            <a:ext cx="18790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7" b="0">
                <a:solidFill>
                  <a:srgbClr val="667280"/>
                </a:solidFill>
                <a:latin typeface="Aptos"/>
              </a:defRPr>
            </a:pPr>
            <a:r>
              <a:t>additional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80360"/>
            <a:ext cx="747522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404" y="32461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multi-hop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6614" y="3282696"/>
            <a:ext cx="4457700" cy="16459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26614" y="3282696"/>
            <a:ext cx="4087711" cy="164592"/>
          </a:xfrm>
          <a:prstGeom prst="rect">
            <a:avLst/>
          </a:prstGeom>
          <a:solidFill>
            <a:srgbClr val="1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2894" y="3227832"/>
            <a:ext cx="51435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5" b="1">
                <a:solidFill>
                  <a:srgbClr val="102A43"/>
                </a:solidFill>
                <a:latin typeface="Aptos"/>
              </a:defRPr>
            </a:pPr>
            <a:r>
              <a:t>91.7%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" y="36576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causal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6614" y="3694176"/>
            <a:ext cx="4457700" cy="16459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26614" y="3694176"/>
            <a:ext cx="4052049" cy="164592"/>
          </a:xfrm>
          <a:prstGeom prst="rect">
            <a:avLst/>
          </a:prstGeom>
          <a:solidFill>
            <a:srgbClr val="558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52894" y="3639312"/>
            <a:ext cx="51435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5" b="1">
                <a:solidFill>
                  <a:srgbClr val="102A43"/>
                </a:solidFill>
                <a:latin typeface="Aptos"/>
              </a:defRPr>
            </a:pPr>
            <a:r>
              <a:t>90.9%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" y="406908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preference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6614" y="4105656"/>
            <a:ext cx="4457700" cy="16459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26614" y="4105656"/>
            <a:ext cx="3931691" cy="164592"/>
          </a:xfrm>
          <a:prstGeom prst="rect">
            <a:avLst/>
          </a:prstGeom>
          <a:solidFill>
            <a:srgbClr val="DB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52894" y="4050792"/>
            <a:ext cx="51435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5" b="1">
                <a:solidFill>
                  <a:srgbClr val="102A43"/>
                </a:solidFill>
                <a:latin typeface="Aptos"/>
              </a:defRPr>
            </a:pPr>
            <a:r>
              <a:t>88.2%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" y="448056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single-hop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26614" y="4517136"/>
            <a:ext cx="4457700" cy="16459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626614" y="4517136"/>
            <a:ext cx="3191713" cy="164592"/>
          </a:xfrm>
          <a:prstGeom prst="rect">
            <a:avLst/>
          </a:prstGeom>
          <a:solidFill>
            <a:srgbClr val="24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52894" y="4462272"/>
            <a:ext cx="51435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5" b="1">
                <a:solidFill>
                  <a:srgbClr val="102A43"/>
                </a:solidFill>
                <a:latin typeface="Aptos"/>
              </a:defRPr>
            </a:pPr>
            <a:r>
              <a:t>71.6%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" y="489204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2" b="1">
                <a:solidFill>
                  <a:srgbClr val="24303E"/>
                </a:solidFill>
                <a:latin typeface="Aptos"/>
              </a:defRPr>
            </a:pPr>
            <a:r>
              <a:t>temporal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26614" y="4928616"/>
            <a:ext cx="4457700" cy="16459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626614" y="4928616"/>
            <a:ext cx="1858860" cy="164592"/>
          </a:xfrm>
          <a:prstGeom prst="rect">
            <a:avLst/>
          </a:prstGeom>
          <a:solidFill>
            <a:srgbClr val="C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2894" y="4873752"/>
            <a:ext cx="51435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5" b="1">
                <a:solidFill>
                  <a:srgbClr val="102A43"/>
                </a:solidFill>
                <a:latin typeface="Aptos"/>
              </a:defRPr>
            </a:pPr>
            <a:r>
              <a:t>41.7%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70448"/>
            <a:ext cx="7543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47" b="1">
                <a:solidFill>
                  <a:srgbClr val="102A43"/>
                </a:solidFill>
                <a:latin typeface="Aptos"/>
              </a:defRPr>
            </a:pPr>
            <a:r>
              <a:t>Takeaway: the full system is useful on a harder long-dialogue benchmark, but temporal reasoning still needs focused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TYPED MEMORY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Qualitative proof: intention stores unfinished 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078992"/>
            <a:ext cx="771525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090" y="1261872"/>
            <a:ext cx="737235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19" b="1">
                <a:solidFill>
                  <a:srgbClr val="102A43"/>
                </a:solidFill>
                <a:latin typeface="Aptos"/>
              </a:defRPr>
            </a:pPr>
            <a:r>
              <a:t>Target question: What sustainability habit did the user intend to start but has not?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" y="1965960"/>
            <a:ext cx="3669030" cy="2834640"/>
          </a:xfrm>
          <a:prstGeom prst="roundRect">
            <a:avLst/>
          </a:prstGeom>
          <a:solidFill>
            <a:srgbClr val="F7FDFA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0090" y="2176272"/>
            <a:ext cx="1440180" cy="329184"/>
          </a:xfrm>
          <a:prstGeom prst="roundRect">
            <a:avLst/>
          </a:prstGeom>
          <a:solidFill>
            <a:srgbClr val="55802C"/>
          </a:solidFill>
          <a:ln w="13970"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7" b="1">
                <a:solidFill>
                  <a:srgbClr val="FFFFFF"/>
                </a:solidFill>
                <a:latin typeface="Aptos"/>
              </a:defRPr>
            </a:pPr>
            <a:r>
              <a:t>Full memory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856" y="2212848"/>
            <a:ext cx="168021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2" b="1">
                <a:solidFill>
                  <a:srgbClr val="102A43"/>
                </a:solidFill>
                <a:latin typeface="Aptos"/>
              </a:defRPr>
            </a:pPr>
            <a:r>
              <a:t>37 facts, including 4 intention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670" y="2880360"/>
            <a:ext cx="857250" cy="502920"/>
          </a:xfrm>
          <a:prstGeom prst="roundRect">
            <a:avLst/>
          </a:prstGeom>
          <a:solidFill>
            <a:srgbClr val="CA4343"/>
          </a:solidFill>
          <a:ln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plans</a:t>
            </a:r>
            <a:br/>
            <a:r>
              <a:t>composting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48790" y="2880360"/>
            <a:ext cx="836676" cy="502920"/>
          </a:xfrm>
          <a:prstGeom prst="roundRect">
            <a:avLst/>
          </a:prstGeom>
          <a:solidFill>
            <a:srgbClr val="CA4343"/>
          </a:solidFill>
          <a:ln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has not</a:t>
            </a:r>
            <a:br/>
            <a:r>
              <a:t>started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8730" y="3730752"/>
            <a:ext cx="809244" cy="384048"/>
          </a:xfrm>
          <a:prstGeom prst="roundRect">
            <a:avLst/>
          </a:prstGeom>
          <a:solidFill>
            <a:srgbClr val="108080"/>
          </a:solidFill>
          <a:ln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trash bags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3127248"/>
            <a:ext cx="102870" cy="0"/>
          </a:xfrm>
          <a:prstGeom prst="line">
            <a:avLst/>
          </a:prstGeom>
          <a:ln w="17780">
            <a:solidFill>
              <a:srgbClr val="CA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9636" y="3767328"/>
            <a:ext cx="822960" cy="0"/>
          </a:xfrm>
          <a:prstGeom prst="line">
            <a:avLst/>
          </a:prstGeom>
          <a:ln w="1397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37460" y="3456432"/>
            <a:ext cx="1268730" cy="438912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25" b="1">
                <a:solidFill>
                  <a:srgbClr val="FFFFFF"/>
                </a:solidFill>
                <a:latin typeface="Aptos"/>
              </a:defRPr>
            </a:pPr>
            <a:r>
              <a:t>Answer: Composting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" y="4270248"/>
            <a:ext cx="318897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2" b="0">
                <a:solidFill>
                  <a:srgbClr val="24303E"/>
                </a:solidFill>
                <a:latin typeface="Aptos"/>
              </a:defRPr>
            </a:pPr>
            <a:r>
              <a:t>The gold plan remains physically present as intention-typed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4860" y="1965960"/>
            <a:ext cx="3669030" cy="2834640"/>
          </a:xfrm>
          <a:prstGeom prst="roundRect">
            <a:avLst/>
          </a:prstGeom>
          <a:solidFill>
            <a:srgbClr val="FFF8F8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86884" y="2176272"/>
            <a:ext cx="1680210" cy="329184"/>
          </a:xfrm>
          <a:prstGeom prst="roundRect">
            <a:avLst/>
          </a:prstGeom>
          <a:solidFill>
            <a:srgbClr val="CA4343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7" b="1">
                <a:solidFill>
                  <a:srgbClr val="FFFFFF"/>
                </a:solidFill>
                <a:latin typeface="Aptos"/>
              </a:defRPr>
            </a:pPr>
            <a:r>
              <a:t>Intention-ablated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7396" y="2212848"/>
            <a:ext cx="133731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2" b="1">
                <a:solidFill>
                  <a:srgbClr val="102A43"/>
                </a:solidFill>
                <a:latin typeface="Aptos"/>
              </a:defRPr>
            </a:pPr>
            <a:r>
              <a:t>26 facts, 0 intention nodes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3470" y="2926080"/>
            <a:ext cx="809244" cy="384048"/>
          </a:xfrm>
          <a:prstGeom prst="roundRect">
            <a:avLst/>
          </a:prstGeom>
          <a:solidFill>
            <a:srgbClr val="2466B3"/>
          </a:solidFill>
          <a:ln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rain barrel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1596" y="2926080"/>
            <a:ext cx="720090" cy="384048"/>
          </a:xfrm>
          <a:prstGeom prst="roundRect">
            <a:avLst/>
          </a:prstGeom>
          <a:solidFill>
            <a:srgbClr val="2466B3"/>
          </a:solidFill>
          <a:ln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garden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2864" y="2788920"/>
            <a:ext cx="877824" cy="530352"/>
          </a:xfrm>
          <a:prstGeom prst="roundRect">
            <a:avLst/>
          </a:prstGeom>
          <a:solidFill>
            <a:srgbClr val="CA4343"/>
          </a:solidFill>
          <a:ln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no red</a:t>
            </a:r>
            <a:br/>
            <a:r>
              <a:t>plan nodes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26430" y="3118104"/>
            <a:ext cx="185166" cy="0"/>
          </a:xfrm>
          <a:prstGeom prst="line">
            <a:avLst/>
          </a:prstGeom>
          <a:ln w="15240">
            <a:solidFill>
              <a:srgbClr val="24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38544" y="3054096"/>
            <a:ext cx="274320" cy="64008"/>
          </a:xfrm>
          <a:prstGeom prst="line">
            <a:avLst/>
          </a:prstGeom>
          <a:ln w="1270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541264" y="3675887"/>
            <a:ext cx="1474470" cy="420624"/>
          </a:xfrm>
          <a:prstGeom prst="roundRect">
            <a:avLst/>
          </a:prstGeom>
          <a:solidFill>
            <a:srgbClr val="CA4343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74" b="1">
                <a:solidFill>
                  <a:srgbClr val="FFFFFF"/>
                </a:solidFill>
                <a:latin typeface="Aptos"/>
              </a:defRPr>
            </a:pPr>
            <a:r>
              <a:t>Wrong decoy: rainwater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4316" y="4270248"/>
            <a:ext cx="318897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2" b="0">
                <a:solidFill>
                  <a:srgbClr val="24303E"/>
                </a:solidFill>
                <a:latin typeface="Aptos"/>
              </a:defRPr>
            </a:pPr>
            <a:r>
              <a:t>The system still recalls evidence, but the missing type forces a topic swap.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510" y="5230368"/>
            <a:ext cx="7509510" cy="768096"/>
          </a:xfrm>
          <a:prstGeom prst="roundRect">
            <a:avLst/>
          </a:prstGeom>
          <a:solidFill>
            <a:srgbClr val="FFFCF4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431536"/>
            <a:ext cx="716661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A43"/>
                </a:solidFill>
                <a:latin typeface="Aptos"/>
              </a:defRPr>
            </a:pPr>
            <a:r>
              <a:t>Interpretation: intention is not universally necessary, but it is necessary in sparse plan-not-done cases where no experience fact carries the same content.</a:t>
            </a:r>
          </a:p>
        </p:txBody>
      </p:sp>
      <p:sp>
        <p:nvSpPr>
          <p:cNvPr id="31" name="CodexViz white body cover">
            <a:extLst>
              <a:ext uri="{FF2B5EF4-FFF2-40B4-BE49-F238E27FC236}">
                <a16:creationId xmlns:a16="http://schemas.microsoft.com/office/drawing/2014/main" id="{4B0715B1-81CE-844D-CA20-A4977B141527}"/>
              </a:ext>
            </a:extLst>
          </p:cNvPr>
          <p:cNvSpPr/>
          <p:nvPr/>
        </p:nvSpPr>
        <p:spPr>
          <a:xfrm>
            <a:off x="317500" y="965200"/>
            <a:ext cx="8509000" cy="546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CodexViz intention graph screenshot">
            <a:extLst>
              <a:ext uri="{FF2B5EF4-FFF2-40B4-BE49-F238E27FC236}">
                <a16:creationId xmlns:a16="http://schemas.microsoft.com/office/drawing/2014/main" id="{8C8696F0-2532-5AD9-4C0F-13DB202D3D7D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320799"/>
            <a:ext cx="8331200" cy="4686300"/>
          </a:xfrm>
        </p:spPr>
      </p:pic>
      <p:sp>
        <p:nvSpPr>
          <p:cNvPr id="34" name="Hình chữ nhật: Góc Tròn 33">
            <a:extLst>
              <a:ext uri="{FF2B5EF4-FFF2-40B4-BE49-F238E27FC236}">
                <a16:creationId xmlns:a16="http://schemas.microsoft.com/office/drawing/2014/main" id="{9C6758F9-58B4-77E3-3B74-0BEE224897CD}"/>
              </a:ext>
            </a:extLst>
          </p:cNvPr>
          <p:cNvSpPr/>
          <p:nvPr/>
        </p:nvSpPr>
        <p:spPr>
          <a:xfrm>
            <a:off x="533400" y="1752600"/>
            <a:ext cx="3873500" cy="3073400"/>
          </a:xfrm>
          <a:prstGeom prst="roundRect">
            <a:avLst/>
          </a:prstGeom>
          <a:noFill/>
          <a:ln w="38100" cap="flat" cmpd="sng" algn="ctr">
            <a:solidFill>
              <a:srgbClr val="269B7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Hình chữ nhật: Góc Tròn 34">
            <a:extLst>
              <a:ext uri="{FF2B5EF4-FFF2-40B4-BE49-F238E27FC236}">
                <a16:creationId xmlns:a16="http://schemas.microsoft.com/office/drawing/2014/main" id="{51CFE122-F906-63D3-D95B-49B35675D856}"/>
              </a:ext>
            </a:extLst>
          </p:cNvPr>
          <p:cNvSpPr/>
          <p:nvPr/>
        </p:nvSpPr>
        <p:spPr>
          <a:xfrm>
            <a:off x="4749800" y="1752600"/>
            <a:ext cx="3873500" cy="3073400"/>
          </a:xfrm>
          <a:prstGeom prst="roundRect">
            <a:avLst/>
          </a:prstGeom>
          <a:noFill/>
          <a:ln w="38100" cap="flat" cmpd="sng" algn="ctr">
            <a:solidFill>
              <a:srgbClr val="CC404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Hình chữ nhật: Góc Tròn 35">
            <a:extLst>
              <a:ext uri="{FF2B5EF4-FFF2-40B4-BE49-F238E27FC236}">
                <a16:creationId xmlns:a16="http://schemas.microsoft.com/office/drawing/2014/main" id="{4459E0D5-D5D4-7AC9-B92D-DE3B92475BC5}"/>
              </a:ext>
            </a:extLst>
          </p:cNvPr>
          <p:cNvSpPr/>
          <p:nvPr/>
        </p:nvSpPr>
        <p:spPr>
          <a:xfrm>
            <a:off x="609600" y="1092200"/>
            <a:ext cx="3683000" cy="457200"/>
          </a:xfrm>
          <a:prstGeom prst="roundRect">
            <a:avLst/>
          </a:prstGeom>
          <a:solidFill>
            <a:srgbClr val="EBFAF6"/>
          </a:solidFill>
          <a:ln w="15875">
            <a:solidFill>
              <a:srgbClr val="269B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200" b="1">
                <a:solidFill>
                  <a:srgbClr val="0E5243"/>
                </a:solidFill>
                <a:latin typeface="Aptos" panose="020B0004020202020204" pitchFamily="34" charset="0"/>
              </a:rPr>
              <a:t>Full bank: intention nodes preserve composting</a:t>
            </a:r>
          </a:p>
        </p:txBody>
      </p:sp>
      <p:sp>
        <p:nvSpPr>
          <p:cNvPr id="37" name="Hình chữ nhật: Góc Tròn 36">
            <a:extLst>
              <a:ext uri="{FF2B5EF4-FFF2-40B4-BE49-F238E27FC236}">
                <a16:creationId xmlns:a16="http://schemas.microsoft.com/office/drawing/2014/main" id="{D9CC7FCD-6B1C-3DB7-0378-AA994342DFD0}"/>
              </a:ext>
            </a:extLst>
          </p:cNvPr>
          <p:cNvSpPr/>
          <p:nvPr/>
        </p:nvSpPr>
        <p:spPr>
          <a:xfrm>
            <a:off x="4851400" y="1092200"/>
            <a:ext cx="3683000" cy="457200"/>
          </a:xfrm>
          <a:prstGeom prst="roundRect">
            <a:avLst/>
          </a:prstGeom>
          <a:solidFill>
            <a:srgbClr val="FFEEEE"/>
          </a:solidFill>
          <a:ln w="15875">
            <a:solidFill>
              <a:srgbClr val="CC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200" b="1">
                <a:solidFill>
                  <a:srgbClr val="7E2323"/>
                </a:solidFill>
                <a:latin typeface="Aptos" panose="020B0004020202020204" pitchFamily="34" charset="0"/>
              </a:rPr>
              <a:t>Ablated: no intention nodes, decoy topic wins</a:t>
            </a:r>
          </a:p>
        </p:txBody>
      </p: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0D708BD7-DBF5-C624-78B8-EBC9FFDFE002}"/>
              </a:ext>
            </a:extLst>
          </p:cNvPr>
          <p:cNvCxnSpPr/>
          <p:nvPr/>
        </p:nvCxnSpPr>
        <p:spPr>
          <a:xfrm>
            <a:off x="2489200" y="1562100"/>
            <a:ext cx="0" cy="393700"/>
          </a:xfrm>
          <a:prstGeom prst="straightConnector1">
            <a:avLst/>
          </a:prstGeom>
          <a:ln w="25400">
            <a:solidFill>
              <a:srgbClr val="269B7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D893C490-F6D5-4250-533F-C7E5236C2AED}"/>
              </a:ext>
            </a:extLst>
          </p:cNvPr>
          <p:cNvCxnSpPr/>
          <p:nvPr/>
        </p:nvCxnSpPr>
        <p:spPr>
          <a:xfrm>
            <a:off x="6731000" y="1562100"/>
            <a:ext cx="0" cy="393700"/>
          </a:xfrm>
          <a:prstGeom prst="straightConnector1">
            <a:avLst/>
          </a:prstGeom>
          <a:ln w="25400">
            <a:solidFill>
              <a:srgbClr val="CC404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dexExtract body cover">
            <a:extLst>
              <a:ext uri="{FF2B5EF4-FFF2-40B4-BE49-F238E27FC236}">
                <a16:creationId xmlns:a16="http://schemas.microsoft.com/office/drawing/2014/main" id="{1FCFD378-AD68-BA23-DFAC-0A62F0828589}"/>
              </a:ext>
            </a:extLst>
          </p:cNvPr>
          <p:cNvSpPr/>
          <p:nvPr/>
        </p:nvSpPr>
        <p:spPr>
          <a:xfrm>
            <a:off x="317500" y="965200"/>
            <a:ext cx="8509000" cy="546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dexExtract question">
            <a:extLst>
              <a:ext uri="{FF2B5EF4-FFF2-40B4-BE49-F238E27FC236}">
                <a16:creationId xmlns:a16="http://schemas.microsoft.com/office/drawing/2014/main" id="{F671877D-E6F7-0F4D-BA57-B1F41A51B316}"/>
              </a:ext>
            </a:extLst>
          </p:cNvPr>
          <p:cNvSpPr/>
          <p:nvPr/>
        </p:nvSpPr>
        <p:spPr>
          <a:xfrm>
            <a:off x="508000" y="1092200"/>
            <a:ext cx="5613400" cy="508000"/>
          </a:xfrm>
          <a:prstGeom prst="roundRect">
            <a:avLst/>
          </a:prstGeom>
          <a:solidFill>
            <a:srgbClr val="F6F9FA"/>
          </a:solidFill>
          <a:ln w="14605">
            <a:solidFill>
              <a:srgbClr val="8597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000">
                <a:solidFill>
                  <a:srgbClr val="20323E"/>
                </a:solidFill>
                <a:latin typeface="Aptos" panose="020B0004020202020204" pitchFamily="34" charset="0"/>
              </a:rPr>
              <a:t>Question: What sustainability habit did the user intend to start but has not?</a:t>
            </a:r>
          </a:p>
        </p:txBody>
      </p:sp>
      <p:sp>
        <p:nvSpPr>
          <p:cNvPr id="41" name="CodexExtract gold">
            <a:extLst>
              <a:ext uri="{FF2B5EF4-FFF2-40B4-BE49-F238E27FC236}">
                <a16:creationId xmlns:a16="http://schemas.microsoft.com/office/drawing/2014/main" id="{0682FF41-EE40-B7BB-D014-2F40A90376AD}"/>
              </a:ext>
            </a:extLst>
          </p:cNvPr>
          <p:cNvSpPr/>
          <p:nvPr/>
        </p:nvSpPr>
        <p:spPr>
          <a:xfrm>
            <a:off x="6248400" y="1092200"/>
            <a:ext cx="2387600" cy="508000"/>
          </a:xfrm>
          <a:prstGeom prst="roundRect">
            <a:avLst/>
          </a:prstGeom>
          <a:solidFill>
            <a:srgbClr val="FFF7DC"/>
          </a:solidFill>
          <a:ln w="14605">
            <a:solidFill>
              <a:srgbClr val="E29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5B3700"/>
                </a:solidFill>
                <a:latin typeface="Aptos" panose="020B0004020202020204" pitchFamily="34" charset="0"/>
              </a:rPr>
              <a:t>Gold answer: Composting</a:t>
            </a:r>
          </a:p>
        </p:txBody>
      </p:sp>
      <p:sp>
        <p:nvSpPr>
          <p:cNvPr id="42" name="CodexExtract intention full card">
            <a:extLst>
              <a:ext uri="{FF2B5EF4-FFF2-40B4-BE49-F238E27FC236}">
                <a16:creationId xmlns:a16="http://schemas.microsoft.com/office/drawing/2014/main" id="{C25E4419-6B3D-74ED-0552-DE2BECDB2D43}"/>
              </a:ext>
            </a:extLst>
          </p:cNvPr>
          <p:cNvSpPr/>
          <p:nvPr/>
        </p:nvSpPr>
        <p:spPr>
          <a:xfrm>
            <a:off x="508000" y="1752600"/>
            <a:ext cx="3937000" cy="3111500"/>
          </a:xfrm>
          <a:prstGeom prst="roundRect">
            <a:avLst/>
          </a:prstGeom>
          <a:solidFill>
            <a:srgbClr val="EEFAF7"/>
          </a:solidFill>
          <a:ln w="22860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dexExtract intention full title">
            <a:extLst>
              <a:ext uri="{FF2B5EF4-FFF2-40B4-BE49-F238E27FC236}">
                <a16:creationId xmlns:a16="http://schemas.microsoft.com/office/drawing/2014/main" id="{764004DE-4823-BEB8-577A-9D334CB86432}"/>
              </a:ext>
            </a:extLst>
          </p:cNvPr>
          <p:cNvSpPr/>
          <p:nvPr/>
        </p:nvSpPr>
        <p:spPr>
          <a:xfrm>
            <a:off x="635000" y="1854200"/>
            <a:ext cx="3683000" cy="355600"/>
          </a:xfrm>
          <a:prstGeom prst="roundRect">
            <a:avLst/>
          </a:prstGeom>
          <a:solidFill>
            <a:srgbClr val="EEFAF7"/>
          </a:solidFill>
          <a:ln w="14605">
            <a:solidFill>
              <a:srgbClr val="EE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300" b="1">
                <a:solidFill>
                  <a:srgbClr val="158069"/>
                </a:solidFill>
                <a:latin typeface="Aptos" panose="020B0004020202020204" pitchFamily="34" charset="0"/>
              </a:rPr>
              <a:t>FULL BANK: gold representation exists</a:t>
            </a:r>
          </a:p>
        </p:txBody>
      </p:sp>
      <p:sp>
        <p:nvSpPr>
          <p:cNvPr id="44" name="CodexExtract intention full subtitle">
            <a:extLst>
              <a:ext uri="{FF2B5EF4-FFF2-40B4-BE49-F238E27FC236}">
                <a16:creationId xmlns:a16="http://schemas.microsoft.com/office/drawing/2014/main" id="{839D6E22-E36D-C0F3-D96F-56667A1502E7}"/>
              </a:ext>
            </a:extLst>
          </p:cNvPr>
          <p:cNvSpPr/>
          <p:nvPr/>
        </p:nvSpPr>
        <p:spPr>
          <a:xfrm>
            <a:off x="635000" y="2184400"/>
            <a:ext cx="3683000" cy="304800"/>
          </a:xfrm>
          <a:prstGeom prst="roundRect">
            <a:avLst/>
          </a:prstGeom>
          <a:solidFill>
            <a:srgbClr val="EEFAF7"/>
          </a:solidFill>
          <a:ln w="14605">
            <a:solidFill>
              <a:srgbClr val="EE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>
                <a:solidFill>
                  <a:srgbClr val="3E4F5A"/>
                </a:solidFill>
                <a:latin typeface="Aptos" panose="020B0004020202020204" pitchFamily="34" charset="0"/>
              </a:rPr>
              <a:t>37 facts | 4 intention nodes | cited [1,2,3,9,11]</a:t>
            </a:r>
          </a:p>
        </p:txBody>
      </p:sp>
      <p:sp>
        <p:nvSpPr>
          <p:cNvPr id="45" name="CodexExtract intention node1">
            <a:extLst>
              <a:ext uri="{FF2B5EF4-FFF2-40B4-BE49-F238E27FC236}">
                <a16:creationId xmlns:a16="http://schemas.microsoft.com/office/drawing/2014/main" id="{38608E64-7F90-8725-5E02-CDCBDC5196E4}"/>
              </a:ext>
            </a:extLst>
          </p:cNvPr>
          <p:cNvSpPr/>
          <p:nvPr/>
        </p:nvSpPr>
        <p:spPr>
          <a:xfrm>
            <a:off x="762000" y="2489200"/>
            <a:ext cx="1600200" cy="533400"/>
          </a:xfrm>
          <a:prstGeom prst="roundRect">
            <a:avLst/>
          </a:prstGeom>
          <a:solidFill>
            <a:srgbClr val="BD1730"/>
          </a:solidFill>
          <a:ln w="14605">
            <a:solidFill>
              <a:srgbClr val="BD17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[intention] plans to start composting</a:t>
            </a:r>
          </a:p>
        </p:txBody>
      </p:sp>
      <p:sp>
        <p:nvSpPr>
          <p:cNvPr id="46" name="CodexExtract intention node2">
            <a:extLst>
              <a:ext uri="{FF2B5EF4-FFF2-40B4-BE49-F238E27FC236}">
                <a16:creationId xmlns:a16="http://schemas.microsoft.com/office/drawing/2014/main" id="{8339B1E8-6037-5D57-3322-263FF9C7483D}"/>
              </a:ext>
            </a:extLst>
          </p:cNvPr>
          <p:cNvSpPr/>
          <p:nvPr/>
        </p:nvSpPr>
        <p:spPr>
          <a:xfrm>
            <a:off x="2565400" y="2489200"/>
            <a:ext cx="1600200" cy="533400"/>
          </a:xfrm>
          <a:prstGeom prst="roundRect">
            <a:avLst/>
          </a:prstGeom>
          <a:solidFill>
            <a:srgbClr val="BD1730"/>
          </a:solidFill>
          <a:ln w="14605">
            <a:solidFill>
              <a:srgbClr val="BD17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[intention] kitchen scraps -&gt; reduce waste</a:t>
            </a:r>
          </a:p>
        </p:txBody>
      </p:sp>
      <p:cxnSp>
        <p:nvCxnSpPr>
          <p:cNvPr id="47" name="CodexExtract arrow">
            <a:extLst>
              <a:ext uri="{FF2B5EF4-FFF2-40B4-BE49-F238E27FC236}">
                <a16:creationId xmlns:a16="http://schemas.microsoft.com/office/drawing/2014/main" id="{70678AA7-6D45-0BBF-9706-AA8E910AF955}"/>
              </a:ext>
            </a:extLst>
          </p:cNvPr>
          <p:cNvCxnSpPr/>
          <p:nvPr/>
        </p:nvCxnSpPr>
        <p:spPr>
          <a:xfrm>
            <a:off x="2362200" y="2755900"/>
            <a:ext cx="203200" cy="0"/>
          </a:xfrm>
          <a:prstGeom prst="straightConnector1">
            <a:avLst/>
          </a:prstGeom>
          <a:ln w="25400">
            <a:solidFill>
              <a:srgbClr val="1580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dexExtract intention fact1">
            <a:extLst>
              <a:ext uri="{FF2B5EF4-FFF2-40B4-BE49-F238E27FC236}">
                <a16:creationId xmlns:a16="http://schemas.microsoft.com/office/drawing/2014/main" id="{E3BB0E13-AD62-AE34-9C10-2FA91480C8DA}"/>
              </a:ext>
            </a:extLst>
          </p:cNvPr>
          <p:cNvSpPr/>
          <p:nvPr/>
        </p:nvSpPr>
        <p:spPr>
          <a:xfrm>
            <a:off x="762000" y="3175000"/>
            <a:ext cx="34036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800">
                <a:solidFill>
                  <a:srgbClr val="174139"/>
                </a:solidFill>
                <a:latin typeface="Aptos" panose="020B0004020202020204" pitchFamily="34" charset="0"/>
              </a:rPr>
              <a:t>[1] keeps meaning to compost, but has not gotten around to it yet</a:t>
            </a:r>
          </a:p>
        </p:txBody>
      </p:sp>
      <p:sp>
        <p:nvSpPr>
          <p:cNvPr id="49" name="CodexExtract intention fact2">
            <a:extLst>
              <a:ext uri="{FF2B5EF4-FFF2-40B4-BE49-F238E27FC236}">
                <a16:creationId xmlns:a16="http://schemas.microsoft.com/office/drawing/2014/main" id="{04E6AECB-3570-248D-1E00-8AE1350A4A92}"/>
              </a:ext>
            </a:extLst>
          </p:cNvPr>
          <p:cNvSpPr/>
          <p:nvPr/>
        </p:nvSpPr>
        <p:spPr>
          <a:xfrm>
            <a:off x="762000" y="3708400"/>
            <a:ext cx="34036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800">
                <a:solidFill>
                  <a:srgbClr val="174139"/>
                </a:solidFill>
                <a:latin typeface="Aptos" panose="020B0004020202020204" pitchFamily="34" charset="0"/>
              </a:rPr>
              <a:t>[9][11] compostable trash bags = supporting evidence, not the answer itself</a:t>
            </a:r>
          </a:p>
        </p:txBody>
      </p:sp>
      <p:sp>
        <p:nvSpPr>
          <p:cNvPr id="50" name="CodexExtract intention answer">
            <a:extLst>
              <a:ext uri="{FF2B5EF4-FFF2-40B4-BE49-F238E27FC236}">
                <a16:creationId xmlns:a16="http://schemas.microsoft.com/office/drawing/2014/main" id="{49B3EEAF-E724-82CF-CA2D-9D14170F4251}"/>
              </a:ext>
            </a:extLst>
          </p:cNvPr>
          <p:cNvSpPr/>
          <p:nvPr/>
        </p:nvSpPr>
        <p:spPr>
          <a:xfrm>
            <a:off x="762000" y="4292600"/>
            <a:ext cx="3403600" cy="355600"/>
          </a:xfrm>
          <a:prstGeom prst="roundRect">
            <a:avLst/>
          </a:prstGeom>
          <a:solidFill>
            <a:srgbClr val="158069"/>
          </a:solidFill>
          <a:ln w="14605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Generated answer uses these cited nodes -&gt; Composting</a:t>
            </a:r>
          </a:p>
        </p:txBody>
      </p:sp>
      <p:sp>
        <p:nvSpPr>
          <p:cNvPr id="51" name="CodexExtract intention ablated card">
            <a:extLst>
              <a:ext uri="{FF2B5EF4-FFF2-40B4-BE49-F238E27FC236}">
                <a16:creationId xmlns:a16="http://schemas.microsoft.com/office/drawing/2014/main" id="{AEC606D9-14F5-62FA-EBEC-BD69E8D238FF}"/>
              </a:ext>
            </a:extLst>
          </p:cNvPr>
          <p:cNvSpPr/>
          <p:nvPr/>
        </p:nvSpPr>
        <p:spPr>
          <a:xfrm>
            <a:off x="4699000" y="1752600"/>
            <a:ext cx="3937000" cy="3111500"/>
          </a:xfrm>
          <a:prstGeom prst="roundRect">
            <a:avLst/>
          </a:prstGeom>
          <a:solidFill>
            <a:srgbClr val="FFF1F1"/>
          </a:solidFill>
          <a:ln w="22860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odexExtract intention ablated title">
            <a:extLst>
              <a:ext uri="{FF2B5EF4-FFF2-40B4-BE49-F238E27FC236}">
                <a16:creationId xmlns:a16="http://schemas.microsoft.com/office/drawing/2014/main" id="{85EE22BE-D500-F029-89C5-1D99CFDC9B92}"/>
              </a:ext>
            </a:extLst>
          </p:cNvPr>
          <p:cNvSpPr/>
          <p:nvPr/>
        </p:nvSpPr>
        <p:spPr>
          <a:xfrm>
            <a:off x="4826000" y="1854200"/>
            <a:ext cx="3683000" cy="355600"/>
          </a:xfrm>
          <a:prstGeom prst="roundRect">
            <a:avLst/>
          </a:prstGeom>
          <a:solidFill>
            <a:srgbClr val="FFF1F1"/>
          </a:solidFill>
          <a:ln w="14605">
            <a:solidFill>
              <a:srgbClr val="FFF1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300" b="1">
                <a:solidFill>
                  <a:srgbClr val="C43D3D"/>
                </a:solidFill>
                <a:latin typeface="Aptos" panose="020B0004020202020204" pitchFamily="34" charset="0"/>
              </a:rPr>
              <a:t>ABLATED BANK: gold representation removed</a:t>
            </a:r>
          </a:p>
        </p:txBody>
      </p:sp>
      <p:sp>
        <p:nvSpPr>
          <p:cNvPr id="53" name="CodexExtract intention ablated subtitle">
            <a:extLst>
              <a:ext uri="{FF2B5EF4-FFF2-40B4-BE49-F238E27FC236}">
                <a16:creationId xmlns:a16="http://schemas.microsoft.com/office/drawing/2014/main" id="{B51FACE3-683D-B59C-637D-929EC61DBFC2}"/>
              </a:ext>
            </a:extLst>
          </p:cNvPr>
          <p:cNvSpPr/>
          <p:nvPr/>
        </p:nvSpPr>
        <p:spPr>
          <a:xfrm>
            <a:off x="4826000" y="2184400"/>
            <a:ext cx="3683000" cy="304800"/>
          </a:xfrm>
          <a:prstGeom prst="roundRect">
            <a:avLst/>
          </a:prstGeom>
          <a:solidFill>
            <a:srgbClr val="FFF1F1"/>
          </a:solidFill>
          <a:ln w="14605">
            <a:solidFill>
              <a:srgbClr val="FFF1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>
                <a:solidFill>
                  <a:srgbClr val="3E4F5A"/>
                </a:solidFill>
                <a:latin typeface="Aptos" panose="020B0004020202020204" pitchFamily="34" charset="0"/>
              </a:rPr>
              <a:t>26 facts | 0 intention nodes | only decoy evidence remains</a:t>
            </a:r>
          </a:p>
        </p:txBody>
      </p:sp>
      <p:sp>
        <p:nvSpPr>
          <p:cNvPr id="54" name="CodexExtract missing intention">
            <a:extLst>
              <a:ext uri="{FF2B5EF4-FFF2-40B4-BE49-F238E27FC236}">
                <a16:creationId xmlns:a16="http://schemas.microsoft.com/office/drawing/2014/main" id="{27A1094C-1F63-52F5-36DD-BB4BFE13475A}"/>
              </a:ext>
            </a:extLst>
          </p:cNvPr>
          <p:cNvSpPr/>
          <p:nvPr/>
        </p:nvSpPr>
        <p:spPr>
          <a:xfrm>
            <a:off x="4953000" y="2489200"/>
            <a:ext cx="3403600" cy="533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732626"/>
                </a:solidFill>
                <a:latin typeface="Aptos" panose="020B0004020202020204" pitchFamily="34" charset="0"/>
              </a:rPr>
              <a:t>Missing component: no node says "plans to start composting"</a:t>
            </a:r>
          </a:p>
        </p:txBody>
      </p:sp>
      <p:sp>
        <p:nvSpPr>
          <p:cNvPr id="55" name="CodexExtract decoy node">
            <a:extLst>
              <a:ext uri="{FF2B5EF4-FFF2-40B4-BE49-F238E27FC236}">
                <a16:creationId xmlns:a16="http://schemas.microsoft.com/office/drawing/2014/main" id="{5DBA84C7-08E4-B75A-241E-CA99BD7EBB6D}"/>
              </a:ext>
            </a:extLst>
          </p:cNvPr>
          <p:cNvSpPr/>
          <p:nvPr/>
        </p:nvSpPr>
        <p:spPr>
          <a:xfrm>
            <a:off x="5867400" y="3175000"/>
            <a:ext cx="1600200" cy="533400"/>
          </a:xfrm>
          <a:prstGeom prst="roundRect">
            <a:avLst/>
          </a:prstGeom>
          <a:solidFill>
            <a:srgbClr val="277BB3"/>
          </a:solidFill>
          <a:ln w="14605">
            <a:solidFill>
              <a:srgbClr val="277B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[experience] rain barrel / rainwater garden</a:t>
            </a:r>
          </a:p>
        </p:txBody>
      </p:sp>
      <p:sp>
        <p:nvSpPr>
          <p:cNvPr id="56" name="CodexExtract decoy fact">
            <a:extLst>
              <a:ext uri="{FF2B5EF4-FFF2-40B4-BE49-F238E27FC236}">
                <a16:creationId xmlns:a16="http://schemas.microsoft.com/office/drawing/2014/main" id="{6FA70A3F-5F23-AD0B-EC3D-C1D7031F1A5E}"/>
              </a:ext>
            </a:extLst>
          </p:cNvPr>
          <p:cNvSpPr/>
          <p:nvPr/>
        </p:nvSpPr>
        <p:spPr>
          <a:xfrm>
            <a:off x="4953000" y="3873500"/>
            <a:ext cx="3403600" cy="5334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800">
                <a:solidFill>
                  <a:srgbClr val="732626"/>
                </a:solidFill>
                <a:latin typeface="Aptos" panose="020B0004020202020204" pitchFamily="34" charset="0"/>
              </a:rPr>
              <a:t>[5] started thinking about collecting rainwater; model answers the decoy topic</a:t>
            </a:r>
          </a:p>
        </p:txBody>
      </p:sp>
      <p:sp>
        <p:nvSpPr>
          <p:cNvPr id="57" name="CodexExtract intention lesson">
            <a:extLst>
              <a:ext uri="{FF2B5EF4-FFF2-40B4-BE49-F238E27FC236}">
                <a16:creationId xmlns:a16="http://schemas.microsoft.com/office/drawing/2014/main" id="{D4E49CBF-9855-F624-C3A4-D285FD0B4CC5}"/>
              </a:ext>
            </a:extLst>
          </p:cNvPr>
          <p:cNvSpPr/>
          <p:nvPr/>
        </p:nvSpPr>
        <p:spPr>
          <a:xfrm>
            <a:off x="736600" y="5029200"/>
            <a:ext cx="7670800" cy="457200"/>
          </a:xfrm>
          <a:prstGeom prst="roundRect">
            <a:avLst/>
          </a:prstGeom>
          <a:solidFill>
            <a:srgbClr val="F5F9FA"/>
          </a:solidFill>
          <a:ln w="14605">
            <a:solidFill>
              <a:srgbClr val="7082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22323C"/>
                </a:solidFill>
                <a:latin typeface="Aptos" panose="020B0004020202020204" pitchFamily="34" charset="0"/>
              </a:rPr>
              <a:t>Discrimination claim: the gold answer exists only as typed intention facts in this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TYPED MEMORY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Qualitative proof: action-effect stores tool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" y="1042415"/>
            <a:ext cx="771525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090" y="1225296"/>
            <a:ext cx="737235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7" b="1">
                <a:solidFill>
                  <a:srgbClr val="102A43"/>
                </a:solidFill>
                <a:latin typeface="Aptos"/>
              </a:defRPr>
            </a:pPr>
            <a:r>
              <a:t>Target question: When Stripe returns HTTP 429 with Retry-After, what does the agent do and what happens?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" y="1956816"/>
            <a:ext cx="3669030" cy="2907792"/>
          </a:xfrm>
          <a:prstGeom prst="roundRect">
            <a:avLst/>
          </a:prstGeom>
          <a:solidFill>
            <a:srgbClr val="F9F7FD"/>
          </a:solidFill>
          <a:ln w="13970">
            <a:solidFill>
              <a:srgbClr val="70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0090" y="2176272"/>
            <a:ext cx="1440180" cy="329184"/>
          </a:xfrm>
          <a:prstGeom prst="roundRect">
            <a:avLst/>
          </a:prstGeom>
          <a:solidFill>
            <a:srgbClr val="7050AA"/>
          </a:solidFill>
          <a:ln w="13970">
            <a:solidFill>
              <a:srgbClr val="70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7" b="1">
                <a:solidFill>
                  <a:srgbClr val="FFFFFF"/>
                </a:solidFill>
                <a:latin typeface="Aptos"/>
              </a:defRPr>
            </a:pPr>
            <a:r>
              <a:t>Full memory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3140" y="2212848"/>
            <a:ext cx="168021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5" b="1">
                <a:solidFill>
                  <a:srgbClr val="102A43"/>
                </a:solidFill>
                <a:latin typeface="Aptos"/>
              </a:defRPr>
            </a:pPr>
            <a:r>
              <a:t>13 facts, including 7 action-effect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2852928"/>
            <a:ext cx="925830" cy="530352"/>
          </a:xfrm>
          <a:prstGeom prst="roundRect">
            <a:avLst/>
          </a:prstGeom>
          <a:solidFill>
            <a:srgbClr val="2466B3"/>
          </a:solidFill>
          <a:ln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HTTP 429</a:t>
            </a:r>
            <a:br/>
            <a:r>
              <a:t>Retry-After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852928"/>
            <a:ext cx="809244" cy="530352"/>
          </a:xfrm>
          <a:prstGeom prst="roundRect">
            <a:avLst/>
          </a:prstGeom>
          <a:solidFill>
            <a:srgbClr val="7050AA"/>
          </a:solidFill>
          <a:ln>
            <a:solidFill>
              <a:srgbClr val="70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sleep +</a:t>
            </a:r>
            <a:br/>
            <a:r>
              <a:t>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3230" y="2852928"/>
            <a:ext cx="720090" cy="530352"/>
          </a:xfrm>
          <a:prstGeom prst="roundRect">
            <a:avLst/>
          </a:prstGeom>
          <a:solidFill>
            <a:srgbClr val="55802C"/>
          </a:solidFill>
          <a:ln>
            <a:solidFill>
              <a:srgbClr val="558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returns</a:t>
            </a:r>
            <a:br/>
            <a:r>
              <a:t>200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66494" y="3118104"/>
            <a:ext cx="253746" cy="0"/>
          </a:xfrm>
          <a:prstGeom prst="line">
            <a:avLst/>
          </a:prstGeom>
          <a:ln w="19050">
            <a:solidFill>
              <a:srgbClr val="70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29484" y="3118104"/>
            <a:ext cx="253746" cy="0"/>
          </a:xfrm>
          <a:prstGeom prst="line">
            <a:avLst/>
          </a:prstGeom>
          <a:ln w="19050">
            <a:solidFill>
              <a:srgbClr val="70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8096" y="3822191"/>
            <a:ext cx="3257550" cy="457200"/>
          </a:xfrm>
          <a:prstGeom prst="roundRect">
            <a:avLst/>
          </a:prstGeom>
          <a:solidFill>
            <a:srgbClr val="DB911C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2" b="1">
                <a:solidFill>
                  <a:srgbClr val="FFFFFF"/>
                </a:solidFill>
                <a:latin typeface="Aptos"/>
              </a:defRPr>
            </a:pPr>
            <a:r>
              <a:t>Answer: backoff respects Retry-After; later calls succeed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425696"/>
            <a:ext cx="318897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2" b="0">
                <a:solidFill>
                  <a:srgbClr val="24303E"/>
                </a:solidFill>
                <a:latin typeface="Aptos"/>
              </a:defRPr>
            </a:pPr>
            <a:r>
              <a:t>The causal triple is available: precondition -&gt; action -&gt; outcome.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4860" y="1956816"/>
            <a:ext cx="3669030" cy="2907792"/>
          </a:xfrm>
          <a:prstGeom prst="roundRect">
            <a:avLst/>
          </a:prstGeom>
          <a:solidFill>
            <a:srgbClr val="FFF8F8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73168" y="2176272"/>
            <a:ext cx="1975104" cy="329184"/>
          </a:xfrm>
          <a:prstGeom prst="roundRect">
            <a:avLst/>
          </a:prstGeom>
          <a:solidFill>
            <a:srgbClr val="CA4343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74" b="1">
                <a:solidFill>
                  <a:srgbClr val="FFFFFF"/>
                </a:solidFill>
                <a:latin typeface="Aptos"/>
              </a:defRPr>
            </a:pPr>
            <a:r>
              <a:t>Action-effect-ablated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2212848"/>
            <a:ext cx="106299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8" b="1">
                <a:solidFill>
                  <a:srgbClr val="102A43"/>
                </a:solidFill>
                <a:latin typeface="Aptos"/>
              </a:defRPr>
            </a:pPr>
            <a:r>
              <a:t>12 facts, 0 action-effect nodes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34890" y="2834640"/>
            <a:ext cx="809244" cy="530352"/>
          </a:xfrm>
          <a:prstGeom prst="roundRect">
            <a:avLst/>
          </a:prstGeom>
          <a:solidFill>
            <a:srgbClr val="2466B3"/>
          </a:solidFill>
          <a:ln>
            <a:solidFill>
              <a:srgbClr val="24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429 has</a:t>
            </a:r>
            <a:br/>
            <a:r>
              <a:t>header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1596" y="2834640"/>
            <a:ext cx="768096" cy="530352"/>
          </a:xfrm>
          <a:prstGeom prst="roundRect">
            <a:avLst/>
          </a:prstGeom>
          <a:solidFill>
            <a:srgbClr val="108080"/>
          </a:solidFill>
          <a:ln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backoff</a:t>
            </a:r>
            <a:br/>
            <a:r>
              <a:t>added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92290" y="2834640"/>
            <a:ext cx="836676" cy="530352"/>
          </a:xfrm>
          <a:prstGeom prst="roundRect">
            <a:avLst/>
          </a:prstGeom>
          <a:solidFill>
            <a:srgbClr val="CA4343"/>
          </a:solidFill>
          <a:ln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39" b="1">
                <a:solidFill>
                  <a:srgbClr val="FFFFFF"/>
                </a:solidFill>
                <a:latin typeface="Aptos"/>
              </a:defRPr>
            </a:pPr>
            <a:r>
              <a:t>specific</a:t>
            </a:r>
            <a:br/>
            <a:r>
              <a:t>sleep rule?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44134" y="3099816"/>
            <a:ext cx="267462" cy="0"/>
          </a:xfrm>
          <a:prstGeom prst="line">
            <a:avLst/>
          </a:prstGeom>
          <a:ln w="1270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79692" y="3099816"/>
            <a:ext cx="212598" cy="0"/>
          </a:xfrm>
          <a:prstGeom prst="line">
            <a:avLst/>
          </a:prstGeom>
          <a:ln w="1270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40630" y="3822191"/>
            <a:ext cx="2434590" cy="457200"/>
          </a:xfrm>
          <a:prstGeom prst="roundRect">
            <a:avLst/>
          </a:prstGeom>
          <a:solidFill>
            <a:srgbClr val="CA4343"/>
          </a:solidFill>
          <a:ln w="13970">
            <a:solidFill>
              <a:srgbClr val="CA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6" b="1">
                <a:solidFill>
                  <a:srgbClr val="FFFFFF"/>
                </a:solidFill>
                <a:latin typeface="Aptos"/>
              </a:defRPr>
            </a:pPr>
            <a:r>
              <a:t>Answer hedges: specifics not documented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4316" y="4425696"/>
            <a:ext cx="318897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2" b="0">
                <a:solidFill>
                  <a:srgbClr val="24303E"/>
                </a:solidFill>
                <a:latin typeface="Aptos"/>
              </a:defRPr>
            </a:pPr>
            <a:r>
              <a:t>Recall is not empty; the missing type removes the exact action-result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510" y="5248656"/>
            <a:ext cx="7509510" cy="768096"/>
          </a:xfrm>
          <a:prstGeom prst="roundRect">
            <a:avLst/>
          </a:prstGeom>
          <a:solidFill>
            <a:srgbClr val="FFFCF4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449824"/>
            <a:ext cx="716661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A43"/>
                </a:solidFill>
                <a:latin typeface="Aptos"/>
              </a:defRPr>
            </a:pPr>
            <a:r>
              <a:t>Interpretation: action-effect cleanly discriminates in 5/12 mocked agentic traces. This is conditional evidence, not a universal claim.</a:t>
            </a:r>
          </a:p>
        </p:txBody>
      </p:sp>
      <p:sp>
        <p:nvSpPr>
          <p:cNvPr id="31" name="CodexViz white body cover">
            <a:extLst>
              <a:ext uri="{FF2B5EF4-FFF2-40B4-BE49-F238E27FC236}">
                <a16:creationId xmlns:a16="http://schemas.microsoft.com/office/drawing/2014/main" id="{097C82B1-2B3A-9DCF-E45C-9792C4CE66D5}"/>
              </a:ext>
            </a:extLst>
          </p:cNvPr>
          <p:cNvSpPr/>
          <p:nvPr/>
        </p:nvSpPr>
        <p:spPr>
          <a:xfrm>
            <a:off x="317500" y="965200"/>
            <a:ext cx="8509000" cy="546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CodexViz action-effect graph screenshot">
            <a:extLst>
              <a:ext uri="{FF2B5EF4-FFF2-40B4-BE49-F238E27FC236}">
                <a16:creationId xmlns:a16="http://schemas.microsoft.com/office/drawing/2014/main" id="{D97028E9-EE54-B1E5-CF8B-E79B8852A942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320799"/>
            <a:ext cx="8331200" cy="4686300"/>
          </a:xfrm>
        </p:spPr>
      </p:pic>
      <p:sp>
        <p:nvSpPr>
          <p:cNvPr id="34" name="Hình chữ nhật: Góc Tròn 33">
            <a:extLst>
              <a:ext uri="{FF2B5EF4-FFF2-40B4-BE49-F238E27FC236}">
                <a16:creationId xmlns:a16="http://schemas.microsoft.com/office/drawing/2014/main" id="{1922D6AF-2C82-A8D2-8D41-25E86F410113}"/>
              </a:ext>
            </a:extLst>
          </p:cNvPr>
          <p:cNvSpPr/>
          <p:nvPr/>
        </p:nvSpPr>
        <p:spPr>
          <a:xfrm>
            <a:off x="533400" y="1752600"/>
            <a:ext cx="3873500" cy="3073400"/>
          </a:xfrm>
          <a:prstGeom prst="roundRect">
            <a:avLst/>
          </a:prstGeom>
          <a:noFill/>
          <a:ln w="38100" cap="flat" cmpd="sng" algn="ctr">
            <a:solidFill>
              <a:srgbClr val="269B7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Hình chữ nhật: Góc Tròn 34">
            <a:extLst>
              <a:ext uri="{FF2B5EF4-FFF2-40B4-BE49-F238E27FC236}">
                <a16:creationId xmlns:a16="http://schemas.microsoft.com/office/drawing/2014/main" id="{1E981931-04B8-DDB7-FA21-00B498D9F242}"/>
              </a:ext>
            </a:extLst>
          </p:cNvPr>
          <p:cNvSpPr/>
          <p:nvPr/>
        </p:nvSpPr>
        <p:spPr>
          <a:xfrm>
            <a:off x="4749800" y="1752600"/>
            <a:ext cx="3873500" cy="3073400"/>
          </a:xfrm>
          <a:prstGeom prst="roundRect">
            <a:avLst/>
          </a:prstGeom>
          <a:noFill/>
          <a:ln w="38100" cap="flat" cmpd="sng" algn="ctr">
            <a:solidFill>
              <a:srgbClr val="CC404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Hình chữ nhật: Góc Tròn 35">
            <a:extLst>
              <a:ext uri="{FF2B5EF4-FFF2-40B4-BE49-F238E27FC236}">
                <a16:creationId xmlns:a16="http://schemas.microsoft.com/office/drawing/2014/main" id="{D888D5D9-C333-D3E9-8856-4DE5234AE4B0}"/>
              </a:ext>
            </a:extLst>
          </p:cNvPr>
          <p:cNvSpPr/>
          <p:nvPr/>
        </p:nvSpPr>
        <p:spPr>
          <a:xfrm>
            <a:off x="609600" y="1092200"/>
            <a:ext cx="3835400" cy="457200"/>
          </a:xfrm>
          <a:prstGeom prst="roundRect">
            <a:avLst/>
          </a:prstGeom>
          <a:solidFill>
            <a:srgbClr val="EBFAF6"/>
          </a:solidFill>
          <a:ln w="15875">
            <a:solidFill>
              <a:srgbClr val="269B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100" b="1">
                <a:solidFill>
                  <a:srgbClr val="0E5243"/>
                </a:solidFill>
                <a:latin typeface="Aptos" panose="020B0004020202020204" pitchFamily="34" charset="0"/>
              </a:rPr>
              <a:t>Full bank: action-effect stores cause -&gt; action -&gt; outcome</a:t>
            </a:r>
          </a:p>
        </p:txBody>
      </p:sp>
      <p:sp>
        <p:nvSpPr>
          <p:cNvPr id="37" name="Hình chữ nhật: Góc Tròn 36">
            <a:extLst>
              <a:ext uri="{FF2B5EF4-FFF2-40B4-BE49-F238E27FC236}">
                <a16:creationId xmlns:a16="http://schemas.microsoft.com/office/drawing/2014/main" id="{37D11C7C-D885-7C7B-FA5C-4EB047C7F53E}"/>
              </a:ext>
            </a:extLst>
          </p:cNvPr>
          <p:cNvSpPr/>
          <p:nvPr/>
        </p:nvSpPr>
        <p:spPr>
          <a:xfrm>
            <a:off x="4851400" y="1092200"/>
            <a:ext cx="3683000" cy="457200"/>
          </a:xfrm>
          <a:prstGeom prst="roundRect">
            <a:avLst/>
          </a:prstGeom>
          <a:solidFill>
            <a:srgbClr val="FFEEEE"/>
          </a:solidFill>
          <a:ln w="15875">
            <a:solidFill>
              <a:srgbClr val="CC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200" b="1">
                <a:solidFill>
                  <a:srgbClr val="7E2323"/>
                </a:solidFill>
                <a:latin typeface="Aptos" panose="020B0004020202020204" pitchFamily="34" charset="0"/>
              </a:rPr>
              <a:t>Ablated: exact causal triple disappears</a:t>
            </a:r>
          </a:p>
        </p:txBody>
      </p: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4DC8A063-31B4-7F79-8567-FBC2541253E8}"/>
              </a:ext>
            </a:extLst>
          </p:cNvPr>
          <p:cNvCxnSpPr/>
          <p:nvPr/>
        </p:nvCxnSpPr>
        <p:spPr>
          <a:xfrm>
            <a:off x="2540000" y="1562100"/>
            <a:ext cx="0" cy="393700"/>
          </a:xfrm>
          <a:prstGeom prst="straightConnector1">
            <a:avLst/>
          </a:prstGeom>
          <a:ln w="25400">
            <a:solidFill>
              <a:srgbClr val="269B7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226A1E9A-4B58-92C8-A118-6A486528D07B}"/>
              </a:ext>
            </a:extLst>
          </p:cNvPr>
          <p:cNvCxnSpPr/>
          <p:nvPr/>
        </p:nvCxnSpPr>
        <p:spPr>
          <a:xfrm>
            <a:off x="6731000" y="1562100"/>
            <a:ext cx="0" cy="393700"/>
          </a:xfrm>
          <a:prstGeom prst="straightConnector1">
            <a:avLst/>
          </a:prstGeom>
          <a:ln w="25400">
            <a:solidFill>
              <a:srgbClr val="CC404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dexExtract body cover">
            <a:extLst>
              <a:ext uri="{FF2B5EF4-FFF2-40B4-BE49-F238E27FC236}">
                <a16:creationId xmlns:a16="http://schemas.microsoft.com/office/drawing/2014/main" id="{46527E8B-03B0-3C2E-C2FF-B3A3F9430EA1}"/>
              </a:ext>
            </a:extLst>
          </p:cNvPr>
          <p:cNvSpPr/>
          <p:nvPr/>
        </p:nvSpPr>
        <p:spPr>
          <a:xfrm>
            <a:off x="317500" y="965200"/>
            <a:ext cx="8509000" cy="546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dexExtract question">
            <a:extLst>
              <a:ext uri="{FF2B5EF4-FFF2-40B4-BE49-F238E27FC236}">
                <a16:creationId xmlns:a16="http://schemas.microsoft.com/office/drawing/2014/main" id="{CBAEB728-1282-5263-60C6-1C2278D5C2D6}"/>
              </a:ext>
            </a:extLst>
          </p:cNvPr>
          <p:cNvSpPr/>
          <p:nvPr/>
        </p:nvSpPr>
        <p:spPr>
          <a:xfrm>
            <a:off x="508000" y="1092200"/>
            <a:ext cx="5613400" cy="508000"/>
          </a:xfrm>
          <a:prstGeom prst="roundRect">
            <a:avLst/>
          </a:prstGeom>
          <a:solidFill>
            <a:srgbClr val="F6F9FA"/>
          </a:solidFill>
          <a:ln w="14605">
            <a:solidFill>
              <a:srgbClr val="8597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000">
                <a:solidFill>
                  <a:srgbClr val="20323E"/>
                </a:solidFill>
                <a:latin typeface="Aptos" panose="020B0004020202020204" pitchFamily="34" charset="0"/>
              </a:rPr>
              <a:t>Question: What does the agent do when Stripe returns HTTP 429 + Retry-After?</a:t>
            </a:r>
          </a:p>
        </p:txBody>
      </p:sp>
      <p:sp>
        <p:nvSpPr>
          <p:cNvPr id="41" name="CodexExtract gold">
            <a:extLst>
              <a:ext uri="{FF2B5EF4-FFF2-40B4-BE49-F238E27FC236}">
                <a16:creationId xmlns:a16="http://schemas.microsoft.com/office/drawing/2014/main" id="{47AF75B2-E531-15FF-143B-E72E915CF105}"/>
              </a:ext>
            </a:extLst>
          </p:cNvPr>
          <p:cNvSpPr/>
          <p:nvPr/>
        </p:nvSpPr>
        <p:spPr>
          <a:xfrm>
            <a:off x="6248400" y="1092200"/>
            <a:ext cx="2387600" cy="508000"/>
          </a:xfrm>
          <a:prstGeom prst="roundRect">
            <a:avLst/>
          </a:prstGeom>
          <a:solidFill>
            <a:srgbClr val="FFF7DC"/>
          </a:solidFill>
          <a:ln w="14605">
            <a:solidFill>
              <a:srgbClr val="E29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5B3700"/>
                </a:solidFill>
                <a:latin typeface="Aptos" panose="020B0004020202020204" pitchFamily="34" charset="0"/>
              </a:rPr>
              <a:t>Gold: backoff, sleep, then 200</a:t>
            </a:r>
          </a:p>
        </p:txBody>
      </p:sp>
      <p:sp>
        <p:nvSpPr>
          <p:cNvPr id="42" name="CodexExtract ae full card">
            <a:extLst>
              <a:ext uri="{FF2B5EF4-FFF2-40B4-BE49-F238E27FC236}">
                <a16:creationId xmlns:a16="http://schemas.microsoft.com/office/drawing/2014/main" id="{2F67160A-5D9F-7611-6DEF-C21F5A1311ED}"/>
              </a:ext>
            </a:extLst>
          </p:cNvPr>
          <p:cNvSpPr/>
          <p:nvPr/>
        </p:nvSpPr>
        <p:spPr>
          <a:xfrm>
            <a:off x="508000" y="1752600"/>
            <a:ext cx="3937000" cy="3111500"/>
          </a:xfrm>
          <a:prstGeom prst="roundRect">
            <a:avLst/>
          </a:prstGeom>
          <a:solidFill>
            <a:srgbClr val="EEFAF7"/>
          </a:solidFill>
          <a:ln w="22860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dexExtract ae full title">
            <a:extLst>
              <a:ext uri="{FF2B5EF4-FFF2-40B4-BE49-F238E27FC236}">
                <a16:creationId xmlns:a16="http://schemas.microsoft.com/office/drawing/2014/main" id="{86BCDA9B-E8BA-6E6B-BE5A-061921A9CFB7}"/>
              </a:ext>
            </a:extLst>
          </p:cNvPr>
          <p:cNvSpPr/>
          <p:nvPr/>
        </p:nvSpPr>
        <p:spPr>
          <a:xfrm>
            <a:off x="635000" y="1854200"/>
            <a:ext cx="3683000" cy="355600"/>
          </a:xfrm>
          <a:prstGeom prst="roundRect">
            <a:avLst/>
          </a:prstGeom>
          <a:solidFill>
            <a:srgbClr val="EEFAF7"/>
          </a:solidFill>
          <a:ln w="14605">
            <a:solidFill>
              <a:srgbClr val="EE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300" b="1">
                <a:solidFill>
                  <a:srgbClr val="158069"/>
                </a:solidFill>
                <a:latin typeface="Aptos" panose="020B0004020202020204" pitchFamily="34" charset="0"/>
              </a:rPr>
              <a:t>FULL BANK: causal triple is explicit</a:t>
            </a:r>
          </a:p>
        </p:txBody>
      </p:sp>
      <p:sp>
        <p:nvSpPr>
          <p:cNvPr id="44" name="CodexExtract ae full subtitle">
            <a:extLst>
              <a:ext uri="{FF2B5EF4-FFF2-40B4-BE49-F238E27FC236}">
                <a16:creationId xmlns:a16="http://schemas.microsoft.com/office/drawing/2014/main" id="{179711E2-947D-FE46-3A7F-CA154D69261F}"/>
              </a:ext>
            </a:extLst>
          </p:cNvPr>
          <p:cNvSpPr/>
          <p:nvPr/>
        </p:nvSpPr>
        <p:spPr>
          <a:xfrm>
            <a:off x="635000" y="2184400"/>
            <a:ext cx="3683000" cy="304800"/>
          </a:xfrm>
          <a:prstGeom prst="roundRect">
            <a:avLst/>
          </a:prstGeom>
          <a:solidFill>
            <a:srgbClr val="EEFAF7"/>
          </a:solidFill>
          <a:ln w="14605">
            <a:solidFill>
              <a:srgbClr val="EEF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>
                <a:solidFill>
                  <a:srgbClr val="3E4F5A"/>
                </a:solidFill>
                <a:latin typeface="Aptos" panose="020B0004020202020204" pitchFamily="34" charset="0"/>
              </a:rPr>
              <a:t>13 facts | 7 action_effect nodes | cited [1,2,3,9]</a:t>
            </a:r>
          </a:p>
        </p:txBody>
      </p:sp>
      <p:sp>
        <p:nvSpPr>
          <p:cNvPr id="45" name="CodexExtract ae pre">
            <a:extLst>
              <a:ext uri="{FF2B5EF4-FFF2-40B4-BE49-F238E27FC236}">
                <a16:creationId xmlns:a16="http://schemas.microsoft.com/office/drawing/2014/main" id="{B321623E-A638-6EDF-31D6-772F1E80CBBE}"/>
              </a:ext>
            </a:extLst>
          </p:cNvPr>
          <p:cNvSpPr/>
          <p:nvPr/>
        </p:nvSpPr>
        <p:spPr>
          <a:xfrm>
            <a:off x="736600" y="2489200"/>
            <a:ext cx="1092200" cy="660400"/>
          </a:xfrm>
          <a:prstGeom prst="roundRect">
            <a:avLst/>
          </a:prstGeom>
          <a:solidFill>
            <a:srgbClr val="7544BA"/>
          </a:solidFill>
          <a:ln w="14605">
            <a:solidFill>
              <a:srgbClr val="754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precondition: HTTP 429 + Retry-After ignored</a:t>
            </a:r>
          </a:p>
        </p:txBody>
      </p:sp>
      <p:sp>
        <p:nvSpPr>
          <p:cNvPr id="46" name="CodexExtract ae act">
            <a:extLst>
              <a:ext uri="{FF2B5EF4-FFF2-40B4-BE49-F238E27FC236}">
                <a16:creationId xmlns:a16="http://schemas.microsoft.com/office/drawing/2014/main" id="{446A1292-53C6-6FAF-9EF4-53CF1B41BC2C}"/>
              </a:ext>
            </a:extLst>
          </p:cNvPr>
          <p:cNvSpPr/>
          <p:nvPr/>
        </p:nvSpPr>
        <p:spPr>
          <a:xfrm>
            <a:off x="1930400" y="2489200"/>
            <a:ext cx="1092200" cy="660400"/>
          </a:xfrm>
          <a:prstGeom prst="roundRect">
            <a:avLst/>
          </a:prstGeom>
          <a:solidFill>
            <a:srgbClr val="7544BA"/>
          </a:solidFill>
          <a:ln w="14605">
            <a:solidFill>
              <a:srgbClr val="754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action: respect Retry-After + exponential backoff</a:t>
            </a:r>
          </a:p>
        </p:txBody>
      </p:sp>
      <p:sp>
        <p:nvSpPr>
          <p:cNvPr id="47" name="CodexExtract ae out">
            <a:extLst>
              <a:ext uri="{FF2B5EF4-FFF2-40B4-BE49-F238E27FC236}">
                <a16:creationId xmlns:a16="http://schemas.microsoft.com/office/drawing/2014/main" id="{C9E69C37-B811-133D-33A6-56C49C46584D}"/>
              </a:ext>
            </a:extLst>
          </p:cNvPr>
          <p:cNvSpPr/>
          <p:nvPr/>
        </p:nvSpPr>
        <p:spPr>
          <a:xfrm>
            <a:off x="3124200" y="2489200"/>
            <a:ext cx="1092200" cy="660400"/>
          </a:xfrm>
          <a:prstGeom prst="roundRect">
            <a:avLst/>
          </a:prstGeom>
          <a:solidFill>
            <a:srgbClr val="7544BA"/>
          </a:solidFill>
          <a:ln w="14605">
            <a:solidFill>
              <a:srgbClr val="7544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outcome: subsequent calls return 200</a:t>
            </a:r>
          </a:p>
        </p:txBody>
      </p:sp>
      <p:cxnSp>
        <p:nvCxnSpPr>
          <p:cNvPr id="48" name="CodexExtract arrow">
            <a:extLst>
              <a:ext uri="{FF2B5EF4-FFF2-40B4-BE49-F238E27FC236}">
                <a16:creationId xmlns:a16="http://schemas.microsoft.com/office/drawing/2014/main" id="{8264B12A-859B-5904-E359-32DD8C066A38}"/>
              </a:ext>
            </a:extLst>
          </p:cNvPr>
          <p:cNvCxnSpPr/>
          <p:nvPr/>
        </p:nvCxnSpPr>
        <p:spPr>
          <a:xfrm>
            <a:off x="1828800" y="2819400"/>
            <a:ext cx="101600" cy="0"/>
          </a:xfrm>
          <a:prstGeom prst="straightConnector1">
            <a:avLst/>
          </a:prstGeom>
          <a:ln w="25400">
            <a:solidFill>
              <a:srgbClr val="1580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dexExtract arrow">
            <a:extLst>
              <a:ext uri="{FF2B5EF4-FFF2-40B4-BE49-F238E27FC236}">
                <a16:creationId xmlns:a16="http://schemas.microsoft.com/office/drawing/2014/main" id="{8FCD5F81-3935-816E-158C-D0BC97AACC0C}"/>
              </a:ext>
            </a:extLst>
          </p:cNvPr>
          <p:cNvCxnSpPr/>
          <p:nvPr/>
        </p:nvCxnSpPr>
        <p:spPr>
          <a:xfrm>
            <a:off x="3022600" y="2819400"/>
            <a:ext cx="101600" cy="0"/>
          </a:xfrm>
          <a:prstGeom prst="straightConnector1">
            <a:avLst/>
          </a:prstGeom>
          <a:ln w="25400">
            <a:solidFill>
              <a:srgbClr val="1580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dexExtract ae fact1">
            <a:extLst>
              <a:ext uri="{FF2B5EF4-FFF2-40B4-BE49-F238E27FC236}">
                <a16:creationId xmlns:a16="http://schemas.microsoft.com/office/drawing/2014/main" id="{DFBF4A17-4DD2-0213-187C-F55774F2D0A7}"/>
              </a:ext>
            </a:extLst>
          </p:cNvPr>
          <p:cNvSpPr/>
          <p:nvPr/>
        </p:nvSpPr>
        <p:spPr>
          <a:xfrm>
            <a:off x="762000" y="3352800"/>
            <a:ext cx="34036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800">
                <a:solidFill>
                  <a:srgbClr val="174139"/>
                </a:solidFill>
                <a:latin typeface="Aptos" panose="020B0004020202020204" pitchFamily="34" charset="0"/>
              </a:rPr>
              <a:t>[2] Added Retry-After handling eliminated 429s</a:t>
            </a:r>
          </a:p>
        </p:txBody>
      </p:sp>
      <p:sp>
        <p:nvSpPr>
          <p:cNvPr id="51" name="CodexExtract ae fact2">
            <a:extLst>
              <a:ext uri="{FF2B5EF4-FFF2-40B4-BE49-F238E27FC236}">
                <a16:creationId xmlns:a16="http://schemas.microsoft.com/office/drawing/2014/main" id="{1F5443D3-8F54-6FB3-AE38-4379ECBCA9FE}"/>
              </a:ext>
            </a:extLst>
          </p:cNvPr>
          <p:cNvSpPr/>
          <p:nvPr/>
        </p:nvSpPr>
        <p:spPr>
          <a:xfrm>
            <a:off x="762000" y="3810000"/>
            <a:ext cx="3403600" cy="3810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800">
                <a:solidFill>
                  <a:srgbClr val="174139"/>
                </a:solidFill>
                <a:latin typeface="Aptos" panose="020B0004020202020204" pitchFamily="34" charset="0"/>
              </a:rPr>
              <a:t>[3] Naive retry without honoring Retry-After caused script exit</a:t>
            </a:r>
          </a:p>
        </p:txBody>
      </p:sp>
      <p:sp>
        <p:nvSpPr>
          <p:cNvPr id="52" name="CodexExtract ae answer">
            <a:extLst>
              <a:ext uri="{FF2B5EF4-FFF2-40B4-BE49-F238E27FC236}">
                <a16:creationId xmlns:a16="http://schemas.microsoft.com/office/drawing/2014/main" id="{A187DC15-61EE-3322-DA26-375D892BDB28}"/>
              </a:ext>
            </a:extLst>
          </p:cNvPr>
          <p:cNvSpPr/>
          <p:nvPr/>
        </p:nvSpPr>
        <p:spPr>
          <a:xfrm>
            <a:off x="762000" y="4292600"/>
            <a:ext cx="3403600" cy="355600"/>
          </a:xfrm>
          <a:prstGeom prst="roundRect">
            <a:avLst/>
          </a:prstGeom>
          <a:solidFill>
            <a:srgbClr val="158069"/>
          </a:solidFill>
          <a:ln w="14605">
            <a:solidFill>
              <a:srgbClr val="1580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Generated answer can state both behavior and result.</a:t>
            </a:r>
          </a:p>
        </p:txBody>
      </p:sp>
      <p:sp>
        <p:nvSpPr>
          <p:cNvPr id="53" name="CodexExtract ae ablated card">
            <a:extLst>
              <a:ext uri="{FF2B5EF4-FFF2-40B4-BE49-F238E27FC236}">
                <a16:creationId xmlns:a16="http://schemas.microsoft.com/office/drawing/2014/main" id="{AFEE86F6-1D3E-D81F-3897-F66EF482306D}"/>
              </a:ext>
            </a:extLst>
          </p:cNvPr>
          <p:cNvSpPr/>
          <p:nvPr/>
        </p:nvSpPr>
        <p:spPr>
          <a:xfrm>
            <a:off x="4699000" y="1752600"/>
            <a:ext cx="3937000" cy="3111500"/>
          </a:xfrm>
          <a:prstGeom prst="roundRect">
            <a:avLst/>
          </a:prstGeom>
          <a:solidFill>
            <a:srgbClr val="FFF1F1"/>
          </a:solidFill>
          <a:ln w="22860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odexExtract ae ablated title">
            <a:extLst>
              <a:ext uri="{FF2B5EF4-FFF2-40B4-BE49-F238E27FC236}">
                <a16:creationId xmlns:a16="http://schemas.microsoft.com/office/drawing/2014/main" id="{44CCCC58-BC3D-739E-B54C-5FE53329A831}"/>
              </a:ext>
            </a:extLst>
          </p:cNvPr>
          <p:cNvSpPr/>
          <p:nvPr/>
        </p:nvSpPr>
        <p:spPr>
          <a:xfrm>
            <a:off x="4826000" y="1854200"/>
            <a:ext cx="3683000" cy="355600"/>
          </a:xfrm>
          <a:prstGeom prst="roundRect">
            <a:avLst/>
          </a:prstGeom>
          <a:solidFill>
            <a:srgbClr val="FFF1F1"/>
          </a:solidFill>
          <a:ln w="14605">
            <a:solidFill>
              <a:srgbClr val="FFF1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300" b="1">
                <a:solidFill>
                  <a:srgbClr val="C43D3D"/>
                </a:solidFill>
                <a:latin typeface="Aptos" panose="020B0004020202020204" pitchFamily="34" charset="0"/>
              </a:rPr>
              <a:t>ABLATED BANK: causal bridge is missing</a:t>
            </a:r>
          </a:p>
        </p:txBody>
      </p:sp>
      <p:sp>
        <p:nvSpPr>
          <p:cNvPr id="55" name="CodexExtract ae ablated subtitle">
            <a:extLst>
              <a:ext uri="{FF2B5EF4-FFF2-40B4-BE49-F238E27FC236}">
                <a16:creationId xmlns:a16="http://schemas.microsoft.com/office/drawing/2014/main" id="{4A37FCC5-D640-D45C-5890-2ADF0BEF759B}"/>
              </a:ext>
            </a:extLst>
          </p:cNvPr>
          <p:cNvSpPr/>
          <p:nvPr/>
        </p:nvSpPr>
        <p:spPr>
          <a:xfrm>
            <a:off x="4826000" y="2184400"/>
            <a:ext cx="3683000" cy="304800"/>
          </a:xfrm>
          <a:prstGeom prst="roundRect">
            <a:avLst/>
          </a:prstGeom>
          <a:solidFill>
            <a:srgbClr val="FFF1F1"/>
          </a:solidFill>
          <a:ln w="14605">
            <a:solidFill>
              <a:srgbClr val="FFF1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>
                <a:solidFill>
                  <a:srgbClr val="3E4F5A"/>
                </a:solidFill>
                <a:latin typeface="Aptos" panose="020B0004020202020204" pitchFamily="34" charset="0"/>
              </a:rPr>
              <a:t>12 facts | 0 action_effect nodes | recall is non-empty but incomplete</a:t>
            </a:r>
          </a:p>
        </p:txBody>
      </p:sp>
      <p:sp>
        <p:nvSpPr>
          <p:cNvPr id="56" name="CodexExtract ae ablated1">
            <a:extLst>
              <a:ext uri="{FF2B5EF4-FFF2-40B4-BE49-F238E27FC236}">
                <a16:creationId xmlns:a16="http://schemas.microsoft.com/office/drawing/2014/main" id="{1B776A85-F234-612D-5C7F-1BA3B6471697}"/>
              </a:ext>
            </a:extLst>
          </p:cNvPr>
          <p:cNvSpPr/>
          <p:nvPr/>
        </p:nvSpPr>
        <p:spPr>
          <a:xfrm>
            <a:off x="4953000" y="2489200"/>
            <a:ext cx="34036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800">
                <a:solidFill>
                  <a:srgbClr val="732626"/>
                </a:solidFill>
                <a:latin typeface="Aptos" panose="020B0004020202020204" pitchFamily="34" charset="0"/>
              </a:rPr>
              <a:t>[1] Stripe API returns 429 and includes Retry-After header</a:t>
            </a:r>
          </a:p>
        </p:txBody>
      </p:sp>
      <p:sp>
        <p:nvSpPr>
          <p:cNvPr id="57" name="CodexExtract ae ablated2">
            <a:extLst>
              <a:ext uri="{FF2B5EF4-FFF2-40B4-BE49-F238E27FC236}">
                <a16:creationId xmlns:a16="http://schemas.microsoft.com/office/drawing/2014/main" id="{BB57B901-21A5-2401-0587-85DBCC1F2C48}"/>
              </a:ext>
            </a:extLst>
          </p:cNvPr>
          <p:cNvSpPr/>
          <p:nvPr/>
        </p:nvSpPr>
        <p:spPr>
          <a:xfrm>
            <a:off x="4953000" y="3022600"/>
            <a:ext cx="3403600" cy="4318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800">
                <a:solidFill>
                  <a:srgbClr val="732626"/>
                </a:solidFill>
                <a:latin typeface="Aptos" panose="020B0004020202020204" pitchFamily="34" charset="0"/>
              </a:rPr>
              <a:t>[7][8] Backoff logic was added to the script</a:t>
            </a:r>
          </a:p>
        </p:txBody>
      </p:sp>
      <p:sp>
        <p:nvSpPr>
          <p:cNvPr id="58" name="CodexExtract ae missing">
            <a:extLst>
              <a:ext uri="{FF2B5EF4-FFF2-40B4-BE49-F238E27FC236}">
                <a16:creationId xmlns:a16="http://schemas.microsoft.com/office/drawing/2014/main" id="{EC683687-E09E-61D6-861F-D304BF7E9257}"/>
              </a:ext>
            </a:extLst>
          </p:cNvPr>
          <p:cNvSpPr/>
          <p:nvPr/>
        </p:nvSpPr>
        <p:spPr>
          <a:xfrm>
            <a:off x="4953000" y="3708400"/>
            <a:ext cx="3403600" cy="60960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900" b="1">
                <a:solidFill>
                  <a:srgbClr val="732626"/>
                </a:solidFill>
                <a:latin typeface="Aptos" panose="020B0004020202020204" pitchFamily="34" charset="0"/>
              </a:rPr>
              <a:t>Missing component: no typed link from condition -&gt; action -&gt; 200 outcome</a:t>
            </a:r>
          </a:p>
        </p:txBody>
      </p:sp>
      <p:sp>
        <p:nvSpPr>
          <p:cNvPr id="59" name="CodexExtract ae lesson">
            <a:extLst>
              <a:ext uri="{FF2B5EF4-FFF2-40B4-BE49-F238E27FC236}">
                <a16:creationId xmlns:a16="http://schemas.microsoft.com/office/drawing/2014/main" id="{6F6E14BE-2321-9CFB-A742-3A3E0EB18978}"/>
              </a:ext>
            </a:extLst>
          </p:cNvPr>
          <p:cNvSpPr/>
          <p:nvPr/>
        </p:nvSpPr>
        <p:spPr>
          <a:xfrm>
            <a:off x="736600" y="5029200"/>
            <a:ext cx="7670800" cy="457200"/>
          </a:xfrm>
          <a:prstGeom prst="roundRect">
            <a:avLst/>
          </a:prstGeom>
          <a:solidFill>
            <a:srgbClr val="F5F9FA"/>
          </a:solidFill>
          <a:ln w="14605">
            <a:solidFill>
              <a:srgbClr val="7082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22323C"/>
                </a:solidFill>
                <a:latin typeface="Aptos" panose="020B0004020202020204" pitchFamily="34" charset="0"/>
              </a:rPr>
              <a:t>Discrimination claim: action_effect stores the executable causal chain, not just adjacent facts.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604" y="795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8" b="1">
                <a:solidFill>
                  <a:srgbClr val="784800"/>
                </a:solidFill>
                <a:latin typeface="Aptos"/>
              </a:defRPr>
            </a:pPr>
            <a:r>
              <a:t>CONTRIBUTION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10" y="118872"/>
            <a:ext cx="846963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91" b="1">
                <a:solidFill>
                  <a:srgbClr val="FFFFFF"/>
                </a:solidFill>
                <a:latin typeface="Aptos Display"/>
              </a:defRPr>
            </a:pPr>
            <a:r>
              <a:t>What was proved, and what remains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4350" y="1143000"/>
            <a:ext cx="2503170" cy="384048"/>
          </a:xfrm>
          <a:prstGeom prst="roundRect">
            <a:avLst/>
          </a:prstGeom>
          <a:solidFill>
            <a:srgbClr val="102A43"/>
          </a:solidFill>
          <a:ln w="1397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2" b="1">
                <a:solidFill>
                  <a:srgbClr val="FFFFFF"/>
                </a:solidFill>
                <a:latin typeface="Aptos"/>
              </a:defRPr>
            </a:pPr>
            <a:r>
              <a:t>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51810" y="1143000"/>
            <a:ext cx="3394710" cy="384048"/>
          </a:xfrm>
          <a:prstGeom prst="roundRect">
            <a:avLst/>
          </a:prstGeom>
          <a:solidFill>
            <a:srgbClr val="102A43"/>
          </a:solidFill>
          <a:ln w="1397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2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810" y="1143000"/>
            <a:ext cx="1440180" cy="384048"/>
          </a:xfrm>
          <a:prstGeom prst="roundRect">
            <a:avLst/>
          </a:prstGeom>
          <a:solidFill>
            <a:srgbClr val="102A43"/>
          </a:solidFill>
          <a:ln w="1397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2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350" y="1618488"/>
            <a:ext cx="250317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9214" y="1719072"/>
            <a:ext cx="24003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1">
                <a:solidFill>
                  <a:srgbClr val="24303E"/>
                </a:solidFill>
                <a:latin typeface="Aptos"/>
              </a:defRPr>
            </a:pPr>
            <a:r>
              <a:t>Multi-channel memory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1810" y="1618488"/>
            <a:ext cx="339471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6674" y="171907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0">
                <a:solidFill>
                  <a:srgbClr val="24303E"/>
                </a:solidFill>
                <a:latin typeface="Aptos"/>
              </a:defRPr>
            </a:pPr>
            <a:r>
              <a:t>LongMemEval 31/35; LoCoMo 119/161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810" y="1618488"/>
            <a:ext cx="14401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5674" y="1719072"/>
            <a:ext cx="13373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94" b="1">
                <a:solidFill>
                  <a:srgbClr val="55802C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" y="2276856"/>
            <a:ext cx="250317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9214" y="2377440"/>
            <a:ext cx="24003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1">
                <a:solidFill>
                  <a:srgbClr val="24303E"/>
                </a:solidFill>
                <a:latin typeface="Aptos"/>
              </a:defRPr>
            </a:pPr>
            <a:r>
              <a:t>SUM graph activation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51810" y="2276856"/>
            <a:ext cx="339471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6674" y="23774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0">
                <a:solidFill>
                  <a:srgbClr val="24303E"/>
                </a:solidFill>
                <a:latin typeface="Aptos"/>
              </a:defRPr>
            </a:pPr>
            <a:r>
              <a:t>0.8052 vs 0.7624 recall@5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810" y="2276856"/>
            <a:ext cx="14401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5674" y="2377440"/>
            <a:ext cx="13373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94" b="1">
                <a:solidFill>
                  <a:srgbClr val="55802C"/>
                </a:solidFill>
                <a:latin typeface="Aptos"/>
              </a:defRPr>
            </a:pPr>
            <a:r>
              <a:t>Strong, scoped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" y="2935224"/>
            <a:ext cx="250317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9214" y="3035808"/>
            <a:ext cx="24003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1">
                <a:solidFill>
                  <a:srgbClr val="24303E"/>
                </a:solidFill>
                <a:latin typeface="Aptos"/>
              </a:defRPr>
            </a:pPr>
            <a:r>
              <a:t>Evidence guard + snippets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51810" y="2935224"/>
            <a:ext cx="339471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6674" y="3035808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0">
                <a:solidFill>
                  <a:srgbClr val="24303E"/>
                </a:solidFill>
                <a:latin typeface="Aptos"/>
              </a:defRPr>
            </a:pPr>
            <a:r>
              <a:t>+22 LoCoMo PASS cases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80810" y="2935224"/>
            <a:ext cx="14401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5674" y="3035808"/>
            <a:ext cx="13373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94" b="1">
                <a:solidFill>
                  <a:srgbClr val="55802C"/>
                </a:solidFill>
                <a:latin typeface="Aptos"/>
              </a:defRPr>
            </a:pPr>
            <a:r>
              <a:t>Strong practical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" y="3593592"/>
            <a:ext cx="250317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9214" y="3694176"/>
            <a:ext cx="24003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1">
                <a:solidFill>
                  <a:srgbClr val="24303E"/>
                </a:solidFill>
                <a:latin typeface="Aptos"/>
              </a:defRPr>
            </a:pPr>
            <a:r>
              <a:t>Intention / action-effect types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51810" y="3593592"/>
            <a:ext cx="339471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06674" y="369417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0">
                <a:solidFill>
                  <a:srgbClr val="24303E"/>
                </a:solidFill>
                <a:latin typeface="Aptos"/>
              </a:defRPr>
            </a:pPr>
            <a:r>
              <a:t>paired qualitative ablations: composting and HTTP 429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80810" y="3593592"/>
            <a:ext cx="14401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5674" y="3694176"/>
            <a:ext cx="13373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94" b="1">
                <a:solidFill>
                  <a:srgbClr val="DB911C"/>
                </a:solidFill>
                <a:latin typeface="Aptos"/>
              </a:defRPr>
            </a:pPr>
            <a:r>
              <a:t>Conditional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" y="4251960"/>
            <a:ext cx="250317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9214" y="4352544"/>
            <a:ext cx="24003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1">
                <a:solidFill>
                  <a:srgbClr val="24303E"/>
                </a:solidFill>
                <a:latin typeface="Aptos"/>
              </a:defRPr>
            </a:pPr>
            <a:r>
              <a:t>Retain efficiency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51810" y="4251960"/>
            <a:ext cx="339471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6674" y="4352544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94" b="0">
                <a:solidFill>
                  <a:srgbClr val="24303E"/>
                </a:solidFill>
                <a:latin typeface="Aptos"/>
              </a:defRPr>
            </a:pPr>
            <a:r>
              <a:t>~30 min vs 90-120; ~700 vs ~1500 nodes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80810" y="4251960"/>
            <a:ext cx="14401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5674" y="4352544"/>
            <a:ext cx="13373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94" b="1">
                <a:solidFill>
                  <a:srgbClr val="CA4343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510" y="5230368"/>
            <a:ext cx="7509510" cy="786384"/>
          </a:xfrm>
          <a:prstGeom prst="roundRect">
            <a:avLst/>
          </a:prstGeom>
          <a:solidFill>
            <a:srgbClr val="FFFCF4"/>
          </a:solidFill>
          <a:ln w="13970">
            <a:solidFill>
              <a:srgbClr val="DB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5440680"/>
            <a:ext cx="716661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4" b="1">
                <a:solidFill>
                  <a:srgbClr val="102A43"/>
                </a:solidFill>
                <a:latin typeface="Aptos"/>
              </a:defRPr>
            </a:pPr>
            <a:r>
              <a:t>Habit remains the least-proven type; future work should use plan lifecycle tasks, dense tool-action traces, and multi-week habit diaries.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0" y="2240280"/>
            <a:ext cx="2057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68" b="1">
                <a:solidFill>
                  <a:srgbClr val="C40000"/>
                </a:solidFill>
                <a:latin typeface="Aptos Display"/>
              </a:defRPr>
            </a:pPr>
            <a:r>
              <a:t>THANK</a:t>
            </a:r>
            <a:br/>
            <a:r>
              <a:t>YOU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9090" y="3657600"/>
            <a:ext cx="19888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48" b="1">
                <a:solidFill>
                  <a:srgbClr val="24303E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9030" y="4434840"/>
            <a:ext cx="28803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28" b="1">
                <a:solidFill>
                  <a:srgbClr val="667280"/>
                </a:solidFill>
                <a:latin typeface="Aptos"/>
              </a:defRPr>
            </a:pPr>
            <a:r>
              <a:t>Code, experiments, judge results, and thesis artifacts are preserved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6FF5105935A047949EC15A29E8956A" ma:contentTypeVersion="4" ma:contentTypeDescription="Create a new document." ma:contentTypeScope="" ma:versionID="b29c6fefc618e136688e03dce636df7d">
  <xsd:schema xmlns:xsd="http://www.w3.org/2001/XMLSchema" xmlns:xs="http://www.w3.org/2001/XMLSchema" xmlns:p="http://schemas.microsoft.com/office/2006/metadata/properties" xmlns:ns2="787772fa-e80e-4196-8492-c382f620fc1d" targetNamespace="http://schemas.microsoft.com/office/2006/metadata/properties" ma:root="true" ma:fieldsID="3e23d7ca8d6da6eba593525d95b10d9f" ns2:_="">
    <xsd:import namespace="787772fa-e80e-4196-8492-c382f620fc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772fa-e80e-4196-8492-c382f620fc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5DDDD1-ED4A-45D2-A1A5-EDDFFDD8377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c0a5278-6572-4232-b8ad-97ff2313e1c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E41E46E-FF59-4C1D-AE00-A76323361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7772fa-e80e-4196-8492-c382f620fc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98D1B8-1803-48D2-B4B6-C15C336A4B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2213</TotalTime>
  <Words>1630</Words>
  <Application>Microsoft Office PowerPoint</Application>
  <PresentationFormat>Trình chiếu Trên màn hình (4:3)</PresentationFormat>
  <Paragraphs>300</Paragraphs>
  <Slides>16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Minh Triet 20220045</cp:lastModifiedBy>
  <cp:revision>52</cp:revision>
  <dcterms:created xsi:type="dcterms:W3CDTF">2021-05-28T04:32:29Z</dcterms:created>
  <dcterms:modified xsi:type="dcterms:W3CDTF">2026-06-23T08:32:17Z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0x010100E26FF5105935A047949EC15A29E8956A</vt:lpwstr>
  </property>
</Properties>
</file>