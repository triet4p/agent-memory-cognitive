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9"/>
  </p:notesMasterIdLst>
  <p:handoutMasterIdLst>
    <p:handoutMasterId r:id="rId20"/>
  </p:handoutMasterIdLst>
  <p:sldIdLst>
    <p:sldId id="257" r:id="rId5"/>
    <p:sldId id="325" r:id="rId6"/>
    <p:sldId id="345" r:id="rId7"/>
    <p:sldId id="347" r:id="rId8"/>
    <p:sldId id="282" r:id="rId9"/>
    <p:sldId id="348" r:id="rId10"/>
    <p:sldId id="349" r:id="rId11"/>
    <p:sldId id="350" r:id="rId12"/>
    <p:sldId id="351" r:id="rId13"/>
    <p:sldId id="352" r:id="rId14"/>
    <p:sldId id="353" r:id="rId15"/>
    <p:sldId id="333" r:id="rId16"/>
    <p:sldId id="354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276FD0-EA8A-45DE-8D62-9EED4F24FA75}" v="17861" dt="2025-05-21T08:54:32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4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83" r:id="rId2"/>
    <p:sldLayoutId id="2147483679" r:id="rId3"/>
    <p:sldLayoutId id="2147483680" r:id="rId4"/>
    <p:sldLayoutId id="2147483681" r:id="rId5"/>
    <p:sldLayoutId id="2147483682" r:id="rId6"/>
    <p:sldLayoutId id="2147483678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143611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CogMem</a:t>
            </a:r>
            <a:r>
              <a:rPr lang="en-US" dirty="0"/>
              <a:t>: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nhân</a:t>
            </a:r>
            <a:endParaRPr lang="en-US" sz="5400" dirty="0"/>
          </a:p>
          <a:p>
            <a:endParaRPr lang="en-US" dirty="0"/>
          </a:p>
          <a:p>
            <a:r>
              <a:rPr lang="en-US" sz="2200" dirty="0"/>
              <a:t>Sinh </a:t>
            </a:r>
            <a:r>
              <a:rPr lang="en-US" sz="2200" dirty="0" err="1"/>
              <a:t>viên</a:t>
            </a:r>
            <a:r>
              <a:rPr lang="en-US" sz="2200" dirty="0"/>
              <a:t> </a:t>
            </a:r>
            <a:r>
              <a:rPr lang="en-US" sz="2200" dirty="0" err="1"/>
              <a:t>thực</a:t>
            </a:r>
            <a:r>
              <a:rPr lang="en-US" sz="2200" dirty="0"/>
              <a:t> </a:t>
            </a:r>
            <a:r>
              <a:rPr lang="en-US" sz="2200" dirty="0" err="1"/>
              <a:t>hiện</a:t>
            </a:r>
            <a:r>
              <a:rPr lang="en-US" sz="2200" dirty="0"/>
              <a:t>: </a:t>
            </a:r>
          </a:p>
          <a:p>
            <a:r>
              <a:rPr lang="en-US" sz="1800" dirty="0"/>
              <a:t>Lê Minh </a:t>
            </a:r>
            <a:r>
              <a:rPr lang="en-US" sz="1800" dirty="0" err="1"/>
              <a:t>Triết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DF492-4E17-B77D-CF21-A1576409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DC1F6B-5FD9-243D-112D-AB762629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A16EA-F561-63A9-D468-27F5CE478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EDE2C-EB25-AA22-953D-60B0B730B3C6}"/>
              </a:ext>
            </a:extLst>
          </p:cNvPr>
          <p:cNvSpPr txBox="1">
            <a:spLocks/>
          </p:cNvSpPr>
          <p:nvPr/>
        </p:nvSpPr>
        <p:spPr>
          <a:xfrm>
            <a:off x="421894" y="133096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nghiên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cứu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như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HINDSIGHT,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Mem^p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chủ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yếu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mang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góc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nhìn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Khoa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học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máy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tính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dựa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lưu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trữ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xuất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chiến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lược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Trí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nhớ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người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không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phải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một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kho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lưu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trữ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phẳng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tập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hợp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chuyên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biệt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được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xuất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qua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quá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trình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lan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truyền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kích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chủ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động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Semantic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Episodic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Procedural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Prospective</a:t>
            </a: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58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5C88-AD74-9B99-95FC-E5F5ADC2D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349FA5-50F6-0487-52FC-2B727B1E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BC5C7FC-08DC-E885-63B7-690B3C27D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endParaRPr lang="en-US" dirty="0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A8BB0B5A-8A39-FE77-8C25-9F55B9F2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8420"/>
            <a:ext cx="9144000" cy="374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4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8DD26-DC2A-AD82-4AFD-6AAF66B2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63B1A0-9243-5E37-14B4-A52439543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89CED1-62B6-32BA-E400-3CEB853B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FCCB3-AED2-BAF7-DDFD-0531F7707D64}"/>
              </a:ext>
            </a:extLst>
          </p:cNvPr>
          <p:cNvSpPr txBox="1">
            <a:spLocks/>
          </p:cNvSpPr>
          <p:nvPr/>
        </p:nvSpPr>
        <p:spPr>
          <a:xfrm>
            <a:off x="421894" y="133096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Nhìn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HINDSIGHT, có 2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có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thể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cải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thiện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RRF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trọng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tĩnh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Mọi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hỏi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đều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bị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cào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bằng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tỉ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trọng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kênh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Lan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truyền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MAX: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Chỉ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lấy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đường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kết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nối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mạnh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nhất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bỏ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cơ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chế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“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Tích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lũy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bằng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chứng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đường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”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cốt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lõi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người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89B49E9C-DEEC-1740-744A-B7D683CB7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166" y="3429000"/>
            <a:ext cx="4239217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35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6 network</a:t>
            </a: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676C62A8-7788-DB9C-D547-27F4E7D66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41" y="1804761"/>
            <a:ext cx="8364117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7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99D24-A463-7B1D-5BA1-BB50FFA3F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D45337-9266-63B9-7699-F5502ADCD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F13CBE-76B6-BA01-9E7A-0B21B8216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6 network</a:t>
            </a:r>
          </a:p>
        </p:txBody>
      </p:sp>
      <p:graphicFrame>
        <p:nvGraphicFramePr>
          <p:cNvPr id="3" name="Bảng 2">
            <a:extLst>
              <a:ext uri="{FF2B5EF4-FFF2-40B4-BE49-F238E27FC236}">
                <a16:creationId xmlns:a16="http://schemas.microsoft.com/office/drawing/2014/main" id="{7C9C171F-2F41-19ED-E889-6FF011D31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827088"/>
              </p:ext>
            </p:extLst>
          </p:nvPr>
        </p:nvGraphicFramePr>
        <p:xfrm>
          <a:off x="427990" y="1263174"/>
          <a:ext cx="8370571" cy="47526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8188">
                  <a:extLst>
                    <a:ext uri="{9D8B030D-6E8A-4147-A177-3AD203B41FA5}">
                      <a16:colId xmlns:a16="http://schemas.microsoft.com/office/drawing/2014/main" val="3959241397"/>
                    </a:ext>
                  </a:extLst>
                </a:gridCol>
                <a:gridCol w="1889519">
                  <a:extLst>
                    <a:ext uri="{9D8B030D-6E8A-4147-A177-3AD203B41FA5}">
                      <a16:colId xmlns:a16="http://schemas.microsoft.com/office/drawing/2014/main" val="713183759"/>
                    </a:ext>
                  </a:extLst>
                </a:gridCol>
                <a:gridCol w="2361899">
                  <a:extLst>
                    <a:ext uri="{9D8B030D-6E8A-4147-A177-3AD203B41FA5}">
                      <a16:colId xmlns:a16="http://schemas.microsoft.com/office/drawing/2014/main" val="3100709042"/>
                    </a:ext>
                  </a:extLst>
                </a:gridCol>
                <a:gridCol w="2890965">
                  <a:extLst>
                    <a:ext uri="{9D8B030D-6E8A-4147-A177-3AD203B41FA5}">
                      <a16:colId xmlns:a16="http://schemas.microsoft.com/office/drawing/2014/main" val="928088408"/>
                    </a:ext>
                  </a:extLst>
                </a:gridCol>
              </a:tblGrid>
              <a:tr h="42943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Mạng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Cơ sở nhận thức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Lưu trữ gì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Ví dụ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0120977"/>
                  </a:ext>
                </a:extLst>
              </a:tr>
              <a:tr h="42943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World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Semantic Memory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Sự kiện khách quan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"DI chuyên về LLM infrastructure"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44444967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Experience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Episodic Memory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Sự kiện cá nhân trong quá khứ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"User vào làm DI tháng 4/2024"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075473440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Opinion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Belief System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Nhận xét chủ quan + độ tin cậy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"Python tốt nhất cho ML (0.85)"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84717230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Habit [MỚI]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Habit Memory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Mẫu hành vi và thói quen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"User hay check email trước standup"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608944685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Intention [MỚI]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Prospective Memory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Kế hoạch và mục tiêu tương lai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"User định học Rust trước Q3"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824851275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Action-Effect [MỚI]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Action-Effect Learning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Bộ ba nhân quả hành động-kết quả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"</a:t>
                      </a:r>
                      <a:r>
                        <a:rPr lang="en-US" sz="1800" dirty="0" err="1">
                          <a:effectLst/>
                        </a:rPr>
                        <a:t>Lọc</a:t>
                      </a:r>
                      <a:r>
                        <a:rPr lang="en-US" sz="1800" dirty="0">
                          <a:effectLst/>
                        </a:rPr>
                        <a:t> shop rating </a:t>
                      </a:r>
                      <a:r>
                        <a:rPr lang="en-US" sz="1800" dirty="0" err="1">
                          <a:effectLst/>
                        </a:rPr>
                        <a:t>cao</a:t>
                      </a:r>
                      <a:r>
                        <a:rPr lang="en-US" sz="1800" dirty="0">
                          <a:effectLst/>
                        </a:rPr>
                        <a:t> → </a:t>
                      </a:r>
                      <a:r>
                        <a:rPr lang="en-US" sz="1800" dirty="0" err="1">
                          <a:effectLst/>
                        </a:rPr>
                        <a:t>giao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hàng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nhanh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hơn</a:t>
                      </a:r>
                      <a:r>
                        <a:rPr lang="en-US" sz="1800" dirty="0">
                          <a:effectLst/>
                        </a:rPr>
                        <a:t>"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98613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354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9C929-2A83-E113-CA75-B0BCBE22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FBC52E-1ED1-B059-6C31-A2F09262D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53FF99A-1DCF-C597-4D42-35EFAE19A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Action-Effect Learning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83E783-5C96-5147-D1D3-44AA52DF2BC0}"/>
              </a:ext>
            </a:extLst>
          </p:cNvPr>
          <p:cNvSpPr txBox="1">
            <a:spLocks/>
          </p:cNvSpPr>
          <p:nvPr/>
        </p:nvSpPr>
        <p:spPr>
          <a:xfrm>
            <a:off x="421894" y="133096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Action Network có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nền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tảng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từ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Action-Effect Learning Theory 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(Hommel et al., 2001 — Theory of Event Coding)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vi-VN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chứng minh rằng não người mã hóa tường minh các ánh xạ nhân quả giữa hành động chủ ý và hậu quả nhận thức của chúng</a:t>
            </a:r>
            <a:endParaRPr lang="en-US" i="1" dirty="0">
              <a:solidFill>
                <a:srgbClr val="20212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Bảng 5">
            <a:extLst>
              <a:ext uri="{FF2B5EF4-FFF2-40B4-BE49-F238E27FC236}">
                <a16:creationId xmlns:a16="http://schemas.microsoft.com/office/drawing/2014/main" id="{CCE6B7FB-025A-494D-B38A-E39072373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83005"/>
              </p:ext>
            </p:extLst>
          </p:nvPr>
        </p:nvGraphicFramePr>
        <p:xfrm>
          <a:off x="906002" y="3413758"/>
          <a:ext cx="7557278" cy="29413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6608">
                  <a:extLst>
                    <a:ext uri="{9D8B030D-6E8A-4147-A177-3AD203B41FA5}">
                      <a16:colId xmlns:a16="http://schemas.microsoft.com/office/drawing/2014/main" val="2288025438"/>
                    </a:ext>
                  </a:extLst>
                </a:gridCol>
                <a:gridCol w="2980335">
                  <a:extLst>
                    <a:ext uri="{9D8B030D-6E8A-4147-A177-3AD203B41FA5}">
                      <a16:colId xmlns:a16="http://schemas.microsoft.com/office/drawing/2014/main" val="1843568366"/>
                    </a:ext>
                  </a:extLst>
                </a:gridCol>
                <a:gridCol w="2980335">
                  <a:extLst>
                    <a:ext uri="{9D8B030D-6E8A-4147-A177-3AD203B41FA5}">
                      <a16:colId xmlns:a16="http://schemas.microsoft.com/office/drawing/2014/main" val="4229708332"/>
                    </a:ext>
                  </a:extLst>
                </a:gridCol>
              </a:tblGrid>
              <a:tr h="4456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effectLst/>
                        </a:rPr>
                        <a:t>Trường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effectLst/>
                        </a:rPr>
                        <a:t>Mô tả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effectLst/>
                        </a:rPr>
                        <a:t>Ví dụ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76416146"/>
                  </a:ext>
                </a:extLst>
              </a:tr>
              <a:tr h="44565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Precondition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Bối cảnh xảy ra hành động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"Đặt đồ ăn trong giờ trưa"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461144334"/>
                  </a:ext>
                </a:extLst>
              </a:tr>
              <a:tr h="44565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Action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Hành động chủ ý được thực hiện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"Lọc shop rating &gt; 4.5"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513427267"/>
                  </a:ext>
                </a:extLst>
              </a:tr>
              <a:tr h="71304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Outcome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Hậu quả quan sát được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"Giao hàng nhanh hơn, ít khiếu nại hơn"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80090528"/>
                  </a:ext>
                </a:extLst>
              </a:tr>
              <a:tr h="44565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Confidence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Độ mạnh bằng chứng (0-1)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0.87 (quan sát 12 lần)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74759933"/>
                  </a:ext>
                </a:extLst>
              </a:tr>
              <a:tr h="44565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Edge type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Loại cạnh mới trong KG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 err="1">
                          <a:effectLst/>
                        </a:rPr>
                        <a:t>causal_action</a:t>
                      </a:r>
                      <a:r>
                        <a:rPr lang="en-US" sz="1400" dirty="0">
                          <a:effectLst/>
                        </a:rPr>
                        <a:t> edge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553253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892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AC48F-60A3-1985-E6F9-1C02AB46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6C7F72-5934-75EF-6919-FA4D5C03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C48151-9BC3-C8A7-8900-4116CFFAB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Raw State Snippets</a:t>
            </a:r>
          </a:p>
        </p:txBody>
      </p:sp>
      <p:graphicFrame>
        <p:nvGraphicFramePr>
          <p:cNvPr id="3" name="Bảng 2">
            <a:extLst>
              <a:ext uri="{FF2B5EF4-FFF2-40B4-BE49-F238E27FC236}">
                <a16:creationId xmlns:a16="http://schemas.microsoft.com/office/drawing/2014/main" id="{34A51839-EA73-D6F3-A214-ECE408D2B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771506"/>
              </p:ext>
            </p:extLst>
          </p:nvPr>
        </p:nvGraphicFramePr>
        <p:xfrm>
          <a:off x="718820" y="1951038"/>
          <a:ext cx="7896860" cy="38503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2441">
                  <a:extLst>
                    <a:ext uri="{9D8B030D-6E8A-4147-A177-3AD203B41FA5}">
                      <a16:colId xmlns:a16="http://schemas.microsoft.com/office/drawing/2014/main" val="3366958864"/>
                    </a:ext>
                  </a:extLst>
                </a:gridCol>
                <a:gridCol w="2644881">
                  <a:extLst>
                    <a:ext uri="{9D8B030D-6E8A-4147-A177-3AD203B41FA5}">
                      <a16:colId xmlns:a16="http://schemas.microsoft.com/office/drawing/2014/main" val="2036452081"/>
                    </a:ext>
                  </a:extLst>
                </a:gridCol>
                <a:gridCol w="2644881">
                  <a:extLst>
                    <a:ext uri="{9D8B030D-6E8A-4147-A177-3AD203B41FA5}">
                      <a16:colId xmlns:a16="http://schemas.microsoft.com/office/drawing/2014/main" val="3857886860"/>
                    </a:ext>
                  </a:extLst>
                </a:gridCol>
                <a:gridCol w="1284657">
                  <a:extLst>
                    <a:ext uri="{9D8B030D-6E8A-4147-A177-3AD203B41FA5}">
                      <a16:colId xmlns:a16="http://schemas.microsoft.com/office/drawing/2014/main" val="2602430538"/>
                    </a:ext>
                  </a:extLst>
                </a:gridCol>
              </a:tblGrid>
              <a:tr h="91674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</a:rPr>
                        <a:t>Lớp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</a:rPr>
                        <a:t>Nội dung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</a:rPr>
                        <a:t>Dùng cho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</a:rPr>
                        <a:t>Mất mát?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149745434"/>
                  </a:ext>
                </a:extLst>
              </a:tr>
              <a:tr h="146678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Narrative fact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Tóm tắt ngữ nghĩa do LLM trích xuất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Embedding, graph traversal, semantic search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Có — cố ý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06267167"/>
                  </a:ext>
                </a:extLst>
              </a:tr>
              <a:tr h="146678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Raw snippet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Văn bản nguồn gốc đính kèm metadata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Inject vào context window sau khi truy xuất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</a:rPr>
                        <a:t>Không — lossless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82877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487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06CB5-49BD-9BB1-4A57-9FE108CD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D7904C-8193-CE5B-00EC-EB7673E6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91FA88-D253-D00A-F147-D915C1BF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Episodic Buffer </a:t>
            </a:r>
            <a:r>
              <a:rPr lang="en-US" dirty="0" err="1"/>
              <a:t>với</a:t>
            </a:r>
            <a:r>
              <a:rPr lang="en-US" dirty="0"/>
              <a:t> Spreading Activation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2426DA-432E-CD51-1D64-3914D2365A09}"/>
              </a:ext>
            </a:extLst>
          </p:cNvPr>
          <p:cNvSpPr txBox="1">
            <a:spLocks/>
          </p:cNvSpPr>
          <p:nvPr/>
        </p:nvSpPr>
        <p:spPr>
          <a:xfrm>
            <a:off x="421894" y="133096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latin typeface="Calibri "/>
              </a:rPr>
              <a:t>Mô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hình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Bộ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Nhớ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Làm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Việc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của</a:t>
            </a:r>
            <a:r>
              <a:rPr lang="en-US" dirty="0">
                <a:latin typeface="Calibri "/>
              </a:rPr>
              <a:t> Baddeley (2000) </a:t>
            </a:r>
            <a:r>
              <a:rPr lang="en-US" dirty="0" err="1">
                <a:latin typeface="Calibri "/>
              </a:rPr>
              <a:t>giới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thiệu</a:t>
            </a:r>
            <a:r>
              <a:rPr lang="en-US" dirty="0">
                <a:latin typeface="Calibri "/>
              </a:rPr>
              <a:t> Episodic Buffer </a:t>
            </a:r>
            <a:r>
              <a:rPr lang="en-US" dirty="0" err="1">
                <a:latin typeface="Calibri "/>
              </a:rPr>
              <a:t>như</a:t>
            </a:r>
            <a:r>
              <a:rPr lang="en-US" dirty="0">
                <a:latin typeface="Calibri "/>
              </a:rPr>
              <a:t> một không </a:t>
            </a:r>
            <a:r>
              <a:rPr lang="en-US" dirty="0" err="1">
                <a:latin typeface="Calibri "/>
              </a:rPr>
              <a:t>gian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làm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việc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tích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hợp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tạm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thời</a:t>
            </a:r>
            <a:r>
              <a:rPr lang="en-US" dirty="0">
                <a:latin typeface="Calibri "/>
              </a:rPr>
              <a:t>, </a:t>
            </a:r>
            <a:r>
              <a:rPr lang="en-US" dirty="0" err="1">
                <a:latin typeface="Calibri "/>
              </a:rPr>
              <a:t>liên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kết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thông</a:t>
            </a:r>
            <a:r>
              <a:rPr lang="en-US" dirty="0">
                <a:latin typeface="Calibri "/>
              </a:rPr>
              <a:t> tin </a:t>
            </a:r>
            <a:r>
              <a:rPr lang="en-US" dirty="0" err="1">
                <a:latin typeface="Calibri "/>
              </a:rPr>
              <a:t>từ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các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hệ</a:t>
            </a:r>
            <a:r>
              <a:rPr lang="en-US" dirty="0">
                <a:latin typeface="Calibri "/>
              </a:rPr>
              <a:t> con </a:t>
            </a:r>
            <a:r>
              <a:rPr lang="en-US" dirty="0" err="1">
                <a:latin typeface="Calibri "/>
              </a:rPr>
              <a:t>bộ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nhớ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dài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hạn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thành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các</a:t>
            </a:r>
            <a:r>
              <a:rPr lang="en-US" dirty="0">
                <a:latin typeface="Calibri "/>
              </a:rPr>
              <a:t> episode </a:t>
            </a:r>
            <a:r>
              <a:rPr lang="en-US" dirty="0" err="1">
                <a:latin typeface="Calibri "/>
              </a:rPr>
              <a:t>mạch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lạc</a:t>
            </a:r>
            <a:r>
              <a:rPr lang="en-US" dirty="0">
                <a:latin typeface="Calibri "/>
              </a:rPr>
              <a:t>. </a:t>
            </a:r>
          </a:p>
          <a:p>
            <a:pPr algn="just"/>
            <a:endParaRPr lang="en-US" i="1" dirty="0">
              <a:solidFill>
                <a:srgbClr val="202122"/>
              </a:solidFill>
              <a:latin typeface="Calibri 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Bảng 2">
            <a:extLst>
              <a:ext uri="{FF2B5EF4-FFF2-40B4-BE49-F238E27FC236}">
                <a16:creationId xmlns:a16="http://schemas.microsoft.com/office/drawing/2014/main" id="{293B6F05-17EC-8692-5A3F-2080C95CA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436543"/>
              </p:ext>
            </p:extLst>
          </p:nvPr>
        </p:nvGraphicFramePr>
        <p:xfrm>
          <a:off x="662940" y="3401854"/>
          <a:ext cx="7967726" cy="2968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1027">
                  <a:extLst>
                    <a:ext uri="{9D8B030D-6E8A-4147-A177-3AD203B41FA5}">
                      <a16:colId xmlns:a16="http://schemas.microsoft.com/office/drawing/2014/main" val="1014524814"/>
                    </a:ext>
                  </a:extLst>
                </a:gridCol>
                <a:gridCol w="2546762">
                  <a:extLst>
                    <a:ext uri="{9D8B030D-6E8A-4147-A177-3AD203B41FA5}">
                      <a16:colId xmlns:a16="http://schemas.microsoft.com/office/drawing/2014/main" val="2113357579"/>
                    </a:ext>
                  </a:extLst>
                </a:gridCol>
                <a:gridCol w="3419937">
                  <a:extLst>
                    <a:ext uri="{9D8B030D-6E8A-4147-A177-3AD203B41FA5}">
                      <a16:colId xmlns:a16="http://schemas.microsoft.com/office/drawing/2014/main" val="623756842"/>
                    </a:ext>
                  </a:extLst>
                </a:gridCol>
              </a:tblGrid>
              <a:tr h="41228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 err="1">
                          <a:effectLst/>
                        </a:rPr>
                        <a:t>Khía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cạnh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HINDSIGHT (MAX)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CogMem Episodic Buffer (SUM)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40454041"/>
                  </a:ext>
                </a:extLst>
              </a:tr>
              <a:tr h="41228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Quy tắc lan truyền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A(v) = max của hàng xóm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A(v) = A(v) + delta * tổng hàng xóm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72114231"/>
                  </a:ext>
                </a:extLst>
              </a:tr>
              <a:tr h="65965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Bằng chứng đa con đường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Bị loại bỏ (chỉ lấy con đường tốt nhất)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Được tích lũy (mọi con đường đều đóng góp)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282807754"/>
                  </a:ext>
                </a:extLst>
              </a:tr>
              <a:tr h="41228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Yêu cầu điểm vào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Phải chính xác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Chỉ cần xấp xỉ là đủ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009171835"/>
                  </a:ext>
                </a:extLst>
              </a:tr>
              <a:tr h="65965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Độ bền vững multi-hop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Yếu — một liên kết sai phá vỡ cả chain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Mạnh — tín hiệu yếu bổ sung cho nhau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436753348"/>
                  </a:ext>
                </a:extLst>
              </a:tr>
              <a:tr h="41228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Kết thúc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Số bước cố định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 err="1">
                          <a:effectLst/>
                        </a:rPr>
                        <a:t>Dựa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trên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ngưỡng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hội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tụ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440196845"/>
                  </a:ext>
                </a:extLst>
              </a:tr>
            </a:tbl>
          </a:graphicData>
        </a:graphic>
      </p:graphicFrame>
      <p:pic>
        <p:nvPicPr>
          <p:cNvPr id="8" name="Hình ảnh 7">
            <a:extLst>
              <a:ext uri="{FF2B5EF4-FFF2-40B4-BE49-F238E27FC236}">
                <a16:creationId xmlns:a16="http://schemas.microsoft.com/office/drawing/2014/main" id="{AEC715C4-D613-E01F-95B4-4F5C63E4D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97" y="2853214"/>
            <a:ext cx="7465363" cy="57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6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8B27B-9B0E-642C-402C-62E3C522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4A0EED-F5CE-594D-4A47-2B1877589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50427E-A298-4C68-A812-74B358074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Episodic Buffer </a:t>
            </a:r>
            <a:r>
              <a:rPr lang="en-US" dirty="0" err="1"/>
              <a:t>với</a:t>
            </a:r>
            <a:r>
              <a:rPr lang="en-US" dirty="0"/>
              <a:t> Spreading Activation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D742D6-59B8-5809-5A02-E2DAD7D8E979}"/>
              </a:ext>
            </a:extLst>
          </p:cNvPr>
          <p:cNvSpPr txBox="1">
            <a:spLocks/>
          </p:cNvSpPr>
          <p:nvPr/>
        </p:nvSpPr>
        <p:spPr>
          <a:xfrm>
            <a:off x="421894" y="133096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latin typeface="Calibri "/>
              </a:rPr>
              <a:t>Cơ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chế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chống</a:t>
            </a:r>
            <a:r>
              <a:rPr lang="en-US" dirty="0">
                <a:latin typeface="Calibri "/>
              </a:rPr>
              <a:t> Cycle. </a:t>
            </a:r>
            <a:endParaRPr lang="en-US" i="1" dirty="0">
              <a:solidFill>
                <a:srgbClr val="202122"/>
              </a:solidFill>
              <a:latin typeface="Calibri 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Bảng 5">
            <a:extLst>
              <a:ext uri="{FF2B5EF4-FFF2-40B4-BE49-F238E27FC236}">
                <a16:creationId xmlns:a16="http://schemas.microsoft.com/office/drawing/2014/main" id="{6400D824-A988-FC5E-0CF3-1FEC88C9D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414661"/>
              </p:ext>
            </p:extLst>
          </p:nvPr>
        </p:nvGraphicFramePr>
        <p:xfrm>
          <a:off x="779780" y="1816894"/>
          <a:ext cx="7861045" cy="48359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0633">
                  <a:extLst>
                    <a:ext uri="{9D8B030D-6E8A-4147-A177-3AD203B41FA5}">
                      <a16:colId xmlns:a16="http://schemas.microsoft.com/office/drawing/2014/main" val="2501043836"/>
                    </a:ext>
                  </a:extLst>
                </a:gridCol>
                <a:gridCol w="2350791">
                  <a:extLst>
                    <a:ext uri="{9D8B030D-6E8A-4147-A177-3AD203B41FA5}">
                      <a16:colId xmlns:a16="http://schemas.microsoft.com/office/drawing/2014/main" val="33362340"/>
                    </a:ext>
                  </a:extLst>
                </a:gridCol>
                <a:gridCol w="2350791">
                  <a:extLst>
                    <a:ext uri="{9D8B030D-6E8A-4147-A177-3AD203B41FA5}">
                      <a16:colId xmlns:a16="http://schemas.microsoft.com/office/drawing/2014/main" val="1707939430"/>
                    </a:ext>
                  </a:extLst>
                </a:gridCol>
                <a:gridCol w="1278830">
                  <a:extLst>
                    <a:ext uri="{9D8B030D-6E8A-4147-A177-3AD203B41FA5}">
                      <a16:colId xmlns:a16="http://schemas.microsoft.com/office/drawing/2014/main" val="3649481359"/>
                    </a:ext>
                  </a:extLst>
                </a:gridCol>
              </a:tblGrid>
              <a:tr h="41631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Cơ chế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Nền tảng nhận thức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Vai trò kỹ thuật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Tham số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8235014"/>
                  </a:ext>
                </a:extLst>
              </a:tr>
              <a:tr h="116567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Thời kỳ trơ cục bộ (Local Refractory Period)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Thời kỳ trơ thần kinh — neuron không thể kích hoạt lại ngay sau khi phát sóng (Hodgkin &amp; Huxley, 1952)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Chặn ping-pong: ngăn năng lượng dội ngược ngay lập tức giữa hai node kề nhau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refractory_steps = 1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51074580"/>
                  </a:ext>
                </a:extLst>
              </a:tr>
              <a:tr h="116567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Hạn mức phát sóng toàn cục (Global Firing Quota)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 err="1">
                          <a:effectLst/>
                        </a:rPr>
                        <a:t>Giới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hạn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năng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lực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chú</a:t>
                      </a:r>
                      <a:r>
                        <a:rPr lang="en-US" sz="1800" dirty="0">
                          <a:effectLst/>
                        </a:rPr>
                        <a:t> ý — </a:t>
                      </a:r>
                      <a:r>
                        <a:rPr lang="en-US" sz="1800" dirty="0" err="1">
                          <a:effectLst/>
                        </a:rPr>
                        <a:t>bộ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nhớ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làm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việc</a:t>
                      </a:r>
                      <a:r>
                        <a:rPr lang="en-US" sz="1800" dirty="0">
                          <a:effectLst/>
                        </a:rPr>
                        <a:t> có chu </a:t>
                      </a:r>
                      <a:r>
                        <a:rPr lang="en-US" sz="1800" dirty="0" err="1">
                          <a:effectLst/>
                        </a:rPr>
                        <a:t>kỳ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kích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hoạt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giới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hạn</a:t>
                      </a:r>
                      <a:r>
                        <a:rPr lang="en-US" sz="1800" dirty="0">
                          <a:effectLst/>
                        </a:rPr>
                        <a:t> (Baddeley, 2000)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Chặn chu trình dài: mỗi node có số lần phát sóng tối đa mỗi query, ngăn kẹt vô hạn trong vòng lặp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max_fires = 3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35050588"/>
                  </a:ext>
                </a:extLst>
              </a:tr>
              <a:tr h="116567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Ngưỡng bão hòa (Saturation Threshold)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Bão hòa thần kinh — kích hoạt không thể vượt trần sinh học (Wilson-Cowan model, 1972)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Chặn bùng nổ điểm số: kẹp (clip) điểm tích lũy tại A_max để ngăn phân kỳ SUM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 err="1">
                          <a:effectLst/>
                        </a:rPr>
                        <a:t>A_max</a:t>
                      </a:r>
                      <a:r>
                        <a:rPr lang="en-US" sz="1800" dirty="0">
                          <a:effectLst/>
                        </a:rPr>
                        <a:t> = 2.0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0228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209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DE3D4-90FA-5A54-B6C2-82B283DAE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BD1EB5-4BDE-F5DB-FD3F-EF119ACF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70B08C-2A3E-2FFE-6658-2823BF7CF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Adaptive Query Routing</a:t>
            </a: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EAC6D3AA-B368-9760-9824-CA41A2FEF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2816"/>
            <a:ext cx="9144000" cy="331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43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E8EB3-7C0E-9382-2DDC-1C454DBD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268E25-37FF-641C-BD99-491779A37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32B17-E030-338F-AA5A-1B585D501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2400"/>
            <a:ext cx="8300212" cy="4571999"/>
          </a:xfrm>
        </p:spPr>
        <p:txBody>
          <a:bodyPr/>
          <a:lstStyle/>
          <a:p>
            <a:pPr algn="just"/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Schema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 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Theory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 (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Bartlett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, 1932) và 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Basic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 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Level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 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Categorization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 (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Rosch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, 1978) chứng minh rằng bộ nhớ con người không được tổ chức như một danh sách 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facts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 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phẳng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, mà theo cấu trúc phân cấp — các 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schema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 trừu tượng bao gồm các thực thể cụ thể.</a:t>
            </a:r>
            <a:endParaRPr lang="en-US" dirty="0">
              <a:solidFill>
                <a:srgbClr val="202122"/>
              </a:solidFill>
              <a:latin typeface="Calibri 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+mn-lt"/>
              </a:rPr>
              <a:t>Não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người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điều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hướng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hệ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thống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phân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cấp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này</a:t>
            </a:r>
            <a:r>
              <a:rPr lang="en-US" dirty="0">
                <a:latin typeface="+mn-lt"/>
              </a:rPr>
              <a:t> một </a:t>
            </a:r>
            <a:r>
              <a:rPr lang="en-US" dirty="0" err="1">
                <a:latin typeface="+mn-lt"/>
              </a:rPr>
              <a:t>cách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tự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nhiên</a:t>
            </a:r>
            <a:r>
              <a:rPr lang="en-US" dirty="0">
                <a:latin typeface="+mn-lt"/>
              </a:rPr>
              <a:t>: </a:t>
            </a:r>
            <a:r>
              <a:rPr lang="en-US" dirty="0" err="1">
                <a:latin typeface="+mn-lt"/>
              </a:rPr>
              <a:t>các</a:t>
            </a:r>
            <a:r>
              <a:rPr lang="en-US" dirty="0">
                <a:latin typeface="+mn-lt"/>
              </a:rPr>
              <a:t> query </a:t>
            </a:r>
            <a:r>
              <a:rPr lang="en-US" dirty="0" err="1">
                <a:latin typeface="+mn-lt"/>
              </a:rPr>
              <a:t>chung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chung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tiếp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cận</a:t>
            </a:r>
            <a:r>
              <a:rPr lang="en-US" dirty="0">
                <a:latin typeface="+mn-lt"/>
              </a:rPr>
              <a:t> ở </a:t>
            </a:r>
            <a:r>
              <a:rPr lang="en-US" dirty="0" err="1">
                <a:latin typeface="+mn-lt"/>
              </a:rPr>
              <a:t>cấp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độ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trung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gian</a:t>
            </a:r>
            <a:r>
              <a:rPr lang="en-US" dirty="0">
                <a:latin typeface="+mn-lt"/>
              </a:rPr>
              <a:t>, </a:t>
            </a:r>
            <a:r>
              <a:rPr lang="en-US" dirty="0" err="1">
                <a:latin typeface="+mn-lt"/>
              </a:rPr>
              <a:t>trong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khi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các</a:t>
            </a:r>
            <a:r>
              <a:rPr lang="en-US" dirty="0">
                <a:latin typeface="+mn-lt"/>
              </a:rPr>
              <a:t> query </a:t>
            </a:r>
            <a:r>
              <a:rPr lang="en-US" dirty="0" err="1">
                <a:latin typeface="+mn-lt"/>
              </a:rPr>
              <a:t>cụ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thể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sẽ</a:t>
            </a:r>
            <a:r>
              <a:rPr lang="en-US" dirty="0">
                <a:latin typeface="+mn-lt"/>
              </a:rPr>
              <a:t> drill down </a:t>
            </a:r>
            <a:r>
              <a:rPr lang="en-US" dirty="0" err="1">
                <a:latin typeface="+mn-lt"/>
              </a:rPr>
              <a:t>xuống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cấp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độ</a:t>
            </a:r>
            <a:r>
              <a:rPr lang="en-US" dirty="0">
                <a:latin typeface="+mn-lt"/>
              </a:rPr>
              <a:t> chi </a:t>
            </a:r>
            <a:r>
              <a:rPr lang="en-US" dirty="0" err="1">
                <a:latin typeface="+mn-lt"/>
              </a:rPr>
              <a:t>tiết</a:t>
            </a:r>
            <a:r>
              <a:rPr lang="en-US" dirty="0">
                <a:latin typeface="+mn-lt"/>
              </a:rPr>
              <a:t>.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2E31D8-00B1-2198-E333-894031B29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Hierarchical Knowledge Graph</a:t>
            </a:r>
          </a:p>
        </p:txBody>
      </p:sp>
    </p:spTree>
    <p:extLst>
      <p:ext uri="{BB962C8B-B14F-4D97-AF65-F5344CB8AC3E}">
        <p14:creationId xmlns:p14="http://schemas.microsoft.com/office/powerpoint/2010/main" val="775849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84AF9-5B57-7FD7-E873-237605E1F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282914-70AF-058C-9FD9-27110520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22DCD9-1EED-DE3F-3C72-2DAB4982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Hierarchical Knowledge Graph</a:t>
            </a:r>
          </a:p>
        </p:txBody>
      </p:sp>
      <p:graphicFrame>
        <p:nvGraphicFramePr>
          <p:cNvPr id="7" name="Chỗ dành sẵn cho Nội dung 6">
            <a:extLst>
              <a:ext uri="{FF2B5EF4-FFF2-40B4-BE49-F238E27FC236}">
                <a16:creationId xmlns:a16="http://schemas.microsoft.com/office/drawing/2014/main" id="{087B6431-D710-1A9E-C762-117407D4CF8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88411257"/>
              </p:ext>
            </p:extLst>
          </p:nvPr>
        </p:nvGraphicFramePr>
        <p:xfrm>
          <a:off x="345758" y="1520920"/>
          <a:ext cx="8249601" cy="4104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4960">
                  <a:extLst>
                    <a:ext uri="{9D8B030D-6E8A-4147-A177-3AD203B41FA5}">
                      <a16:colId xmlns:a16="http://schemas.microsoft.com/office/drawing/2014/main" val="3980603621"/>
                    </a:ext>
                  </a:extLst>
                </a:gridCol>
                <a:gridCol w="1283271">
                  <a:extLst>
                    <a:ext uri="{9D8B030D-6E8A-4147-A177-3AD203B41FA5}">
                      <a16:colId xmlns:a16="http://schemas.microsoft.com/office/drawing/2014/main" val="2784649314"/>
                    </a:ext>
                  </a:extLst>
                </a:gridCol>
                <a:gridCol w="2383218">
                  <a:extLst>
                    <a:ext uri="{9D8B030D-6E8A-4147-A177-3AD203B41FA5}">
                      <a16:colId xmlns:a16="http://schemas.microsoft.com/office/drawing/2014/main" val="1247467423"/>
                    </a:ext>
                  </a:extLst>
                </a:gridCol>
                <a:gridCol w="3758152">
                  <a:extLst>
                    <a:ext uri="{9D8B030D-6E8A-4147-A177-3AD203B41FA5}">
                      <a16:colId xmlns:a16="http://schemas.microsoft.com/office/drawing/2014/main" val="1729831369"/>
                    </a:ext>
                  </a:extLst>
                </a:gridCol>
              </a:tblGrid>
              <a:tr h="96524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400">
                          <a:effectLst/>
                        </a:rPr>
                        <a:t>Cấp độ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400">
                          <a:effectLst/>
                        </a:rPr>
                        <a:t>Tên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400">
                          <a:effectLst/>
                        </a:rPr>
                        <a:t>Mô tả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400">
                          <a:effectLst/>
                        </a:rPr>
                        <a:t>Ví dụ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extLst>
                  <a:ext uri="{0D108BD9-81ED-4DB2-BD59-A6C34878D82A}">
                    <a16:rowId xmlns:a16="http://schemas.microsoft.com/office/drawing/2014/main" val="3038316325"/>
                  </a:ext>
                </a:extLst>
              </a:tr>
              <a:tr h="98653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Level 0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Abstract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Schema cấp cao về người dùng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"User làm trong ngành AI/tech tại Hà Nội"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extLst>
                  <a:ext uri="{0D108BD9-81ED-4DB2-BD59-A6C34878D82A}">
                    <a16:rowId xmlns:a16="http://schemas.microsoft.com/office/drawing/2014/main" val="4031095137"/>
                  </a:ext>
                </a:extLst>
              </a:tr>
              <a:tr h="98653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Level 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Basic (anchor)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Facts cấp trung — đích truy xuất chính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"User là ML Engineer tại DI từ tháng 4/2024"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extLst>
                  <a:ext uri="{0D108BD9-81ED-4DB2-BD59-A6C34878D82A}">
                    <a16:rowId xmlns:a16="http://schemas.microsoft.com/office/drawing/2014/main" val="1706518445"/>
                  </a:ext>
                </a:extLst>
              </a:tr>
              <a:tr h="98653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Level 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Specific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Facts thực thể cấp thấp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dirty="0">
                          <a:effectLst/>
                        </a:rPr>
                        <a:t>"User </a:t>
                      </a:r>
                      <a:r>
                        <a:rPr lang="en-US" sz="2400" dirty="0" err="1">
                          <a:effectLst/>
                        </a:rPr>
                        <a:t>vào</a:t>
                      </a:r>
                      <a:r>
                        <a:rPr lang="en-US" sz="2400" dirty="0">
                          <a:effectLst/>
                        </a:rPr>
                        <a:t> DI </a:t>
                      </a:r>
                      <a:r>
                        <a:rPr lang="en-US" sz="2400" dirty="0" err="1">
                          <a:effectLst/>
                        </a:rPr>
                        <a:t>tháng</a:t>
                      </a:r>
                      <a:r>
                        <a:rPr lang="en-US" sz="2400" dirty="0">
                          <a:effectLst/>
                        </a:rPr>
                        <a:t> 4/2024", "User </a:t>
                      </a:r>
                      <a:r>
                        <a:rPr lang="en-US" sz="2400" dirty="0" err="1">
                          <a:effectLst/>
                        </a:rPr>
                        <a:t>làm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dự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án</a:t>
                      </a:r>
                      <a:r>
                        <a:rPr lang="en-US" sz="2400" dirty="0">
                          <a:effectLst/>
                        </a:rPr>
                        <a:t> RAG"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extLst>
                  <a:ext uri="{0D108BD9-81ED-4DB2-BD59-A6C34878D82A}">
                    <a16:rowId xmlns:a16="http://schemas.microsoft.com/office/drawing/2014/main" val="2273816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537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6FF5105935A047949EC15A29E8956A" ma:contentTypeVersion="4" ma:contentTypeDescription="Create a new document." ma:contentTypeScope="" ma:versionID="b29c6fefc618e136688e03dce636df7d">
  <xsd:schema xmlns:xsd="http://www.w3.org/2001/XMLSchema" xmlns:xs="http://www.w3.org/2001/XMLSchema" xmlns:p="http://schemas.microsoft.com/office/2006/metadata/properties" xmlns:ns2="787772fa-e80e-4196-8492-c382f620fc1d" targetNamespace="http://schemas.microsoft.com/office/2006/metadata/properties" ma:root="true" ma:fieldsID="3e23d7ca8d6da6eba593525d95b10d9f" ns2:_="">
    <xsd:import namespace="787772fa-e80e-4196-8492-c382f620fc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7772fa-e80e-4196-8492-c382f620fc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5DDDD1-ED4A-45D2-A1A5-EDDFFDD8377D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c0a5278-6572-4232-b8ad-97ff2313e1cb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E41E46E-FF59-4C1D-AE00-A76323361D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7772fa-e80e-4196-8492-c382f620fc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98D1B8-1803-48D2-B4B6-C15C336A4B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2213</TotalTime>
  <Words>1040</Words>
  <Application>Microsoft Office PowerPoint</Application>
  <PresentationFormat>Trình chiếu Trên màn hình (4:3)</PresentationFormat>
  <Paragraphs>152</Paragraphs>
  <Slides>14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14</vt:i4>
      </vt:variant>
    </vt:vector>
  </HeadingPairs>
  <TitlesOfParts>
    <vt:vector size="19" baseType="lpstr">
      <vt:lpstr>Calibri </vt:lpstr>
      <vt:lpstr>Arial</vt:lpstr>
      <vt:lpstr>Calibri</vt:lpstr>
      <vt:lpstr>Lato</vt:lpstr>
      <vt:lpstr>Office Theme</vt:lpstr>
      <vt:lpstr>Bản trình bày PowerPoint</vt:lpstr>
      <vt:lpstr>Khoảng trống nghiên cứu</vt:lpstr>
      <vt:lpstr>Khoảng trống nghiên cứu</vt:lpstr>
      <vt:lpstr>Khoảng trống nghiên cứu</vt:lpstr>
      <vt:lpstr>CogMem – 6 network</vt:lpstr>
      <vt:lpstr>CogMem – 6 network</vt:lpstr>
      <vt:lpstr>CogMem – Action-Effect Learning</vt:lpstr>
      <vt:lpstr>CogMem – Raw State Snippets</vt:lpstr>
      <vt:lpstr>CogMem – Episodic Buffer với Spreading Activation</vt:lpstr>
      <vt:lpstr>CogMem – Episodic Buffer với Spreading Activation</vt:lpstr>
      <vt:lpstr>CogMem – Adaptive Query Routing</vt:lpstr>
      <vt:lpstr>CogMem – Hierarchical Knowledge Graph</vt:lpstr>
      <vt:lpstr>CogMem – Hierarchical Knowledge Graph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Le Minh Triet 20220045</cp:lastModifiedBy>
  <cp:revision>48</cp:revision>
  <dcterms:created xsi:type="dcterms:W3CDTF">2021-05-28T04:32:29Z</dcterms:created>
  <dcterms:modified xsi:type="dcterms:W3CDTF">2026-03-14T07:30:03Z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0x010100E26FF5105935A047949EC15A29E8956A</vt:lpwstr>
  </property>
</Properties>
</file>